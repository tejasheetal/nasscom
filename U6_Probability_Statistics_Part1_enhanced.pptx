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2.xml" ContentType="application/vnd.openxmlformats-officedocument.drawingml.chart+xml"/>
  <Override PartName="/ppt/notesSlides/notesSlide10.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6.xml" ContentType="application/vnd.openxmlformats-officedocument.drawingml.chart+xml"/>
  <Override PartName="/ppt/notesSlides/notesSlide13.xml" ContentType="application/vnd.openxmlformats-officedocument.presentationml.notesSlide+xml"/>
  <Override PartName="/ppt/charts/chart7.xml" ContentType="application/vnd.openxmlformats-officedocument.drawingml.chart+xml"/>
  <Override PartName="/ppt/notesSlides/notesSlide14.xml" ContentType="application/vnd.openxmlformats-officedocument.presentationml.notesSlide+xml"/>
  <Override PartName="/ppt/charts/chart8.xml" ContentType="application/vnd.openxmlformats-officedocument.drawingml.chart+xml"/>
  <Override PartName="/ppt/notesSlides/notesSlide15.xml" ContentType="application/vnd.openxmlformats-officedocument.presentationml.notesSlide+xml"/>
  <Override PartName="/ppt/charts/chart9.xml" ContentType="application/vnd.openxmlformats-officedocument.drawingml.chart+xml"/>
  <Override PartName="/ppt/notesSlides/notesSlide16.xml" ContentType="application/vnd.openxmlformats-officedocument.presentationml.notesSlide+xml"/>
  <Override PartName="/ppt/charts/chart10.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rts/chart11.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8" r:id="rId10"/>
    <p:sldId id="269" r:id="rId11"/>
    <p:sldId id="270" r:id="rId12"/>
    <p:sldId id="271" r:id="rId13"/>
    <p:sldId id="272" r:id="rId14"/>
    <p:sldId id="273" r:id="rId15"/>
    <p:sldId id="274" r:id="rId16"/>
    <p:sldId id="275" r:id="rId17"/>
    <p:sldId id="276" r:id="rId18"/>
    <p:sldId id="277" r:id="rId19"/>
    <p:sldId id="278" r:id="rId20"/>
    <p:sldId id="279" r:id="rId21"/>
    <p:sldId id="264" r:id="rId22"/>
    <p:sldId id="265" r:id="rId23"/>
    <p:sldId id="266"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6" d="100"/>
          <a:sy n="66" d="100"/>
        </p:scale>
        <p:origin x="644"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Count</c:v>
                </c:pt>
              </c:strCache>
            </c:strRef>
          </c:tx>
          <c:spPr>
            <a:solidFill>
              <a:srgbClr val="2D6A9F"/>
            </a:solidFill>
            <a:effectLst/>
          </c:spPr>
          <c:invertIfNegative val="0"/>
          <c:cat>
            <c:strRef>
              <c:f>Sheet1!$A$2:$A$9</c:f>
              <c:strCache>
                <c:ptCount val="8"/>
                <c:pt idx="0">
                  <c:v>1</c:v>
                </c:pt>
                <c:pt idx="1">
                  <c:v>2</c:v>
                </c:pt>
                <c:pt idx="2">
                  <c:v>3</c:v>
                </c:pt>
                <c:pt idx="3">
                  <c:v>4</c:v>
                </c:pt>
                <c:pt idx="4">
                  <c:v>5</c:v>
                </c:pt>
                <c:pt idx="5">
                  <c:v>6</c:v>
                </c:pt>
                <c:pt idx="6">
                  <c:v>7</c:v>
                </c:pt>
                <c:pt idx="7">
                  <c:v>8</c:v>
                </c:pt>
              </c:strCache>
            </c:strRef>
          </c:cat>
          <c:val>
            <c:numRef>
              <c:f>Sheet1!$B$2:$B$9</c:f>
              <c:numCache>
                <c:formatCode>General</c:formatCode>
                <c:ptCount val="8"/>
                <c:pt idx="0">
                  <c:v>2</c:v>
                </c:pt>
                <c:pt idx="1">
                  <c:v>9</c:v>
                </c:pt>
                <c:pt idx="2">
                  <c:v>14</c:v>
                </c:pt>
                <c:pt idx="3">
                  <c:v>11</c:v>
                </c:pt>
                <c:pt idx="4">
                  <c:v>7</c:v>
                </c:pt>
                <c:pt idx="5">
                  <c:v>4</c:v>
                </c:pt>
                <c:pt idx="6">
                  <c:v>2</c:v>
                </c:pt>
                <c:pt idx="7">
                  <c:v>1</c:v>
                </c:pt>
              </c:numCache>
            </c:numRef>
          </c:val>
          <c:extLst>
            <c:ext xmlns:c16="http://schemas.microsoft.com/office/drawing/2014/chart" uri="{C3380CC4-5D6E-409C-BE32-E72D297353CC}">
              <c16:uniqueId val="{00000000-9EE9-4427-9B20-D040169E3062}"/>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C6B7A"/>
                </a:solidFill>
                <a:latin typeface="Calibri"/>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7A"/>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solidFill>
      <a:srgbClr val="F2F5F9"/>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pos</c:v>
                </c:pt>
              </c:strCache>
            </c:strRef>
          </c:tx>
          <c:spPr>
            <a:solidFill>
              <a:srgbClr val="F4B942"/>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0</c:v>
                </c:pt>
                <c:pt idx="1">
                  <c:v>0.6492</c:v>
                </c:pt>
                <c:pt idx="2">
                  <c:v>0.9304</c:v>
                </c:pt>
                <c:pt idx="3">
                  <c:v>1</c:v>
                </c:pt>
                <c:pt idx="4">
                  <c:v>0.95540000000000003</c:v>
                </c:pt>
                <c:pt idx="5">
                  <c:v>0.85570000000000002</c:v>
                </c:pt>
                <c:pt idx="6">
                  <c:v>0.73580000000000001</c:v>
                </c:pt>
                <c:pt idx="7">
                  <c:v>0.61509999999999998</c:v>
                </c:pt>
                <c:pt idx="8">
                  <c:v>0.50370000000000004</c:v>
                </c:pt>
                <c:pt idx="9">
                  <c:v>0.40600000000000003</c:v>
                </c:pt>
                <c:pt idx="10">
                  <c:v>0.32319999999999999</c:v>
                </c:pt>
                <c:pt idx="11">
                  <c:v>0.25480000000000003</c:v>
                </c:pt>
                <c:pt idx="12">
                  <c:v>0.1991</c:v>
                </c:pt>
                <c:pt idx="13">
                  <c:v>0.15459999999999999</c:v>
                </c:pt>
                <c:pt idx="14">
                  <c:v>0.1193</c:v>
                </c:pt>
                <c:pt idx="15">
                  <c:v>9.1600000000000001E-2</c:v>
                </c:pt>
                <c:pt idx="16">
                  <c:v>7.0000000000000007E-2</c:v>
                </c:pt>
                <c:pt idx="17">
                  <c:v>5.33E-2</c:v>
                </c:pt>
                <c:pt idx="18">
                  <c:v>4.0399999999999998E-2</c:v>
                </c:pt>
                <c:pt idx="19">
                  <c:v>3.0599999999999999E-2</c:v>
                </c:pt>
                <c:pt idx="20">
                  <c:v>2.3099999999999999E-2</c:v>
                </c:pt>
                <c:pt idx="21">
                  <c:v>1.7399999999999999E-2</c:v>
                </c:pt>
                <c:pt idx="22">
                  <c:v>1.2999999999999999E-2</c:v>
                </c:pt>
                <c:pt idx="23">
                  <c:v>9.7999999999999997E-3</c:v>
                </c:pt>
                <c:pt idx="24">
                  <c:v>7.3000000000000001E-3</c:v>
                </c:pt>
              </c:numCache>
            </c:numRef>
          </c:val>
          <c:extLst>
            <c:ext xmlns:c16="http://schemas.microsoft.com/office/drawing/2014/chart" uri="{C3380CC4-5D6E-409C-BE32-E72D297353CC}">
              <c16:uniqueId val="{00000000-7D6A-42CC-83B9-1DAB29D30516}"/>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1F3556"/>
        </a:solidFill>
        <a:ln>
          <a:noFill/>
        </a:ln>
        <a:effectLst/>
      </c:spPr>
    </c:plotArea>
    <c:plotVisOnly val="1"/>
    <c:dispBlanksAs val="span"/>
    <c:showDLblsOverMax val="1"/>
  </c:chart>
  <c:spPr>
    <a:solidFill>
      <a:srgbClr val="1F3556"/>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sym</c:v>
                </c:pt>
              </c:strCache>
            </c:strRef>
          </c:tx>
          <c:spPr>
            <a:solidFill>
              <a:srgbClr val="2D6A9F"/>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2.9999999999999997E-4</c:v>
                </c:pt>
                <c:pt idx="1">
                  <c:v>1.1999999999999999E-3</c:v>
                </c:pt>
                <c:pt idx="2">
                  <c:v>3.8999999999999998E-3</c:v>
                </c:pt>
                <c:pt idx="3">
                  <c:v>1.11E-2</c:v>
                </c:pt>
                <c:pt idx="4">
                  <c:v>2.86E-2</c:v>
                </c:pt>
                <c:pt idx="5">
                  <c:v>6.5699999999999995E-2</c:v>
                </c:pt>
                <c:pt idx="6">
                  <c:v>0.1353</c:v>
                </c:pt>
                <c:pt idx="7">
                  <c:v>0.24940000000000001</c:v>
                </c:pt>
                <c:pt idx="8">
                  <c:v>0.41110000000000002</c:v>
                </c:pt>
                <c:pt idx="9">
                  <c:v>0.60650000000000004</c:v>
                </c:pt>
                <c:pt idx="10">
                  <c:v>0.80069999999999997</c:v>
                </c:pt>
                <c:pt idx="11">
                  <c:v>0.94599999999999995</c:v>
                </c:pt>
                <c:pt idx="12">
                  <c:v>1</c:v>
                </c:pt>
                <c:pt idx="13">
                  <c:v>0.94599999999999995</c:v>
                </c:pt>
                <c:pt idx="14">
                  <c:v>0.80069999999999997</c:v>
                </c:pt>
                <c:pt idx="15">
                  <c:v>0.60650000000000004</c:v>
                </c:pt>
                <c:pt idx="16">
                  <c:v>0.41110000000000002</c:v>
                </c:pt>
                <c:pt idx="17">
                  <c:v>0.24940000000000001</c:v>
                </c:pt>
                <c:pt idx="18">
                  <c:v>0.1353</c:v>
                </c:pt>
                <c:pt idx="19">
                  <c:v>6.5699999999999995E-2</c:v>
                </c:pt>
                <c:pt idx="20">
                  <c:v>2.86E-2</c:v>
                </c:pt>
                <c:pt idx="21">
                  <c:v>1.11E-2</c:v>
                </c:pt>
                <c:pt idx="22">
                  <c:v>3.8999999999999998E-3</c:v>
                </c:pt>
                <c:pt idx="23">
                  <c:v>1.1999999999999999E-3</c:v>
                </c:pt>
                <c:pt idx="24">
                  <c:v>2.9999999999999997E-4</c:v>
                </c:pt>
              </c:numCache>
            </c:numRef>
          </c:val>
          <c:extLst>
            <c:ext xmlns:c16="http://schemas.microsoft.com/office/drawing/2014/chart" uri="{C3380CC4-5D6E-409C-BE32-E72D297353CC}">
              <c16:uniqueId val="{00000000-E0C5-4F7A-80BF-2E14CD6A2A36}"/>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pos</c:v>
                </c:pt>
              </c:strCache>
            </c:strRef>
          </c:tx>
          <c:spPr>
            <a:solidFill>
              <a:srgbClr val="F4B942"/>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0</c:v>
                </c:pt>
                <c:pt idx="1">
                  <c:v>0.6492</c:v>
                </c:pt>
                <c:pt idx="2">
                  <c:v>0.9304</c:v>
                </c:pt>
                <c:pt idx="3">
                  <c:v>1</c:v>
                </c:pt>
                <c:pt idx="4">
                  <c:v>0.95540000000000003</c:v>
                </c:pt>
                <c:pt idx="5">
                  <c:v>0.85570000000000002</c:v>
                </c:pt>
                <c:pt idx="6">
                  <c:v>0.73580000000000001</c:v>
                </c:pt>
                <c:pt idx="7">
                  <c:v>0.61509999999999998</c:v>
                </c:pt>
                <c:pt idx="8">
                  <c:v>0.50370000000000004</c:v>
                </c:pt>
                <c:pt idx="9">
                  <c:v>0.40600000000000003</c:v>
                </c:pt>
                <c:pt idx="10">
                  <c:v>0.32319999999999999</c:v>
                </c:pt>
                <c:pt idx="11">
                  <c:v>0.25480000000000003</c:v>
                </c:pt>
                <c:pt idx="12">
                  <c:v>0.1991</c:v>
                </c:pt>
                <c:pt idx="13">
                  <c:v>0.15459999999999999</c:v>
                </c:pt>
                <c:pt idx="14">
                  <c:v>0.1193</c:v>
                </c:pt>
                <c:pt idx="15">
                  <c:v>9.1600000000000001E-2</c:v>
                </c:pt>
                <c:pt idx="16">
                  <c:v>7.0000000000000007E-2</c:v>
                </c:pt>
                <c:pt idx="17">
                  <c:v>5.33E-2</c:v>
                </c:pt>
                <c:pt idx="18">
                  <c:v>4.0399999999999998E-2</c:v>
                </c:pt>
                <c:pt idx="19">
                  <c:v>3.0599999999999999E-2</c:v>
                </c:pt>
                <c:pt idx="20">
                  <c:v>2.3099999999999999E-2</c:v>
                </c:pt>
                <c:pt idx="21">
                  <c:v>1.7399999999999999E-2</c:v>
                </c:pt>
                <c:pt idx="22">
                  <c:v>1.2999999999999999E-2</c:v>
                </c:pt>
                <c:pt idx="23">
                  <c:v>9.7999999999999997E-3</c:v>
                </c:pt>
                <c:pt idx="24">
                  <c:v>7.3000000000000001E-3</c:v>
                </c:pt>
              </c:numCache>
            </c:numRef>
          </c:val>
          <c:extLst>
            <c:ext xmlns:c16="http://schemas.microsoft.com/office/drawing/2014/chart" uri="{C3380CC4-5D6E-409C-BE32-E72D297353CC}">
              <c16:uniqueId val="{00000000-2866-49EB-BE92-3C59E659975F}"/>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neg</c:v>
                </c:pt>
              </c:strCache>
            </c:strRef>
          </c:tx>
          <c:spPr>
            <a:solidFill>
              <a:srgbClr val="2A9D95"/>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7.3000000000000001E-3</c:v>
                </c:pt>
                <c:pt idx="1">
                  <c:v>9.7999999999999997E-3</c:v>
                </c:pt>
                <c:pt idx="2">
                  <c:v>1.2999999999999999E-2</c:v>
                </c:pt>
                <c:pt idx="3">
                  <c:v>1.7399999999999999E-2</c:v>
                </c:pt>
                <c:pt idx="4">
                  <c:v>2.3099999999999999E-2</c:v>
                </c:pt>
                <c:pt idx="5">
                  <c:v>3.0599999999999999E-2</c:v>
                </c:pt>
                <c:pt idx="6">
                  <c:v>4.0399999999999998E-2</c:v>
                </c:pt>
                <c:pt idx="7">
                  <c:v>5.33E-2</c:v>
                </c:pt>
                <c:pt idx="8">
                  <c:v>7.0000000000000007E-2</c:v>
                </c:pt>
                <c:pt idx="9">
                  <c:v>9.1600000000000001E-2</c:v>
                </c:pt>
                <c:pt idx="10">
                  <c:v>0.1193</c:v>
                </c:pt>
                <c:pt idx="11">
                  <c:v>0.15459999999999999</c:v>
                </c:pt>
                <c:pt idx="12">
                  <c:v>0.1991</c:v>
                </c:pt>
                <c:pt idx="13">
                  <c:v>0.25480000000000003</c:v>
                </c:pt>
                <c:pt idx="14">
                  <c:v>0.32319999999999999</c:v>
                </c:pt>
                <c:pt idx="15">
                  <c:v>0.40600000000000003</c:v>
                </c:pt>
                <c:pt idx="16">
                  <c:v>0.50370000000000004</c:v>
                </c:pt>
                <c:pt idx="17">
                  <c:v>0.61509999999999998</c:v>
                </c:pt>
                <c:pt idx="18">
                  <c:v>0.73580000000000001</c:v>
                </c:pt>
                <c:pt idx="19">
                  <c:v>0.85570000000000002</c:v>
                </c:pt>
                <c:pt idx="20">
                  <c:v>0.95540000000000003</c:v>
                </c:pt>
                <c:pt idx="21">
                  <c:v>1</c:v>
                </c:pt>
                <c:pt idx="22">
                  <c:v>0.9304</c:v>
                </c:pt>
                <c:pt idx="23">
                  <c:v>0.6492</c:v>
                </c:pt>
                <c:pt idx="24">
                  <c:v>0</c:v>
                </c:pt>
              </c:numCache>
            </c:numRef>
          </c:val>
          <c:extLst>
            <c:ext xmlns:c16="http://schemas.microsoft.com/office/drawing/2014/chart" uri="{C3380CC4-5D6E-409C-BE32-E72D297353CC}">
              <c16:uniqueId val="{00000000-ED48-477B-9BFF-367CC92DDEB2}"/>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pos</c:v>
                </c:pt>
              </c:strCache>
            </c:strRef>
          </c:tx>
          <c:spPr>
            <a:solidFill>
              <a:srgbClr val="F4B942"/>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0</c:v>
                </c:pt>
                <c:pt idx="1">
                  <c:v>0.6492</c:v>
                </c:pt>
                <c:pt idx="2">
                  <c:v>0.9304</c:v>
                </c:pt>
                <c:pt idx="3">
                  <c:v>1</c:v>
                </c:pt>
                <c:pt idx="4">
                  <c:v>0.95540000000000003</c:v>
                </c:pt>
                <c:pt idx="5">
                  <c:v>0.85570000000000002</c:v>
                </c:pt>
                <c:pt idx="6">
                  <c:v>0.73580000000000001</c:v>
                </c:pt>
                <c:pt idx="7">
                  <c:v>0.61509999999999998</c:v>
                </c:pt>
                <c:pt idx="8">
                  <c:v>0.50370000000000004</c:v>
                </c:pt>
                <c:pt idx="9">
                  <c:v>0.40600000000000003</c:v>
                </c:pt>
                <c:pt idx="10">
                  <c:v>0.32319999999999999</c:v>
                </c:pt>
                <c:pt idx="11">
                  <c:v>0.25480000000000003</c:v>
                </c:pt>
                <c:pt idx="12">
                  <c:v>0.1991</c:v>
                </c:pt>
                <c:pt idx="13">
                  <c:v>0.15459999999999999</c:v>
                </c:pt>
                <c:pt idx="14">
                  <c:v>0.1193</c:v>
                </c:pt>
                <c:pt idx="15">
                  <c:v>9.1600000000000001E-2</c:v>
                </c:pt>
                <c:pt idx="16">
                  <c:v>7.0000000000000007E-2</c:v>
                </c:pt>
                <c:pt idx="17">
                  <c:v>5.33E-2</c:v>
                </c:pt>
                <c:pt idx="18">
                  <c:v>4.0399999999999998E-2</c:v>
                </c:pt>
                <c:pt idx="19">
                  <c:v>3.0599999999999999E-2</c:v>
                </c:pt>
                <c:pt idx="20">
                  <c:v>2.3099999999999999E-2</c:v>
                </c:pt>
                <c:pt idx="21">
                  <c:v>1.7399999999999999E-2</c:v>
                </c:pt>
                <c:pt idx="22">
                  <c:v>1.2999999999999999E-2</c:v>
                </c:pt>
                <c:pt idx="23">
                  <c:v>9.7999999999999997E-3</c:v>
                </c:pt>
                <c:pt idx="24">
                  <c:v>7.3000000000000001E-3</c:v>
                </c:pt>
              </c:numCache>
            </c:numRef>
          </c:val>
          <c:extLst>
            <c:ext xmlns:c16="http://schemas.microsoft.com/office/drawing/2014/chart" uri="{C3380CC4-5D6E-409C-BE32-E72D297353CC}">
              <c16:uniqueId val="{00000000-C642-47A1-B370-C962012FB697}"/>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63F"/>
                </a:solidFill>
                <a:latin typeface="Calibri"/>
              </a:defRPr>
            </a:pPr>
            <a:r>
              <a:rPr lang="en-IN" sz="1300" b="0" i="0" u="none" strike="noStrike">
                <a:solidFill>
                  <a:srgbClr val="16263F"/>
                </a:solidFill>
                <a:latin typeface="Calibri"/>
              </a:rPr>
              <a:t>Salaries of six people (₹)</a:t>
            </a:r>
          </a:p>
        </c:rich>
      </c:tx>
      <c:overlay val="0"/>
    </c:title>
    <c:autoTitleDeleted val="0"/>
    <c:plotArea>
      <c:layout/>
      <c:barChart>
        <c:barDir val="col"/>
        <c:grouping val="clustered"/>
        <c:varyColors val="0"/>
        <c:ser>
          <c:idx val="0"/>
          <c:order val="0"/>
          <c:tx>
            <c:strRef>
              <c:f>Sheet1!$B$1</c:f>
              <c:strCache>
                <c:ptCount val="1"/>
                <c:pt idx="0">
                  <c:v>Salary (₹)</c:v>
                </c:pt>
              </c:strCache>
            </c:strRef>
          </c:tx>
          <c:spPr>
            <a:solidFill>
              <a:srgbClr val="2D6A9F"/>
            </a:solidFill>
            <a:effectLst/>
          </c:spPr>
          <c:invertIfNegative val="0"/>
          <c:dPt>
            <c:idx val="0"/>
            <c:invertIfNegative val="0"/>
            <c:bubble3D val="0"/>
            <c:extLst>
              <c:ext xmlns:c16="http://schemas.microsoft.com/office/drawing/2014/chart" uri="{C3380CC4-5D6E-409C-BE32-E72D297353CC}">
                <c16:uniqueId val="{00000001-AD32-4C72-983C-3D2C8BA84BA8}"/>
              </c:ext>
            </c:extLst>
          </c:dPt>
          <c:dPt>
            <c:idx val="1"/>
            <c:invertIfNegative val="0"/>
            <c:bubble3D val="0"/>
            <c:extLst>
              <c:ext xmlns:c16="http://schemas.microsoft.com/office/drawing/2014/chart" uri="{C3380CC4-5D6E-409C-BE32-E72D297353CC}">
                <c16:uniqueId val="{00000003-AD32-4C72-983C-3D2C8BA84BA8}"/>
              </c:ext>
            </c:extLst>
          </c:dPt>
          <c:dPt>
            <c:idx val="2"/>
            <c:invertIfNegative val="0"/>
            <c:bubble3D val="0"/>
            <c:extLst>
              <c:ext xmlns:c16="http://schemas.microsoft.com/office/drawing/2014/chart" uri="{C3380CC4-5D6E-409C-BE32-E72D297353CC}">
                <c16:uniqueId val="{00000005-AD32-4C72-983C-3D2C8BA84BA8}"/>
              </c:ext>
            </c:extLst>
          </c:dPt>
          <c:dPt>
            <c:idx val="3"/>
            <c:invertIfNegative val="0"/>
            <c:bubble3D val="0"/>
            <c:extLst>
              <c:ext xmlns:c16="http://schemas.microsoft.com/office/drawing/2014/chart" uri="{C3380CC4-5D6E-409C-BE32-E72D297353CC}">
                <c16:uniqueId val="{00000007-AD32-4C72-983C-3D2C8BA84BA8}"/>
              </c:ext>
            </c:extLst>
          </c:dPt>
          <c:dPt>
            <c:idx val="4"/>
            <c:invertIfNegative val="0"/>
            <c:bubble3D val="0"/>
            <c:extLst>
              <c:ext xmlns:c16="http://schemas.microsoft.com/office/drawing/2014/chart" uri="{C3380CC4-5D6E-409C-BE32-E72D297353CC}">
                <c16:uniqueId val="{00000009-AD32-4C72-983C-3D2C8BA84BA8}"/>
              </c:ext>
            </c:extLst>
          </c:dPt>
          <c:dPt>
            <c:idx val="5"/>
            <c:invertIfNegative val="0"/>
            <c:bubble3D val="0"/>
            <c:spPr>
              <a:solidFill>
                <a:srgbClr val="F4B942"/>
              </a:solidFill>
              <a:effectLst/>
            </c:spPr>
            <c:extLst>
              <c:ext xmlns:c16="http://schemas.microsoft.com/office/drawing/2014/chart" uri="{C3380CC4-5D6E-409C-BE32-E72D297353CC}">
                <c16:uniqueId val="{0000000B-AD32-4C72-983C-3D2C8BA84BA8}"/>
              </c:ext>
            </c:extLst>
          </c:dPt>
          <c:dLbls>
            <c:numFmt formatCode="#,##0" sourceLinked="0"/>
            <c:spPr>
              <a:noFill/>
              <a:ln>
                <a:noFill/>
              </a:ln>
              <a:effectLst/>
            </c:spPr>
            <c:txPr>
              <a:bodyPr/>
              <a:lstStyle/>
              <a:p>
                <a:pPr>
                  <a:defRPr sz="1100" b="0" i="0" u="none" strike="noStrike">
                    <a:solidFill>
                      <a:srgbClr val="1B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P1</c:v>
                </c:pt>
                <c:pt idx="1">
                  <c:v>P2</c:v>
                </c:pt>
                <c:pt idx="2">
                  <c:v>P3</c:v>
                </c:pt>
                <c:pt idx="3">
                  <c:v>P4</c:v>
                </c:pt>
                <c:pt idx="4">
                  <c:v>P5</c:v>
                </c:pt>
                <c:pt idx="5">
                  <c:v>P6</c:v>
                </c:pt>
              </c:strCache>
            </c:strRef>
          </c:cat>
          <c:val>
            <c:numRef>
              <c:f>Sheet1!$B$2:$B$7</c:f>
              <c:numCache>
                <c:formatCode>General</c:formatCode>
                <c:ptCount val="6"/>
                <c:pt idx="0">
                  <c:v>20000</c:v>
                </c:pt>
                <c:pt idx="1">
                  <c:v>22000</c:v>
                </c:pt>
                <c:pt idx="2">
                  <c:v>23000</c:v>
                </c:pt>
                <c:pt idx="3">
                  <c:v>24000</c:v>
                </c:pt>
                <c:pt idx="4">
                  <c:v>25000</c:v>
                </c:pt>
                <c:pt idx="5">
                  <c:v>200000</c:v>
                </c:pt>
              </c:numCache>
            </c:numRef>
          </c:val>
          <c:extLst>
            <c:ext xmlns:c16="http://schemas.microsoft.com/office/drawing/2014/chart" uri="{C3380CC4-5D6E-409C-BE32-E72D297353CC}">
              <c16:uniqueId val="{0000000C-AD32-4C72-983C-3D2C8BA84BA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1E7EE"/>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neg</c:v>
                </c:pt>
              </c:strCache>
            </c:strRef>
          </c:tx>
          <c:spPr>
            <a:solidFill>
              <a:srgbClr val="2A9D95"/>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7.3000000000000001E-3</c:v>
                </c:pt>
                <c:pt idx="1">
                  <c:v>9.7999999999999997E-3</c:v>
                </c:pt>
                <c:pt idx="2">
                  <c:v>1.2999999999999999E-2</c:v>
                </c:pt>
                <c:pt idx="3">
                  <c:v>1.7399999999999999E-2</c:v>
                </c:pt>
                <c:pt idx="4">
                  <c:v>2.3099999999999999E-2</c:v>
                </c:pt>
                <c:pt idx="5">
                  <c:v>3.0599999999999999E-2</c:v>
                </c:pt>
                <c:pt idx="6">
                  <c:v>4.0399999999999998E-2</c:v>
                </c:pt>
                <c:pt idx="7">
                  <c:v>5.33E-2</c:v>
                </c:pt>
                <c:pt idx="8">
                  <c:v>7.0000000000000007E-2</c:v>
                </c:pt>
                <c:pt idx="9">
                  <c:v>9.1600000000000001E-2</c:v>
                </c:pt>
                <c:pt idx="10">
                  <c:v>0.1193</c:v>
                </c:pt>
                <c:pt idx="11">
                  <c:v>0.15459999999999999</c:v>
                </c:pt>
                <c:pt idx="12">
                  <c:v>0.1991</c:v>
                </c:pt>
                <c:pt idx="13">
                  <c:v>0.25480000000000003</c:v>
                </c:pt>
                <c:pt idx="14">
                  <c:v>0.32319999999999999</c:v>
                </c:pt>
                <c:pt idx="15">
                  <c:v>0.40600000000000003</c:v>
                </c:pt>
                <c:pt idx="16">
                  <c:v>0.50370000000000004</c:v>
                </c:pt>
                <c:pt idx="17">
                  <c:v>0.61509999999999998</c:v>
                </c:pt>
                <c:pt idx="18">
                  <c:v>0.73580000000000001</c:v>
                </c:pt>
                <c:pt idx="19">
                  <c:v>0.85570000000000002</c:v>
                </c:pt>
                <c:pt idx="20">
                  <c:v>0.95540000000000003</c:v>
                </c:pt>
                <c:pt idx="21">
                  <c:v>1</c:v>
                </c:pt>
                <c:pt idx="22">
                  <c:v>0.9304</c:v>
                </c:pt>
                <c:pt idx="23">
                  <c:v>0.6492</c:v>
                </c:pt>
                <c:pt idx="24">
                  <c:v>0</c:v>
                </c:pt>
              </c:numCache>
            </c:numRef>
          </c:val>
          <c:extLst>
            <c:ext xmlns:c16="http://schemas.microsoft.com/office/drawing/2014/chart" uri="{C3380CC4-5D6E-409C-BE32-E72D297353CC}">
              <c16:uniqueId val="{00000000-AD22-43D2-A01D-043BD86D2109}"/>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6263F"/>
                </a:solidFill>
                <a:latin typeface="Calibri"/>
              </a:defRPr>
            </a:pPr>
            <a:r>
              <a:rPr lang="en-US" sz="1300" b="0" i="0" u="none" strike="noStrike">
                <a:solidFill>
                  <a:srgbClr val="16263F"/>
                </a:solidFill>
                <a:latin typeface="Calibri"/>
              </a:rPr>
              <a:t>Scores of nine students (out of 100)</a:t>
            </a:r>
          </a:p>
        </c:rich>
      </c:tx>
      <c:overlay val="0"/>
    </c:title>
    <c:autoTitleDeleted val="0"/>
    <c:plotArea>
      <c:layout/>
      <c:barChart>
        <c:barDir val="col"/>
        <c:grouping val="clustered"/>
        <c:varyColors val="0"/>
        <c:ser>
          <c:idx val="0"/>
          <c:order val="0"/>
          <c:tx>
            <c:strRef>
              <c:f>Sheet1!$B$1</c:f>
              <c:strCache>
                <c:ptCount val="1"/>
                <c:pt idx="0">
                  <c:v>Score</c:v>
                </c:pt>
              </c:strCache>
            </c:strRef>
          </c:tx>
          <c:spPr>
            <a:solidFill>
              <a:srgbClr val="F4B942"/>
            </a:solidFill>
            <a:effectLst/>
          </c:spPr>
          <c:invertIfNegative val="0"/>
          <c:dPt>
            <c:idx val="0"/>
            <c:invertIfNegative val="0"/>
            <c:bubble3D val="0"/>
            <c:extLst>
              <c:ext xmlns:c16="http://schemas.microsoft.com/office/drawing/2014/chart" uri="{C3380CC4-5D6E-409C-BE32-E72D297353CC}">
                <c16:uniqueId val="{00000001-64AB-4B77-8BD6-2390675A7C17}"/>
              </c:ext>
            </c:extLst>
          </c:dPt>
          <c:dPt>
            <c:idx val="1"/>
            <c:invertIfNegative val="0"/>
            <c:bubble3D val="0"/>
            <c:extLst>
              <c:ext xmlns:c16="http://schemas.microsoft.com/office/drawing/2014/chart" uri="{C3380CC4-5D6E-409C-BE32-E72D297353CC}">
                <c16:uniqueId val="{00000003-64AB-4B77-8BD6-2390675A7C17}"/>
              </c:ext>
            </c:extLst>
          </c:dPt>
          <c:dPt>
            <c:idx val="2"/>
            <c:invertIfNegative val="0"/>
            <c:bubble3D val="0"/>
            <c:extLst>
              <c:ext xmlns:c16="http://schemas.microsoft.com/office/drawing/2014/chart" uri="{C3380CC4-5D6E-409C-BE32-E72D297353CC}">
                <c16:uniqueId val="{00000005-64AB-4B77-8BD6-2390675A7C17}"/>
              </c:ext>
            </c:extLst>
          </c:dPt>
          <c:dPt>
            <c:idx val="3"/>
            <c:invertIfNegative val="0"/>
            <c:bubble3D val="0"/>
            <c:spPr>
              <a:solidFill>
                <a:srgbClr val="2A9D95"/>
              </a:solidFill>
              <a:effectLst/>
            </c:spPr>
            <c:extLst>
              <c:ext xmlns:c16="http://schemas.microsoft.com/office/drawing/2014/chart" uri="{C3380CC4-5D6E-409C-BE32-E72D297353CC}">
                <c16:uniqueId val="{00000007-64AB-4B77-8BD6-2390675A7C17}"/>
              </c:ext>
            </c:extLst>
          </c:dPt>
          <c:dPt>
            <c:idx val="4"/>
            <c:invertIfNegative val="0"/>
            <c:bubble3D val="0"/>
            <c:spPr>
              <a:solidFill>
                <a:srgbClr val="2A9D95"/>
              </a:solidFill>
              <a:effectLst/>
            </c:spPr>
            <c:extLst>
              <c:ext xmlns:c16="http://schemas.microsoft.com/office/drawing/2014/chart" uri="{C3380CC4-5D6E-409C-BE32-E72D297353CC}">
                <c16:uniqueId val="{00000009-64AB-4B77-8BD6-2390675A7C17}"/>
              </c:ext>
            </c:extLst>
          </c:dPt>
          <c:dPt>
            <c:idx val="5"/>
            <c:invertIfNegative val="0"/>
            <c:bubble3D val="0"/>
            <c:spPr>
              <a:solidFill>
                <a:srgbClr val="2A9D95"/>
              </a:solidFill>
              <a:effectLst/>
            </c:spPr>
            <c:extLst>
              <c:ext xmlns:c16="http://schemas.microsoft.com/office/drawing/2014/chart" uri="{C3380CC4-5D6E-409C-BE32-E72D297353CC}">
                <c16:uniqueId val="{0000000B-64AB-4B77-8BD6-2390675A7C17}"/>
              </c:ext>
            </c:extLst>
          </c:dPt>
          <c:dPt>
            <c:idx val="6"/>
            <c:invertIfNegative val="0"/>
            <c:bubble3D val="0"/>
            <c:spPr>
              <a:solidFill>
                <a:srgbClr val="2A9D95"/>
              </a:solidFill>
              <a:effectLst/>
            </c:spPr>
            <c:extLst>
              <c:ext xmlns:c16="http://schemas.microsoft.com/office/drawing/2014/chart" uri="{C3380CC4-5D6E-409C-BE32-E72D297353CC}">
                <c16:uniqueId val="{0000000D-64AB-4B77-8BD6-2390675A7C17}"/>
              </c:ext>
            </c:extLst>
          </c:dPt>
          <c:dPt>
            <c:idx val="7"/>
            <c:invertIfNegative val="0"/>
            <c:bubble3D val="0"/>
            <c:spPr>
              <a:solidFill>
                <a:srgbClr val="2A9D95"/>
              </a:solidFill>
              <a:effectLst/>
            </c:spPr>
            <c:extLst>
              <c:ext xmlns:c16="http://schemas.microsoft.com/office/drawing/2014/chart" uri="{C3380CC4-5D6E-409C-BE32-E72D297353CC}">
                <c16:uniqueId val="{0000000F-64AB-4B77-8BD6-2390675A7C17}"/>
              </c:ext>
            </c:extLst>
          </c:dPt>
          <c:dPt>
            <c:idx val="8"/>
            <c:invertIfNegative val="0"/>
            <c:bubble3D val="0"/>
            <c:spPr>
              <a:solidFill>
                <a:srgbClr val="2A9D95"/>
              </a:solidFill>
              <a:effectLst/>
            </c:spPr>
            <c:extLst>
              <c:ext xmlns:c16="http://schemas.microsoft.com/office/drawing/2014/chart" uri="{C3380CC4-5D6E-409C-BE32-E72D297353CC}">
                <c16:uniqueId val="{00000011-64AB-4B77-8BD6-2390675A7C17}"/>
              </c:ext>
            </c:extLst>
          </c:dPt>
          <c:dLbls>
            <c:numFmt formatCode="#,##0" sourceLinked="0"/>
            <c:spPr>
              <a:noFill/>
              <a:ln>
                <a:noFill/>
              </a:ln>
              <a:effectLst/>
            </c:spPr>
            <c:txPr>
              <a:bodyPr/>
              <a:lstStyle/>
              <a:p>
                <a:pPr>
                  <a:defRPr sz="1100" b="0" i="0" u="none" strike="noStrike">
                    <a:solidFill>
                      <a:srgbClr val="1B2733"/>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Sheet1!$A$2:$A$10</c:f>
              <c:strCache>
                <c:ptCount val="9"/>
                <c:pt idx="0">
                  <c:v>S1</c:v>
                </c:pt>
                <c:pt idx="1">
                  <c:v>S2</c:v>
                </c:pt>
                <c:pt idx="2">
                  <c:v>S3</c:v>
                </c:pt>
                <c:pt idx="3">
                  <c:v>S4</c:v>
                </c:pt>
                <c:pt idx="4">
                  <c:v>S5</c:v>
                </c:pt>
                <c:pt idx="5">
                  <c:v>S6</c:v>
                </c:pt>
                <c:pt idx="6">
                  <c:v>S7</c:v>
                </c:pt>
                <c:pt idx="7">
                  <c:v>S8</c:v>
                </c:pt>
                <c:pt idx="8">
                  <c:v>S9</c:v>
                </c:pt>
              </c:strCache>
            </c:strRef>
          </c:cat>
          <c:val>
            <c:numRef>
              <c:f>Sheet1!$B$2:$B$10</c:f>
              <c:numCache>
                <c:formatCode>General</c:formatCode>
                <c:ptCount val="9"/>
                <c:pt idx="0">
                  <c:v>10</c:v>
                </c:pt>
                <c:pt idx="1">
                  <c:v>12</c:v>
                </c:pt>
                <c:pt idx="2">
                  <c:v>15</c:v>
                </c:pt>
                <c:pt idx="3">
                  <c:v>85</c:v>
                </c:pt>
                <c:pt idx="4">
                  <c:v>88</c:v>
                </c:pt>
                <c:pt idx="5">
                  <c:v>90</c:v>
                </c:pt>
                <c:pt idx="6">
                  <c:v>92</c:v>
                </c:pt>
                <c:pt idx="7">
                  <c:v>95</c:v>
                </c:pt>
                <c:pt idx="8">
                  <c:v>98</c:v>
                </c:pt>
              </c:numCache>
            </c:numRef>
          </c:val>
          <c:extLst>
            <c:ext xmlns:c16="http://schemas.microsoft.com/office/drawing/2014/chart" uri="{C3380CC4-5D6E-409C-BE32-E72D297353CC}">
              <c16:uniqueId val="{00000012-64AB-4B77-8BD6-2390675A7C17}"/>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C6B7A"/>
                </a:solidFill>
                <a:latin typeface="Arial"/>
              </a:defRPr>
            </a:pPr>
            <a:endParaRPr lang="en-US"/>
          </a:p>
        </c:txPr>
        <c:crossAx val="2094734552"/>
        <c:crosses val="autoZero"/>
        <c:auto val="1"/>
        <c:lblAlgn val="ctr"/>
        <c:lblOffset val="100"/>
        <c:noMultiLvlLbl val="1"/>
      </c:catAx>
      <c:valAx>
        <c:axId val="2094734552"/>
        <c:scaling>
          <c:orientation val="minMax"/>
          <c:max val="100"/>
          <c:min val="0"/>
        </c:scaling>
        <c:delete val="0"/>
        <c:axPos val="l"/>
        <c:majorGridlines>
          <c:spPr>
            <a:ln w="6350" cap="flat">
              <a:solidFill>
                <a:srgbClr val="E1E7E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C6B7A"/>
                </a:solidFill>
                <a:latin typeface="Arial"/>
              </a:defRPr>
            </a:pPr>
            <a:endParaRPr lang="en-US"/>
          </a:p>
        </c:txPr>
        <c:crossAx val="2094734554"/>
        <c:crosses val="autoZero"/>
        <c:crossBetween val="between"/>
        <c:majorUnit val="20"/>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areaChart>
        <c:grouping val="standard"/>
        <c:varyColors val="0"/>
        <c:ser>
          <c:idx val="0"/>
          <c:order val="0"/>
          <c:tx>
            <c:strRef>
              <c:f>Sheet1!$B$1</c:f>
              <c:strCache>
                <c:ptCount val="1"/>
                <c:pt idx="0">
                  <c:v>sym</c:v>
                </c:pt>
              </c:strCache>
            </c:strRef>
          </c:tx>
          <c:spPr>
            <a:solidFill>
              <a:srgbClr val="2D6A9F"/>
            </a:solidFill>
            <a:effectLst/>
          </c:spPr>
          <c:cat>
            <c:strRef>
              <c:f>Sheet1!$A$2:$A$26</c:f>
              <c:strCache>
                <c:ptCount val="25"/>
                <c:pt idx="0">
                  <c:v>0</c:v>
                </c:pt>
                <c:pt idx="1">
                  <c:v>1</c:v>
                </c:pt>
                <c:pt idx="2">
                  <c:v>2</c:v>
                </c:pt>
                <c:pt idx="3">
                  <c:v>3</c:v>
                </c:pt>
                <c:pt idx="4">
                  <c:v>4</c:v>
                </c:pt>
                <c:pt idx="5">
                  <c:v>5</c:v>
                </c:pt>
                <c:pt idx="6">
                  <c:v>6</c:v>
                </c:pt>
                <c:pt idx="7">
                  <c:v>7</c:v>
                </c:pt>
                <c:pt idx="8">
                  <c:v>8</c:v>
                </c:pt>
                <c:pt idx="9">
                  <c:v>9</c:v>
                </c:pt>
                <c:pt idx="10">
                  <c:v>10</c:v>
                </c:pt>
                <c:pt idx="11">
                  <c:v>11</c:v>
                </c:pt>
                <c:pt idx="12">
                  <c:v>12</c:v>
                </c:pt>
                <c:pt idx="13">
                  <c:v>13</c:v>
                </c:pt>
                <c:pt idx="14">
                  <c:v>14</c:v>
                </c:pt>
                <c:pt idx="15">
                  <c:v>15</c:v>
                </c:pt>
                <c:pt idx="16">
                  <c:v>16</c:v>
                </c:pt>
                <c:pt idx="17">
                  <c:v>17</c:v>
                </c:pt>
                <c:pt idx="18">
                  <c:v>18</c:v>
                </c:pt>
                <c:pt idx="19">
                  <c:v>19</c:v>
                </c:pt>
                <c:pt idx="20">
                  <c:v>20</c:v>
                </c:pt>
                <c:pt idx="21">
                  <c:v>21</c:v>
                </c:pt>
                <c:pt idx="22">
                  <c:v>22</c:v>
                </c:pt>
                <c:pt idx="23">
                  <c:v>23</c:v>
                </c:pt>
                <c:pt idx="24">
                  <c:v>24</c:v>
                </c:pt>
              </c:strCache>
            </c:strRef>
          </c:cat>
          <c:val>
            <c:numRef>
              <c:f>Sheet1!$B$2:$B$26</c:f>
              <c:numCache>
                <c:formatCode>General</c:formatCode>
                <c:ptCount val="25"/>
                <c:pt idx="0">
                  <c:v>2.9999999999999997E-4</c:v>
                </c:pt>
                <c:pt idx="1">
                  <c:v>1.1999999999999999E-3</c:v>
                </c:pt>
                <c:pt idx="2">
                  <c:v>3.8999999999999998E-3</c:v>
                </c:pt>
                <c:pt idx="3">
                  <c:v>1.11E-2</c:v>
                </c:pt>
                <c:pt idx="4">
                  <c:v>2.86E-2</c:v>
                </c:pt>
                <c:pt idx="5">
                  <c:v>6.5699999999999995E-2</c:v>
                </c:pt>
                <c:pt idx="6">
                  <c:v>0.1353</c:v>
                </c:pt>
                <c:pt idx="7">
                  <c:v>0.24940000000000001</c:v>
                </c:pt>
                <c:pt idx="8">
                  <c:v>0.41110000000000002</c:v>
                </c:pt>
                <c:pt idx="9">
                  <c:v>0.60650000000000004</c:v>
                </c:pt>
                <c:pt idx="10">
                  <c:v>0.80069999999999997</c:v>
                </c:pt>
                <c:pt idx="11">
                  <c:v>0.94599999999999995</c:v>
                </c:pt>
                <c:pt idx="12">
                  <c:v>1</c:v>
                </c:pt>
                <c:pt idx="13">
                  <c:v>0.94599999999999995</c:v>
                </c:pt>
                <c:pt idx="14">
                  <c:v>0.80069999999999997</c:v>
                </c:pt>
                <c:pt idx="15">
                  <c:v>0.60650000000000004</c:v>
                </c:pt>
                <c:pt idx="16">
                  <c:v>0.41110000000000002</c:v>
                </c:pt>
                <c:pt idx="17">
                  <c:v>0.24940000000000001</c:v>
                </c:pt>
                <c:pt idx="18">
                  <c:v>0.1353</c:v>
                </c:pt>
                <c:pt idx="19">
                  <c:v>6.5699999999999995E-2</c:v>
                </c:pt>
                <c:pt idx="20">
                  <c:v>2.86E-2</c:v>
                </c:pt>
                <c:pt idx="21">
                  <c:v>1.11E-2</c:v>
                </c:pt>
                <c:pt idx="22">
                  <c:v>3.8999999999999998E-3</c:v>
                </c:pt>
                <c:pt idx="23">
                  <c:v>1.1999999999999999E-3</c:v>
                </c:pt>
                <c:pt idx="24">
                  <c:v>2.9999999999999997E-4</c:v>
                </c:pt>
              </c:numCache>
            </c:numRef>
          </c:val>
          <c:extLst>
            <c:ext xmlns:c16="http://schemas.microsoft.com/office/drawing/2014/chart" uri="{C3380CC4-5D6E-409C-BE32-E72D297353CC}">
              <c16:uniqueId val="{00000000-14DF-439B-B0ED-0BB78B235C22}"/>
            </c:ext>
          </c:extLst>
        </c:ser>
        <c:dLbls>
          <c:showLegendKey val="0"/>
          <c:showVal val="0"/>
          <c:showCatName val="0"/>
          <c:showSerName val="0"/>
          <c:showPercent val="0"/>
          <c:showBubbleSize val="0"/>
        </c:dLbls>
        <c:axId val="2094734554"/>
        <c:axId val="2094734552"/>
      </c:areaChart>
      <c:catAx>
        <c:axId val="2094734554"/>
        <c:scaling>
          <c:orientation val="minMax"/>
        </c:scaling>
        <c:delete val="1"/>
        <c:axPos val="b"/>
        <c:numFmt formatCode="General" sourceLinked="1"/>
        <c:majorTickMark val="out"/>
        <c:minorTickMark val="none"/>
        <c:tickLblPos val="low"/>
        <c:crossAx val="2094734552"/>
        <c:crosses val="autoZero"/>
        <c:auto val="1"/>
        <c:lblAlgn val="ctr"/>
        <c:lblOffset val="100"/>
        <c:noMultiLvlLbl val="1"/>
      </c:catAx>
      <c:valAx>
        <c:axId val="2094734552"/>
        <c:scaling>
          <c:orientation val="minMax"/>
          <c:max val="1.1499999999999999"/>
          <c:min val="0"/>
        </c:scaling>
        <c:delete val="1"/>
        <c:axPos val="l"/>
        <c:numFmt formatCode="General" sourceLinked="0"/>
        <c:majorTickMark val="out"/>
        <c:minorTickMark val="none"/>
        <c:tickLblPos val="nextTo"/>
        <c:crossAx val="2094734554"/>
        <c:crosses val="autoZero"/>
        <c:crossBetween val="between"/>
      </c:valAx>
      <c:spPr>
        <a:solidFill>
          <a:srgbClr val="F1F5FA"/>
        </a:solidFill>
        <a:ln>
          <a:noFill/>
        </a:ln>
        <a:effectLst/>
      </c:spPr>
    </c:plotArea>
    <c:plotVisOnly val="1"/>
    <c:dispBlanksAs val="span"/>
    <c:showDLblsOverMax val="1"/>
  </c:chart>
  <c:spPr>
    <a:solidFill>
      <a:srgbClr val="F1F5FA"/>
    </a:solid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scatterChart>
        <c:scatterStyle val="lineMarker"/>
        <c:varyColors val="0"/>
        <c:ser>
          <c:idx val="0"/>
          <c:order val="0"/>
          <c:tx>
            <c:strRef>
              <c:f>Sheet1!$B$1</c:f>
              <c:strCache>
                <c:ptCount val="1"/>
                <c:pt idx="0">
                  <c:v>Y</c:v>
                </c:pt>
              </c:strCache>
            </c:strRef>
          </c:tx>
          <c:spPr>
            <a:ln>
              <a:noFill/>
            </a:ln>
            <a:effectLst/>
          </c:spPr>
          <c:marker>
            <c:symbol val="circle"/>
            <c:size val="7"/>
            <c:spPr>
              <a:solidFill>
                <a:srgbClr val="F4B942"/>
              </a:solidFill>
              <a:ln w="9525" cap="flat">
                <a:solidFill>
                  <a:srgbClr val="F4B942"/>
                </a:solidFill>
                <a:prstDash val="solid"/>
                <a:round/>
              </a:ln>
              <a:effectLst/>
            </c:spPr>
          </c:marker>
          <c:xVal>
            <c:numRef>
              <c:f>Sheet1!$A$2:$A$11</c:f>
              <c:numCache>
                <c:formatCode>General</c:formatCode>
                <c:ptCount val="10"/>
                <c:pt idx="0">
                  <c:v>1</c:v>
                </c:pt>
                <c:pt idx="1">
                  <c:v>2</c:v>
                </c:pt>
                <c:pt idx="2">
                  <c:v>3</c:v>
                </c:pt>
                <c:pt idx="3">
                  <c:v>4</c:v>
                </c:pt>
                <c:pt idx="4">
                  <c:v>5</c:v>
                </c:pt>
                <c:pt idx="5">
                  <c:v>6</c:v>
                </c:pt>
                <c:pt idx="6">
                  <c:v>7</c:v>
                </c:pt>
                <c:pt idx="7">
                  <c:v>8</c:v>
                </c:pt>
                <c:pt idx="8">
                  <c:v>9</c:v>
                </c:pt>
                <c:pt idx="9">
                  <c:v>10</c:v>
                </c:pt>
              </c:numCache>
            </c:numRef>
          </c:xVal>
          <c:yVal>
            <c:numRef>
              <c:f>Sheet1!$B$2:$B$11</c:f>
              <c:numCache>
                <c:formatCode>General</c:formatCode>
                <c:ptCount val="10"/>
                <c:pt idx="0">
                  <c:v>2.1</c:v>
                </c:pt>
                <c:pt idx="1">
                  <c:v>2.9</c:v>
                </c:pt>
                <c:pt idx="2">
                  <c:v>3.6</c:v>
                </c:pt>
                <c:pt idx="3">
                  <c:v>5</c:v>
                </c:pt>
                <c:pt idx="4">
                  <c:v>5.4</c:v>
                </c:pt>
                <c:pt idx="5">
                  <c:v>6.7</c:v>
                </c:pt>
                <c:pt idx="6">
                  <c:v>7.1</c:v>
                </c:pt>
                <c:pt idx="7">
                  <c:v>8.3000000000000007</c:v>
                </c:pt>
                <c:pt idx="8">
                  <c:v>8.9</c:v>
                </c:pt>
                <c:pt idx="9">
                  <c:v>10.199999999999999</c:v>
                </c:pt>
              </c:numCache>
            </c:numRef>
          </c:yVal>
          <c:smooth val="0"/>
          <c:extLst>
            <c:ext xmlns:c16="http://schemas.microsoft.com/office/drawing/2014/chart" uri="{C3380CC4-5D6E-409C-BE32-E72D297353CC}">
              <c16:uniqueId val="{00000000-1BD7-4355-B241-E78090BE5D49}"/>
            </c:ext>
          </c:extLst>
        </c:ser>
        <c:dLbls>
          <c:showLegendKey val="0"/>
          <c:showVal val="0"/>
          <c:showCatName val="0"/>
          <c:showSerName val="0"/>
          <c:showPercent val="0"/>
          <c:showBubbleSize val="0"/>
        </c:dLbls>
        <c:axId val="2094734554"/>
        <c:axId val="2094734552"/>
      </c:scatterChart>
      <c:valAx>
        <c:axId val="2094734554"/>
        <c:scaling>
          <c:orientation val="minMax"/>
        </c:scaling>
        <c:delete val="0"/>
        <c:axPos val="b"/>
        <c:majorGridlines>
          <c:spPr>
            <a:ln w="6350" cap="flat">
              <a:solidFill>
                <a:srgbClr val="E2E8F0"/>
              </a:solidFill>
              <a:prstDash val="solid"/>
              <a:round/>
            </a:ln>
          </c:spPr>
        </c:majorGridlines>
        <c:numFmt formatCode="General" sourceLinked="1"/>
        <c:majorTickMark val="none"/>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2"/>
        <c:crosses val="autoZero"/>
        <c:crossBetween val="midCat"/>
      </c:val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none"/>
        <c:minorTickMark val="none"/>
        <c:tickLblPos val="nextTo"/>
        <c:spPr>
          <a:ln w="12700" cap="flat">
            <a:solidFill>
              <a:srgbClr val="888888"/>
            </a:solidFill>
            <a:prstDash val="solid"/>
            <a:round/>
          </a:ln>
        </c:spPr>
        <c:txPr>
          <a:bodyPr/>
          <a:lstStyle/>
          <a:p>
            <a:pPr>
              <a:defRPr sz="1000" b="0" i="0" u="none" strike="noStrike">
                <a:solidFill>
                  <a:srgbClr val="5C6B7A"/>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solidFill>
      <a:srgbClr val="F2F5F9"/>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8119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what skewness is, how to spot the three types, two worked examples (salaries and exam scores), the formula and why it cubes deviations, and how we use it in data science. Ask students: "If I say the average salary at a company is high, is it necessarily typical?" to prime the idea.</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definition aloud, then point at the three shapes. Stress: the skew is named after the TAIL, not the hump. Ask: where would the mean sit in each picture?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row by row. Have students say the mean/median order out loud. Memory trick: the mean is dragged toward the tail, the mode stays at the peak, the median sits between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picture: the bulk sits on the left, a thin tail stretches right. Stress Mode &lt; Median &lt; Mean, and why the mean moves most (it uses every value, extreme ones included).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the six numbers first and ask them to guess the mean before revealing it. Point out: no salary repeats, so there is no mode; most people earn 20-25k. Skewness (population) = 1.79.</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Mirror image of the previous slide. Mean is dragged left by a few very low values; the mode stays at the high peak.</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who scored 10, 12, 15? (a few struggling students). Mean = 585/9 = 65, median = 5th value = 88. Skewness (population) = -0.68.</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Mean, median and mode coincide at the centre. Point out that the normal distribution is the classic example, but symmetric is a weaker condition than normal.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Population skewness is the third standardised moment. Read the legend, then move to the next slide for the "why cube it?" question.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an odd power keeps the sign of each deviation. Walk through the mini table: symmetric data cancels to 0; data with one large positive deviation gives a positive total. Check numbers: {-1,-1,2}: cubes sum to 6, mean 2, sigma=sqrt(2), skew = 2/2.83 = 0.71.</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sign gives direction; the size gives strength. The +/-0.5 and +/-1 cut-offs are a common rule of thumb, not a law. Place the two worked examples on the scale.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pandas vs scipy difference: scipy.stats.skew defaults to the population formula (1.79 here); pandas .skew() applies a small-sample correction (2.45). Same sign, different magnitude. Log transform is the usual first fix for right skew (positive data only).</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chart" Target="../charts/chart5.xml"/><Relationship Id="rId4" Type="http://schemas.openxmlformats.org/officeDocument/2006/relationships/chart" Target="../charts/char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chart" Target="../charts/chart1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63F"/>
        </a:solidFill>
        <a:effectLst/>
      </p:bgPr>
    </p:bg>
    <p:spTree>
      <p:nvGrpSpPr>
        <p:cNvPr id="1" name=""/>
        <p:cNvGrpSpPr/>
        <p:nvPr/>
      </p:nvGrpSpPr>
      <p:grpSpPr>
        <a:xfrm>
          <a:off x="0" y="0"/>
          <a:ext cx="0" cy="0"/>
          <a:chOff x="0" y="0"/>
          <a:chExt cx="0" cy="0"/>
        </a:xfrm>
      </p:grpSpPr>
      <p:sp>
        <p:nvSpPr>
          <p:cNvPr id="2" name="Shape 0"/>
          <p:cNvSpPr/>
          <p:nvPr/>
        </p:nvSpPr>
        <p:spPr>
          <a:xfrm rot="1320000">
            <a:off x="8686800" y="-1097280"/>
            <a:ext cx="5486400" cy="5486400"/>
          </a:xfrm>
          <a:prstGeom prst="roundRect">
            <a:avLst>
              <a:gd name="adj" fmla="val 3333"/>
            </a:avLst>
          </a:prstGeom>
          <a:solidFill>
            <a:srgbClr val="2D6A9F">
              <a:alpha val="22000"/>
            </a:srgbClr>
          </a:solidFill>
          <a:ln/>
        </p:spPr>
      </p:sp>
      <p:sp>
        <p:nvSpPr>
          <p:cNvPr id="3" name="Shape 1"/>
          <p:cNvSpPr/>
          <p:nvPr/>
        </p:nvSpPr>
        <p:spPr>
          <a:xfrm rot="1320000">
            <a:off x="9509760" y="2377440"/>
            <a:ext cx="5486400" cy="5486400"/>
          </a:xfrm>
          <a:prstGeom prst="roundRect">
            <a:avLst>
              <a:gd name="adj" fmla="val 3333"/>
            </a:avLst>
          </a:prstGeom>
          <a:solidFill>
            <a:srgbClr val="3AAFA9">
              <a:alpha val="18000"/>
            </a:srgbClr>
          </a:solidFill>
          <a:ln/>
        </p:spPr>
      </p:sp>
      <p:sp>
        <p:nvSpPr>
          <p:cNvPr id="4" name="Shape 2"/>
          <p:cNvSpPr/>
          <p:nvPr/>
        </p:nvSpPr>
        <p:spPr>
          <a:xfrm>
            <a:off x="868680" y="868680"/>
            <a:ext cx="914400" cy="914400"/>
          </a:xfrm>
          <a:prstGeom prst="ellipse">
            <a:avLst/>
          </a:prstGeom>
          <a:solidFill>
            <a:srgbClr val="F4B942"/>
          </a:solidFill>
          <a:ln/>
          <a:effectLst>
            <a:outerShdw blurRad="101600" dist="38100" dir="5400000" algn="bl" rotWithShape="0">
              <a:srgbClr val="000000">
                <a:alpha val="14000"/>
              </a:srgbClr>
            </a:outerShdw>
          </a:effectLst>
        </p:spPr>
      </p:sp>
      <p:pic>
        <p:nvPicPr>
          <p:cNvPr id="5" name="Image 0" descr="ic_chart.png"/>
          <p:cNvPicPr>
            <a:picLocks noChangeAspect="1"/>
          </p:cNvPicPr>
          <p:nvPr/>
        </p:nvPicPr>
        <p:blipFill>
          <a:blip r:embed="rId3"/>
          <a:stretch>
            <a:fillRect/>
          </a:stretch>
        </p:blipFill>
        <p:spPr>
          <a:xfrm>
            <a:off x="1097280" y="1097280"/>
            <a:ext cx="457200" cy="457200"/>
          </a:xfrm>
          <a:prstGeom prst="rect">
            <a:avLst/>
          </a:prstGeom>
        </p:spPr>
      </p:pic>
      <p:sp>
        <p:nvSpPr>
          <p:cNvPr id="6" name="Text 3"/>
          <p:cNvSpPr/>
          <p:nvPr/>
        </p:nvSpPr>
        <p:spPr>
          <a:xfrm>
            <a:off x="896112" y="2011680"/>
            <a:ext cx="10972800" cy="365760"/>
          </a:xfrm>
          <a:prstGeom prst="rect">
            <a:avLst/>
          </a:prstGeom>
          <a:noFill/>
          <a:ln/>
        </p:spPr>
        <p:txBody>
          <a:bodyPr wrap="square" lIns="0" tIns="0" rIns="0" bIns="0" rtlCol="0" anchor="ctr"/>
          <a:lstStyle/>
          <a:p>
            <a:pPr marL="0" indent="0" algn="l">
              <a:buNone/>
            </a:pPr>
            <a:r>
              <a:rPr lang="en-US" sz="1350" b="1" kern="0" spc="200" dirty="0">
                <a:solidFill>
                  <a:srgbClr val="F4B942"/>
                </a:solidFill>
                <a:latin typeface="Calibri" pitchFamily="34" charset="0"/>
                <a:ea typeface="Calibri" pitchFamily="34" charset="-122"/>
                <a:cs typeface="Calibri" pitchFamily="34" charset="-120"/>
              </a:rPr>
              <a:t>AI / ML TRAINING  ·  DAY 2  ·  PHASE B — MATHEMATICAL FOUNDATIONS</a:t>
            </a:r>
            <a:endParaRPr lang="en-US" sz="1350" dirty="0"/>
          </a:p>
        </p:txBody>
      </p:sp>
      <p:sp>
        <p:nvSpPr>
          <p:cNvPr id="7" name="Text 4"/>
          <p:cNvSpPr/>
          <p:nvPr/>
        </p:nvSpPr>
        <p:spPr>
          <a:xfrm>
            <a:off x="822960" y="2432304"/>
            <a:ext cx="10972800" cy="868680"/>
          </a:xfrm>
          <a:prstGeom prst="rect">
            <a:avLst/>
          </a:prstGeom>
          <a:noFill/>
          <a:ln/>
        </p:spPr>
        <p:txBody>
          <a:bodyPr wrap="square" lIns="0" tIns="0" rIns="0" bIns="0" rtlCol="0" anchor="ctr"/>
          <a:lstStyle/>
          <a:p>
            <a:pPr marL="0" indent="0" algn="l">
              <a:buNone/>
            </a:pPr>
            <a:r>
              <a:rPr lang="en-US" sz="5000" b="1" dirty="0">
                <a:solidFill>
                  <a:srgbClr val="FFFFFF"/>
                </a:solidFill>
                <a:latin typeface="Century Schoolbook" pitchFamily="34" charset="0"/>
                <a:ea typeface="Century Schoolbook" pitchFamily="34" charset="-122"/>
                <a:cs typeface="Century Schoolbook" pitchFamily="34" charset="-120"/>
              </a:rPr>
              <a:t>Probability &amp; Statistics</a:t>
            </a:r>
            <a:endParaRPr lang="en-US" sz="5000" dirty="0"/>
          </a:p>
        </p:txBody>
      </p:sp>
      <p:sp>
        <p:nvSpPr>
          <p:cNvPr id="8" name="Text 5"/>
          <p:cNvSpPr/>
          <p:nvPr/>
        </p:nvSpPr>
        <p:spPr>
          <a:xfrm>
            <a:off x="841248" y="3346704"/>
            <a:ext cx="10972800" cy="594360"/>
          </a:xfrm>
          <a:prstGeom prst="rect">
            <a:avLst/>
          </a:prstGeom>
          <a:noFill/>
          <a:ln/>
        </p:spPr>
        <p:txBody>
          <a:bodyPr wrap="square" lIns="0" tIns="0" rIns="0" bIns="0" rtlCol="0" anchor="ctr"/>
          <a:lstStyle/>
          <a:p>
            <a:pPr marL="0" indent="0" algn="l">
              <a:buNone/>
            </a:pPr>
            <a:r>
              <a:rPr lang="en-US" sz="2700" b="1" dirty="0">
                <a:solidFill>
                  <a:srgbClr val="F4B942"/>
                </a:solidFill>
                <a:latin typeface="Century Schoolbook" pitchFamily="34" charset="0"/>
                <a:ea typeface="Century Schoolbook" pitchFamily="34" charset="-122"/>
                <a:cs typeface="Century Schoolbook" pitchFamily="34" charset="-120"/>
              </a:rPr>
              <a:t>Part 1 — </a:t>
            </a:r>
            <a:r>
              <a:rPr lang="en-US" sz="2700" dirty="0">
                <a:solidFill>
                  <a:srgbClr val="DCE7F2"/>
                </a:solidFill>
                <a:latin typeface="Century Schoolbook" pitchFamily="34" charset="0"/>
                <a:ea typeface="Century Schoolbook" pitchFamily="34" charset="-122"/>
                <a:cs typeface="Century Schoolbook" pitchFamily="34" charset="-120"/>
              </a:rPr>
              <a:t>Descriptive Statistics</a:t>
            </a:r>
            <a:endParaRPr lang="en-US" sz="2700" dirty="0"/>
          </a:p>
        </p:txBody>
      </p:sp>
      <p:sp>
        <p:nvSpPr>
          <p:cNvPr id="9" name="Text 6"/>
          <p:cNvSpPr/>
          <p:nvPr/>
        </p:nvSpPr>
        <p:spPr>
          <a:xfrm>
            <a:off x="868680" y="4114800"/>
            <a:ext cx="10972800" cy="365760"/>
          </a:xfrm>
          <a:prstGeom prst="rect">
            <a:avLst/>
          </a:prstGeom>
          <a:noFill/>
          <a:ln/>
        </p:spPr>
        <p:txBody>
          <a:bodyPr wrap="square" lIns="0" tIns="0" rIns="0" bIns="0" rtlCol="0" anchor="ctr"/>
          <a:lstStyle/>
          <a:p>
            <a:pPr marL="0" indent="0" algn="l">
              <a:buNone/>
            </a:pPr>
            <a:r>
              <a:rPr lang="en-US" sz="1550" dirty="0">
                <a:solidFill>
                  <a:srgbClr val="AFC2D6"/>
                </a:solidFill>
                <a:latin typeface="Calibri" pitchFamily="34" charset="0"/>
                <a:ea typeface="Calibri" pitchFamily="34" charset="-122"/>
                <a:cs typeface="Calibri" pitchFamily="34" charset="-120"/>
              </a:rPr>
              <a:t>Central tendency · spread · shape · correlation · summarizing data</a:t>
            </a:r>
            <a:endParaRPr lang="en-US" sz="1550" dirty="0"/>
          </a:p>
        </p:txBody>
      </p:sp>
      <p:sp>
        <p:nvSpPr>
          <p:cNvPr id="10" name="Text 7"/>
          <p:cNvSpPr/>
          <p:nvPr/>
        </p:nvSpPr>
        <p:spPr>
          <a:xfrm>
            <a:off x="868680" y="6126480"/>
            <a:ext cx="10515600" cy="320040"/>
          </a:xfrm>
          <a:prstGeom prst="rect">
            <a:avLst/>
          </a:prstGeom>
          <a:noFill/>
          <a:ln/>
        </p:spPr>
        <p:txBody>
          <a:bodyPr wrap="square" lIns="0" tIns="0" rIns="0" bIns="0" rtlCol="0" anchor="ctr"/>
          <a:lstStyle/>
          <a:p>
            <a:pPr marL="0" indent="0" algn="l">
              <a:buNone/>
            </a:pPr>
            <a:r>
              <a:rPr lang="en-US" sz="1200" dirty="0">
                <a:solidFill>
                  <a:srgbClr val="7E93AF"/>
                </a:solidFill>
                <a:latin typeface="Calibri" pitchFamily="34" charset="0"/>
                <a:ea typeface="Calibri" pitchFamily="34" charset="-122"/>
                <a:cs typeface="Calibri" pitchFamily="34" charset="-120"/>
              </a:rPr>
              <a:t>Unit U6  ·  Built from Module 1.4 + 2.2  ·  Day 2 portion (continues on Day 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clip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ORIENTATION</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Why statistics? Know your data before you model</a:t>
            </a:r>
            <a:endParaRPr lang="en-US" sz="2700" dirty="0"/>
          </a:p>
        </p:txBody>
      </p:sp>
      <p:sp>
        <p:nvSpPr>
          <p:cNvPr id="6" name="Shape 3"/>
          <p:cNvSpPr/>
          <p:nvPr/>
        </p:nvSpPr>
        <p:spPr>
          <a:xfrm>
            <a:off x="548640" y="1572768"/>
            <a:ext cx="11091672" cy="914400"/>
          </a:xfrm>
          <a:prstGeom prst="roundRect">
            <a:avLst>
              <a:gd name="adj" fmla="val 8000"/>
            </a:avLst>
          </a:prstGeom>
          <a:solidFill>
            <a:srgbClr val="16263F"/>
          </a:solidFill>
          <a:ln/>
          <a:effectLst>
            <a:outerShdw blurRad="101600" dist="38100" dir="5400000" algn="bl" rotWithShape="0">
              <a:srgbClr val="000000">
                <a:alpha val="14000"/>
              </a:srgbClr>
            </a:outerShdw>
          </a:effectLst>
        </p:spPr>
      </p:sp>
      <p:sp>
        <p:nvSpPr>
          <p:cNvPr id="7" name="Text 4"/>
          <p:cNvSpPr/>
          <p:nvPr/>
        </p:nvSpPr>
        <p:spPr>
          <a:xfrm>
            <a:off x="822960" y="1572768"/>
            <a:ext cx="10515600" cy="914400"/>
          </a:xfrm>
          <a:prstGeom prst="rect">
            <a:avLst/>
          </a:prstGeom>
          <a:noFill/>
          <a:ln/>
        </p:spPr>
        <p:txBody>
          <a:bodyPr wrap="square" lIns="0" tIns="0" rIns="0" bIns="0" rtlCol="0" anchor="ctr"/>
          <a:lstStyle/>
          <a:p>
            <a:pPr marL="0" indent="0" algn="l">
              <a:lnSpc>
                <a:spcPct val="105000"/>
              </a:lnSpc>
              <a:buNone/>
            </a:pPr>
            <a:r>
              <a:rPr lang="en-US" sz="1400" b="1" dirty="0">
                <a:solidFill>
                  <a:srgbClr val="F4B942"/>
                </a:solidFill>
                <a:latin typeface="Calibri" pitchFamily="34" charset="0"/>
                <a:ea typeface="Calibri" pitchFamily="34" charset="-122"/>
                <a:cs typeface="Calibri" pitchFamily="34" charset="-120"/>
              </a:rPr>
              <a:t>The big idea:  </a:t>
            </a:r>
            <a:r>
              <a:rPr lang="en-US" sz="1400" dirty="0">
                <a:solidFill>
                  <a:srgbClr val="DCE7F2"/>
                </a:solidFill>
                <a:latin typeface="Calibri" pitchFamily="34" charset="0"/>
                <a:ea typeface="Calibri" pitchFamily="34" charset="-122"/>
                <a:cs typeface="Calibri" pitchFamily="34" charset="-120"/>
              </a:rPr>
              <a:t>before training any model you must understand the data. </a:t>
            </a:r>
            <a:r>
              <a:rPr lang="en-US" sz="1400" i="1" dirty="0">
                <a:solidFill>
                  <a:srgbClr val="FFFFFF"/>
                </a:solidFill>
                <a:latin typeface="Calibri" pitchFamily="34" charset="0"/>
                <a:ea typeface="Calibri" pitchFamily="34" charset="-122"/>
                <a:cs typeface="Calibri" pitchFamily="34" charset="-120"/>
              </a:rPr>
              <a:t>Descriptive statistics</a:t>
            </a:r>
            <a:r>
              <a:rPr lang="en-US" sz="1400" dirty="0">
                <a:solidFill>
                  <a:srgbClr val="DCE7F2"/>
                </a:solidFill>
                <a:latin typeface="Calibri" pitchFamily="34" charset="0"/>
                <a:ea typeface="Calibri" pitchFamily="34" charset="-122"/>
                <a:cs typeface="Calibri" pitchFamily="34" charset="-120"/>
              </a:rPr>
              <a:t> summarise a dataset in a few numbers — its centre, spread, shape and relationships.</a:t>
            </a:r>
            <a:endParaRPr lang="en-US" sz="1400" dirty="0"/>
          </a:p>
        </p:txBody>
      </p:sp>
      <p:sp>
        <p:nvSpPr>
          <p:cNvPr id="8" name="Shape 5"/>
          <p:cNvSpPr/>
          <p:nvPr/>
        </p:nvSpPr>
        <p:spPr>
          <a:xfrm>
            <a:off x="548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9" name="Shape 6"/>
          <p:cNvSpPr/>
          <p:nvPr/>
        </p:nvSpPr>
        <p:spPr>
          <a:xfrm>
            <a:off x="1225296" y="3035808"/>
            <a:ext cx="768096" cy="768096"/>
          </a:xfrm>
          <a:prstGeom prst="ellipse">
            <a:avLst/>
          </a:prstGeom>
          <a:solidFill>
            <a:srgbClr val="16263F"/>
          </a:solidFill>
          <a:ln/>
        </p:spPr>
      </p:sp>
      <p:pic>
        <p:nvPicPr>
          <p:cNvPr id="10" name="Image 1" descr="ic_list_white.png"/>
          <p:cNvPicPr>
            <a:picLocks noChangeAspect="1"/>
          </p:cNvPicPr>
          <p:nvPr/>
        </p:nvPicPr>
        <p:blipFill>
          <a:blip r:embed="rId4"/>
          <a:stretch>
            <a:fillRect/>
          </a:stretch>
        </p:blipFill>
        <p:spPr>
          <a:xfrm>
            <a:off x="1408176" y="3236976"/>
            <a:ext cx="402336" cy="402336"/>
          </a:xfrm>
          <a:prstGeom prst="rect">
            <a:avLst/>
          </a:prstGeom>
        </p:spPr>
      </p:pic>
      <p:sp>
        <p:nvSpPr>
          <p:cNvPr id="11" name="Text 7"/>
          <p:cNvSpPr/>
          <p:nvPr/>
        </p:nvSpPr>
        <p:spPr>
          <a:xfrm>
            <a:off x="694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1</a:t>
            </a:r>
            <a:endParaRPr lang="en-US" sz="1300" dirty="0"/>
          </a:p>
        </p:txBody>
      </p:sp>
      <p:sp>
        <p:nvSpPr>
          <p:cNvPr id="12" name="Text 8"/>
          <p:cNvSpPr/>
          <p:nvPr/>
        </p:nvSpPr>
        <p:spPr>
          <a:xfrm>
            <a:off x="640080" y="3968496"/>
            <a:ext cx="1938528" cy="457200"/>
          </a:xfrm>
          <a:prstGeom prst="rect">
            <a:avLst/>
          </a:prstGeom>
          <a:noFill/>
          <a:ln/>
        </p:spPr>
        <p:txBody>
          <a:bodyPr wrap="square" lIns="0" tIns="0" rIns="0" bIns="0" rtlCol="0" anchor="t"/>
          <a:lstStyle/>
          <a:p>
            <a:pPr marL="0" indent="0" algn="ctr">
              <a:lnSpc>
                <a:spcPct val="95000"/>
              </a:lnSpc>
              <a:buNone/>
            </a:pPr>
            <a:r>
              <a:rPr lang="en-US" sz="1350" b="1" dirty="0">
                <a:solidFill>
                  <a:srgbClr val="16263F"/>
                </a:solidFill>
                <a:latin typeface="Calibri" pitchFamily="34" charset="0"/>
                <a:ea typeface="Calibri" pitchFamily="34" charset="-122"/>
                <a:cs typeface="Calibri" pitchFamily="34" charset="-120"/>
              </a:rPr>
              <a:t>Data &amp; variables</a:t>
            </a:r>
            <a:endParaRPr lang="en-US" sz="1350" dirty="0"/>
          </a:p>
        </p:txBody>
      </p:sp>
      <p:sp>
        <p:nvSpPr>
          <p:cNvPr id="13" name="Text 9"/>
          <p:cNvSpPr/>
          <p:nvPr/>
        </p:nvSpPr>
        <p:spPr>
          <a:xfrm>
            <a:off x="658368" y="4443984"/>
            <a:ext cx="1901952" cy="548640"/>
          </a:xfrm>
          <a:prstGeom prst="rect">
            <a:avLst/>
          </a:prstGeom>
          <a:noFill/>
          <a:ln/>
        </p:spPr>
        <p:txBody>
          <a:bodyPr wrap="square" lIns="0" tIns="0" rIns="0" bIns="0" rtlCol="0" anchor="t"/>
          <a:lstStyle/>
          <a:p>
            <a:pPr marL="0" indent="0" algn="ctr">
              <a:lnSpc>
                <a:spcPct val="100000"/>
              </a:lnSpc>
              <a:buNone/>
            </a:pPr>
            <a:r>
              <a:rPr lang="en-US" sz="1050" dirty="0">
                <a:solidFill>
                  <a:srgbClr val="5C6B7A"/>
                </a:solidFill>
                <a:latin typeface="Calibri" pitchFamily="34" charset="0"/>
                <a:ea typeface="Calibri" pitchFamily="34" charset="-122"/>
                <a:cs typeface="Calibri" pitchFamily="34" charset="-120"/>
              </a:rPr>
              <a:t>categorical vs numerical</a:t>
            </a:r>
            <a:endParaRPr lang="en-US" sz="1050" dirty="0"/>
          </a:p>
        </p:txBody>
      </p:sp>
      <p:sp>
        <p:nvSpPr>
          <p:cNvPr id="14" name="Shape 10"/>
          <p:cNvSpPr/>
          <p:nvPr/>
        </p:nvSpPr>
        <p:spPr>
          <a:xfrm>
            <a:off x="2834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15" name="Shape 11"/>
          <p:cNvSpPr/>
          <p:nvPr/>
        </p:nvSpPr>
        <p:spPr>
          <a:xfrm>
            <a:off x="3511296" y="3035808"/>
            <a:ext cx="768096" cy="768096"/>
          </a:xfrm>
          <a:prstGeom prst="ellipse">
            <a:avLst/>
          </a:prstGeom>
          <a:solidFill>
            <a:srgbClr val="16263F"/>
          </a:solidFill>
          <a:ln/>
        </p:spPr>
      </p:sp>
      <p:pic>
        <p:nvPicPr>
          <p:cNvPr id="16" name="Image 2" descr="ic_balance_white.png"/>
          <p:cNvPicPr>
            <a:picLocks noChangeAspect="1"/>
          </p:cNvPicPr>
          <p:nvPr/>
        </p:nvPicPr>
        <p:blipFill>
          <a:blip r:embed="rId5"/>
          <a:stretch>
            <a:fillRect/>
          </a:stretch>
        </p:blipFill>
        <p:spPr>
          <a:xfrm>
            <a:off x="3694176" y="3236976"/>
            <a:ext cx="402336" cy="402336"/>
          </a:xfrm>
          <a:prstGeom prst="rect">
            <a:avLst/>
          </a:prstGeom>
        </p:spPr>
      </p:pic>
      <p:sp>
        <p:nvSpPr>
          <p:cNvPr id="17" name="Text 12"/>
          <p:cNvSpPr/>
          <p:nvPr/>
        </p:nvSpPr>
        <p:spPr>
          <a:xfrm>
            <a:off x="2980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2</a:t>
            </a:r>
            <a:endParaRPr lang="en-US" sz="1300" dirty="0"/>
          </a:p>
        </p:txBody>
      </p:sp>
      <p:sp>
        <p:nvSpPr>
          <p:cNvPr id="18" name="Text 13"/>
          <p:cNvSpPr/>
          <p:nvPr/>
        </p:nvSpPr>
        <p:spPr>
          <a:xfrm>
            <a:off x="2926080" y="3968496"/>
            <a:ext cx="1938528" cy="457200"/>
          </a:xfrm>
          <a:prstGeom prst="rect">
            <a:avLst/>
          </a:prstGeom>
          <a:noFill/>
          <a:ln/>
        </p:spPr>
        <p:txBody>
          <a:bodyPr wrap="square" lIns="0" tIns="0" rIns="0" bIns="0" rtlCol="0" anchor="t"/>
          <a:lstStyle/>
          <a:p>
            <a:pPr marL="0" indent="0" algn="ctr">
              <a:lnSpc>
                <a:spcPct val="95000"/>
              </a:lnSpc>
              <a:buNone/>
            </a:pPr>
            <a:r>
              <a:rPr lang="en-US" sz="1350" b="1" dirty="0">
                <a:solidFill>
                  <a:srgbClr val="16263F"/>
                </a:solidFill>
                <a:latin typeface="Calibri" pitchFamily="34" charset="0"/>
                <a:ea typeface="Calibri" pitchFamily="34" charset="-122"/>
                <a:cs typeface="Calibri" pitchFamily="34" charset="-120"/>
              </a:rPr>
              <a:t>Central tendency</a:t>
            </a:r>
            <a:endParaRPr lang="en-US" sz="1350" dirty="0"/>
          </a:p>
        </p:txBody>
      </p:sp>
      <p:sp>
        <p:nvSpPr>
          <p:cNvPr id="19" name="Text 14"/>
          <p:cNvSpPr/>
          <p:nvPr/>
        </p:nvSpPr>
        <p:spPr>
          <a:xfrm>
            <a:off x="2944368" y="4443984"/>
            <a:ext cx="1901952" cy="548640"/>
          </a:xfrm>
          <a:prstGeom prst="rect">
            <a:avLst/>
          </a:prstGeom>
          <a:noFill/>
          <a:ln/>
        </p:spPr>
        <p:txBody>
          <a:bodyPr wrap="square" lIns="0" tIns="0" rIns="0" bIns="0" rtlCol="0" anchor="t"/>
          <a:lstStyle/>
          <a:p>
            <a:pPr marL="0" indent="0" algn="ctr">
              <a:lnSpc>
                <a:spcPct val="100000"/>
              </a:lnSpc>
              <a:buNone/>
            </a:pPr>
            <a:r>
              <a:rPr lang="en-US" sz="1050" dirty="0">
                <a:solidFill>
                  <a:srgbClr val="5C6B7A"/>
                </a:solidFill>
                <a:latin typeface="Calibri" pitchFamily="34" charset="0"/>
                <a:ea typeface="Calibri" pitchFamily="34" charset="-122"/>
                <a:cs typeface="Calibri" pitchFamily="34" charset="-120"/>
              </a:rPr>
              <a:t>mean · median · mode</a:t>
            </a:r>
            <a:endParaRPr lang="en-US" sz="1050" dirty="0"/>
          </a:p>
        </p:txBody>
      </p:sp>
      <p:sp>
        <p:nvSpPr>
          <p:cNvPr id="20" name="Shape 15"/>
          <p:cNvSpPr/>
          <p:nvPr/>
        </p:nvSpPr>
        <p:spPr>
          <a:xfrm>
            <a:off x="5120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21" name="Shape 16"/>
          <p:cNvSpPr/>
          <p:nvPr/>
        </p:nvSpPr>
        <p:spPr>
          <a:xfrm>
            <a:off x="5797296" y="3035808"/>
            <a:ext cx="768096" cy="768096"/>
          </a:xfrm>
          <a:prstGeom prst="ellipse">
            <a:avLst/>
          </a:prstGeom>
          <a:solidFill>
            <a:srgbClr val="16263F"/>
          </a:solidFill>
          <a:ln/>
        </p:spPr>
      </p:sp>
      <p:pic>
        <p:nvPicPr>
          <p:cNvPr id="22" name="Image 3" descr="ic_spread_white.png"/>
          <p:cNvPicPr>
            <a:picLocks noChangeAspect="1"/>
          </p:cNvPicPr>
          <p:nvPr/>
        </p:nvPicPr>
        <p:blipFill>
          <a:blip r:embed="rId6"/>
          <a:stretch>
            <a:fillRect/>
          </a:stretch>
        </p:blipFill>
        <p:spPr>
          <a:xfrm>
            <a:off x="5980176" y="3236976"/>
            <a:ext cx="402336" cy="402336"/>
          </a:xfrm>
          <a:prstGeom prst="rect">
            <a:avLst/>
          </a:prstGeom>
        </p:spPr>
      </p:pic>
      <p:sp>
        <p:nvSpPr>
          <p:cNvPr id="23" name="Text 17"/>
          <p:cNvSpPr/>
          <p:nvPr/>
        </p:nvSpPr>
        <p:spPr>
          <a:xfrm>
            <a:off x="5266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3</a:t>
            </a:r>
            <a:endParaRPr lang="en-US" sz="1300" dirty="0"/>
          </a:p>
        </p:txBody>
      </p:sp>
      <p:sp>
        <p:nvSpPr>
          <p:cNvPr id="24" name="Text 18"/>
          <p:cNvSpPr/>
          <p:nvPr/>
        </p:nvSpPr>
        <p:spPr>
          <a:xfrm>
            <a:off x="5212080" y="3968496"/>
            <a:ext cx="1938528" cy="457200"/>
          </a:xfrm>
          <a:prstGeom prst="rect">
            <a:avLst/>
          </a:prstGeom>
          <a:noFill/>
          <a:ln/>
        </p:spPr>
        <p:txBody>
          <a:bodyPr wrap="square" lIns="0" tIns="0" rIns="0" bIns="0" rtlCol="0" anchor="t"/>
          <a:lstStyle/>
          <a:p>
            <a:pPr marL="0" indent="0" algn="ctr">
              <a:lnSpc>
                <a:spcPct val="95000"/>
              </a:lnSpc>
              <a:buNone/>
            </a:pPr>
            <a:r>
              <a:rPr lang="en-US" sz="1350" b="1" dirty="0">
                <a:solidFill>
                  <a:srgbClr val="16263F"/>
                </a:solidFill>
                <a:latin typeface="Calibri" pitchFamily="34" charset="0"/>
                <a:ea typeface="Calibri" pitchFamily="34" charset="-122"/>
                <a:cs typeface="Calibri" pitchFamily="34" charset="-120"/>
              </a:rPr>
              <a:t>Spread</a:t>
            </a:r>
            <a:endParaRPr lang="en-US" sz="1350" dirty="0"/>
          </a:p>
        </p:txBody>
      </p:sp>
      <p:sp>
        <p:nvSpPr>
          <p:cNvPr id="25" name="Text 19"/>
          <p:cNvSpPr/>
          <p:nvPr/>
        </p:nvSpPr>
        <p:spPr>
          <a:xfrm>
            <a:off x="5230368" y="4443984"/>
            <a:ext cx="1901952" cy="548640"/>
          </a:xfrm>
          <a:prstGeom prst="rect">
            <a:avLst/>
          </a:prstGeom>
          <a:noFill/>
          <a:ln/>
        </p:spPr>
        <p:txBody>
          <a:bodyPr wrap="square" lIns="0" tIns="0" rIns="0" bIns="0" rtlCol="0" anchor="t"/>
          <a:lstStyle/>
          <a:p>
            <a:pPr marL="0" indent="0" algn="ctr">
              <a:lnSpc>
                <a:spcPct val="100000"/>
              </a:lnSpc>
              <a:buNone/>
            </a:pPr>
            <a:r>
              <a:rPr lang="en-US" sz="1050" dirty="0">
                <a:solidFill>
                  <a:srgbClr val="5C6B7A"/>
                </a:solidFill>
                <a:latin typeface="Calibri" pitchFamily="34" charset="0"/>
                <a:ea typeface="Calibri" pitchFamily="34" charset="-122"/>
                <a:cs typeface="Calibri" pitchFamily="34" charset="-120"/>
              </a:rPr>
              <a:t>range · variance · std · IQR</a:t>
            </a:r>
            <a:endParaRPr lang="en-US" sz="1050" dirty="0"/>
          </a:p>
        </p:txBody>
      </p:sp>
      <p:sp>
        <p:nvSpPr>
          <p:cNvPr id="26" name="Shape 20"/>
          <p:cNvSpPr/>
          <p:nvPr/>
        </p:nvSpPr>
        <p:spPr>
          <a:xfrm>
            <a:off x="7406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27" name="Shape 21"/>
          <p:cNvSpPr/>
          <p:nvPr/>
        </p:nvSpPr>
        <p:spPr>
          <a:xfrm>
            <a:off x="8083296" y="3035808"/>
            <a:ext cx="768096" cy="768096"/>
          </a:xfrm>
          <a:prstGeom prst="ellipse">
            <a:avLst/>
          </a:prstGeom>
          <a:solidFill>
            <a:srgbClr val="16263F"/>
          </a:solidFill>
          <a:ln/>
        </p:spPr>
      </p:sp>
      <p:pic>
        <p:nvPicPr>
          <p:cNvPr id="28" name="Image 4" descr="ic_area_white.png"/>
          <p:cNvPicPr>
            <a:picLocks noChangeAspect="1"/>
          </p:cNvPicPr>
          <p:nvPr/>
        </p:nvPicPr>
        <p:blipFill>
          <a:blip r:embed="rId7"/>
          <a:stretch>
            <a:fillRect/>
          </a:stretch>
        </p:blipFill>
        <p:spPr>
          <a:xfrm>
            <a:off x="8266176" y="3236976"/>
            <a:ext cx="402336" cy="402336"/>
          </a:xfrm>
          <a:prstGeom prst="rect">
            <a:avLst/>
          </a:prstGeom>
        </p:spPr>
      </p:pic>
      <p:sp>
        <p:nvSpPr>
          <p:cNvPr id="29" name="Text 22"/>
          <p:cNvSpPr/>
          <p:nvPr/>
        </p:nvSpPr>
        <p:spPr>
          <a:xfrm>
            <a:off x="7552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4</a:t>
            </a:r>
            <a:endParaRPr lang="en-US" sz="1300" dirty="0"/>
          </a:p>
        </p:txBody>
      </p:sp>
      <p:sp>
        <p:nvSpPr>
          <p:cNvPr id="30" name="Text 23"/>
          <p:cNvSpPr/>
          <p:nvPr/>
        </p:nvSpPr>
        <p:spPr>
          <a:xfrm>
            <a:off x="7498080" y="3968496"/>
            <a:ext cx="1938528" cy="457200"/>
          </a:xfrm>
          <a:prstGeom prst="rect">
            <a:avLst/>
          </a:prstGeom>
          <a:noFill/>
          <a:ln/>
        </p:spPr>
        <p:txBody>
          <a:bodyPr wrap="square" lIns="0" tIns="0" rIns="0" bIns="0" rtlCol="0" anchor="t"/>
          <a:lstStyle/>
          <a:p>
            <a:pPr marL="0" indent="0" algn="ctr">
              <a:lnSpc>
                <a:spcPct val="95000"/>
              </a:lnSpc>
              <a:buNone/>
            </a:pPr>
            <a:r>
              <a:rPr lang="en-US" sz="1350" b="1" dirty="0">
                <a:solidFill>
                  <a:srgbClr val="16263F"/>
                </a:solidFill>
                <a:latin typeface="Calibri" pitchFamily="34" charset="0"/>
                <a:ea typeface="Calibri" pitchFamily="34" charset="-122"/>
                <a:cs typeface="Calibri" pitchFamily="34" charset="-120"/>
              </a:rPr>
              <a:t>Shape</a:t>
            </a:r>
            <a:endParaRPr lang="en-US" sz="1350" dirty="0"/>
          </a:p>
        </p:txBody>
      </p:sp>
      <p:sp>
        <p:nvSpPr>
          <p:cNvPr id="31" name="Text 24"/>
          <p:cNvSpPr/>
          <p:nvPr/>
        </p:nvSpPr>
        <p:spPr>
          <a:xfrm>
            <a:off x="7516368" y="4443984"/>
            <a:ext cx="1901952" cy="548640"/>
          </a:xfrm>
          <a:prstGeom prst="rect">
            <a:avLst/>
          </a:prstGeom>
          <a:noFill/>
          <a:ln/>
        </p:spPr>
        <p:txBody>
          <a:bodyPr wrap="square" lIns="0" tIns="0" rIns="0" bIns="0" rtlCol="0" anchor="t"/>
          <a:lstStyle/>
          <a:p>
            <a:pPr marL="0" indent="0" algn="ctr">
              <a:lnSpc>
                <a:spcPct val="100000"/>
              </a:lnSpc>
              <a:buNone/>
            </a:pPr>
            <a:r>
              <a:rPr lang="en-US" sz="1050" dirty="0">
                <a:solidFill>
                  <a:srgbClr val="5C6B7A"/>
                </a:solidFill>
                <a:latin typeface="Calibri" pitchFamily="34" charset="0"/>
                <a:ea typeface="Calibri" pitchFamily="34" charset="-122"/>
                <a:cs typeface="Calibri" pitchFamily="34" charset="-120"/>
              </a:rPr>
              <a:t>skew · quartiles · box plot</a:t>
            </a:r>
            <a:endParaRPr lang="en-US" sz="1050" dirty="0"/>
          </a:p>
        </p:txBody>
      </p:sp>
      <p:sp>
        <p:nvSpPr>
          <p:cNvPr id="32" name="Shape 25"/>
          <p:cNvSpPr/>
          <p:nvPr/>
        </p:nvSpPr>
        <p:spPr>
          <a:xfrm>
            <a:off x="9692640" y="2743200"/>
            <a:ext cx="2121408" cy="2331720"/>
          </a:xfrm>
          <a:prstGeom prst="roundRect">
            <a:avLst>
              <a:gd name="adj" fmla="val 3448"/>
            </a:avLst>
          </a:prstGeom>
          <a:solidFill>
            <a:srgbClr val="FFFFFF"/>
          </a:solidFill>
          <a:ln w="12700">
            <a:solidFill>
              <a:srgbClr val="DCE4EC"/>
            </a:solidFill>
            <a:prstDash val="solid"/>
          </a:ln>
          <a:effectLst>
            <a:outerShdw blurRad="101600" dist="38100" dir="5400000" algn="bl" rotWithShape="0">
              <a:srgbClr val="000000">
                <a:alpha val="14000"/>
              </a:srgbClr>
            </a:outerShdw>
          </a:effectLst>
        </p:spPr>
      </p:sp>
      <p:sp>
        <p:nvSpPr>
          <p:cNvPr id="33" name="Shape 26"/>
          <p:cNvSpPr/>
          <p:nvPr/>
        </p:nvSpPr>
        <p:spPr>
          <a:xfrm>
            <a:off x="10369296" y="3035808"/>
            <a:ext cx="768096" cy="768096"/>
          </a:xfrm>
          <a:prstGeom prst="ellipse">
            <a:avLst/>
          </a:prstGeom>
          <a:solidFill>
            <a:srgbClr val="16263F"/>
          </a:solidFill>
          <a:ln/>
        </p:spPr>
      </p:sp>
      <p:pic>
        <p:nvPicPr>
          <p:cNvPr id="34" name="Image 5" descr="ic_scatter_white.png"/>
          <p:cNvPicPr>
            <a:picLocks noChangeAspect="1"/>
          </p:cNvPicPr>
          <p:nvPr/>
        </p:nvPicPr>
        <p:blipFill>
          <a:blip r:embed="rId8"/>
          <a:stretch>
            <a:fillRect/>
          </a:stretch>
        </p:blipFill>
        <p:spPr>
          <a:xfrm>
            <a:off x="10552176" y="3236976"/>
            <a:ext cx="402336" cy="402336"/>
          </a:xfrm>
          <a:prstGeom prst="rect">
            <a:avLst/>
          </a:prstGeom>
        </p:spPr>
      </p:pic>
      <p:sp>
        <p:nvSpPr>
          <p:cNvPr id="35" name="Text 27"/>
          <p:cNvSpPr/>
          <p:nvPr/>
        </p:nvSpPr>
        <p:spPr>
          <a:xfrm>
            <a:off x="9838944" y="2852928"/>
            <a:ext cx="365760" cy="274320"/>
          </a:xfrm>
          <a:prstGeom prst="rect">
            <a:avLst/>
          </a:prstGeom>
          <a:noFill/>
          <a:ln/>
        </p:spPr>
        <p:txBody>
          <a:bodyPr wrap="square" lIns="0" tIns="0" rIns="0" bIns="0" rtlCol="0" anchor="ctr"/>
          <a:lstStyle/>
          <a:p>
            <a:pPr marL="0" indent="0" algn="l">
              <a:buNone/>
            </a:pPr>
            <a:r>
              <a:rPr lang="en-US" sz="1300" b="1" dirty="0">
                <a:solidFill>
                  <a:srgbClr val="F4B942"/>
                </a:solidFill>
                <a:latin typeface="Calibri" pitchFamily="34" charset="0"/>
                <a:ea typeface="Calibri" pitchFamily="34" charset="-122"/>
                <a:cs typeface="Calibri" pitchFamily="34" charset="-120"/>
              </a:rPr>
              <a:t>5</a:t>
            </a:r>
            <a:endParaRPr lang="en-US" sz="1300" dirty="0"/>
          </a:p>
        </p:txBody>
      </p:sp>
      <p:sp>
        <p:nvSpPr>
          <p:cNvPr id="36" name="Text 28"/>
          <p:cNvSpPr/>
          <p:nvPr/>
        </p:nvSpPr>
        <p:spPr>
          <a:xfrm>
            <a:off x="9784080" y="3968496"/>
            <a:ext cx="1938528" cy="457200"/>
          </a:xfrm>
          <a:prstGeom prst="rect">
            <a:avLst/>
          </a:prstGeom>
          <a:noFill/>
          <a:ln/>
        </p:spPr>
        <p:txBody>
          <a:bodyPr wrap="square" lIns="0" tIns="0" rIns="0" bIns="0" rtlCol="0" anchor="t"/>
          <a:lstStyle/>
          <a:p>
            <a:pPr marL="0" indent="0" algn="ctr">
              <a:lnSpc>
                <a:spcPct val="95000"/>
              </a:lnSpc>
              <a:buNone/>
            </a:pPr>
            <a:r>
              <a:rPr lang="en-US" sz="1350" b="1" dirty="0">
                <a:solidFill>
                  <a:srgbClr val="16263F"/>
                </a:solidFill>
                <a:latin typeface="Calibri" pitchFamily="34" charset="0"/>
                <a:ea typeface="Calibri" pitchFamily="34" charset="-122"/>
                <a:cs typeface="Calibri" pitchFamily="34" charset="-120"/>
              </a:rPr>
              <a:t>Correlation</a:t>
            </a:r>
            <a:endParaRPr lang="en-US" sz="1350" dirty="0"/>
          </a:p>
        </p:txBody>
      </p:sp>
      <p:sp>
        <p:nvSpPr>
          <p:cNvPr id="37" name="Text 29"/>
          <p:cNvSpPr/>
          <p:nvPr/>
        </p:nvSpPr>
        <p:spPr>
          <a:xfrm>
            <a:off x="9802368" y="4443984"/>
            <a:ext cx="1901952" cy="548640"/>
          </a:xfrm>
          <a:prstGeom prst="rect">
            <a:avLst/>
          </a:prstGeom>
          <a:noFill/>
          <a:ln/>
        </p:spPr>
        <p:txBody>
          <a:bodyPr wrap="square" lIns="0" tIns="0" rIns="0" bIns="0" rtlCol="0" anchor="t"/>
          <a:lstStyle/>
          <a:p>
            <a:pPr marL="0" indent="0" algn="ctr">
              <a:lnSpc>
                <a:spcPct val="100000"/>
              </a:lnSpc>
              <a:buNone/>
            </a:pPr>
            <a:r>
              <a:rPr lang="en-US" sz="1050" dirty="0">
                <a:solidFill>
                  <a:srgbClr val="5C6B7A"/>
                </a:solidFill>
                <a:latin typeface="Calibri" pitchFamily="34" charset="0"/>
                <a:ea typeface="Calibri" pitchFamily="34" charset="-122"/>
                <a:cs typeface="Calibri" pitchFamily="34" charset="-120"/>
              </a:rPr>
              <a:t>how variables move together</a:t>
            </a:r>
            <a:endParaRPr lang="en-US" sz="1050" dirty="0"/>
          </a:p>
        </p:txBody>
      </p:sp>
      <p:sp>
        <p:nvSpPr>
          <p:cNvPr id="39" name="Text 31"/>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40" name="Text 32"/>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2</a:t>
            </a:r>
            <a:endParaRPr lang="en-US" sz="950" dirty="0"/>
          </a:p>
        </p:txBody>
      </p:sp>
      <p:sp>
        <p:nvSpPr>
          <p:cNvPr id="41" name="Worked Example 2"/>
          <p:cNvSpPr/>
          <p:nvPr/>
        </p:nvSpPr>
        <p:spPr>
          <a:xfrm>
            <a:off x="548640" y="5760000"/>
            <a:ext cx="11091672" cy="500000"/>
          </a:xfrm>
          <a:prstGeom prst="rect">
            <a:avLst/>
          </a:prstGeom>
          <a:noFill/>
          <a:ln/>
        </p:spPr>
        <p:txBody>
          <a:bodyPr wrap="square" lIns="0" tIns="0" rIns="0" bIns="0" rtlCol="0" anchor="t"/>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a churn dataset: customer_id (nominal), plan_tier (ordinal), tickets_filed (discrete) and monthly_spend (continuous) each need a different statistic to summarise.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263F"/>
        </a:solidFill>
        <a:effectLst/>
      </p:bgPr>
    </p:bg>
    <p:spTree>
      <p:nvGrpSpPr>
        <p:cNvPr id="1" name=""/>
        <p:cNvGrpSpPr/>
        <p:nvPr/>
      </p:nvGrpSpPr>
      <p:grpSpPr>
        <a:xfrm>
          <a:off x="0" y="0"/>
          <a:ext cx="0" cy="0"/>
          <a:chOff x="0" y="0"/>
          <a:chExt cx="0" cy="0"/>
        </a:xfrm>
      </p:grpSpPr>
      <p:sp>
        <p:nvSpPr>
          <p:cNvPr id="2" name="Text 0"/>
          <p:cNvSpPr/>
          <p:nvPr/>
        </p:nvSpPr>
        <p:spPr>
          <a:xfrm>
            <a:off x="9509760" y="914400"/>
            <a:ext cx="2286000" cy="4572000"/>
          </a:xfrm>
          <a:prstGeom prst="rect">
            <a:avLst/>
          </a:prstGeom>
          <a:noFill/>
          <a:ln/>
        </p:spPr>
        <p:txBody>
          <a:bodyPr wrap="square" lIns="0" tIns="0" rIns="0" bIns="0" rtlCol="0" anchor="ctr"/>
          <a:lstStyle/>
          <a:p>
            <a:pPr marL="0" indent="0" algn="r">
              <a:buNone/>
            </a:pPr>
            <a:r>
              <a:rPr lang="en-US" sz="24000" b="1" dirty="0">
                <a:solidFill>
                  <a:srgbClr val="1F3656"/>
                </a:solidFill>
                <a:latin typeface="Century Schoolbook" pitchFamily="34" charset="0"/>
                <a:ea typeface="Century Schoolbook" pitchFamily="34" charset="-122"/>
                <a:cs typeface="Century Schoolbook" pitchFamily="34" charset="-120"/>
              </a:rPr>
              <a:t>1</a:t>
            </a:r>
            <a:endParaRPr lang="en-US" sz="24000" dirty="0"/>
          </a:p>
        </p:txBody>
      </p:sp>
      <p:sp>
        <p:nvSpPr>
          <p:cNvPr id="3" name="Shape 1"/>
          <p:cNvSpPr/>
          <p:nvPr/>
        </p:nvSpPr>
        <p:spPr>
          <a:xfrm>
            <a:off x="822960" y="1783080"/>
            <a:ext cx="1051560" cy="1051560"/>
          </a:xfrm>
          <a:prstGeom prst="ellipse">
            <a:avLst/>
          </a:prstGeom>
          <a:solidFill>
            <a:srgbClr val="F4B942"/>
          </a:solidFill>
          <a:ln/>
          <a:effectLst>
            <a:outerShdw blurRad="101600" dist="38100" dir="5400000" algn="bl" rotWithShape="0">
              <a:srgbClr val="000000">
                <a:alpha val="14000"/>
              </a:srgbClr>
            </a:outerShdw>
          </a:effectLst>
        </p:spPr>
      </p:sp>
      <p:pic>
        <p:nvPicPr>
          <p:cNvPr id="4" name="Image 0" descr="ic_balance_white.png"/>
          <p:cNvPicPr>
            <a:picLocks noChangeAspect="1"/>
          </p:cNvPicPr>
          <p:nvPr/>
        </p:nvPicPr>
        <p:blipFill>
          <a:blip r:embed="rId3"/>
          <a:stretch>
            <a:fillRect/>
          </a:stretch>
        </p:blipFill>
        <p:spPr>
          <a:xfrm>
            <a:off x="1085850" y="2045970"/>
            <a:ext cx="525780" cy="525780"/>
          </a:xfrm>
          <a:prstGeom prst="rect">
            <a:avLst/>
          </a:prstGeom>
        </p:spPr>
      </p:pic>
      <p:sp>
        <p:nvSpPr>
          <p:cNvPr id="5" name="Text 2"/>
          <p:cNvSpPr/>
          <p:nvPr/>
        </p:nvSpPr>
        <p:spPr>
          <a:xfrm>
            <a:off x="2148840" y="1847088"/>
            <a:ext cx="7315200" cy="365760"/>
          </a:xfrm>
          <a:prstGeom prst="rect">
            <a:avLst/>
          </a:prstGeom>
          <a:noFill/>
          <a:ln/>
        </p:spPr>
        <p:txBody>
          <a:bodyPr wrap="square" lIns="0" tIns="0" rIns="0" bIns="0" rtlCol="0" anchor="ctr"/>
          <a:lstStyle/>
          <a:p>
            <a:pPr marL="0" indent="0" algn="l">
              <a:buNone/>
            </a:pPr>
            <a:r>
              <a:rPr lang="en-US" sz="1400" b="1" kern="0" spc="300" dirty="0">
                <a:solidFill>
                  <a:srgbClr val="F4B942"/>
                </a:solidFill>
                <a:latin typeface="Calibri" pitchFamily="34" charset="0"/>
                <a:ea typeface="Calibri" pitchFamily="34" charset="-122"/>
                <a:cs typeface="Calibri" pitchFamily="34" charset="-120"/>
              </a:rPr>
              <a:t>THE CENTRE OF YOUR DATA</a:t>
            </a:r>
            <a:endParaRPr lang="en-US" sz="1400" dirty="0"/>
          </a:p>
        </p:txBody>
      </p:sp>
      <p:sp>
        <p:nvSpPr>
          <p:cNvPr id="6" name="Text 3"/>
          <p:cNvSpPr/>
          <p:nvPr/>
        </p:nvSpPr>
        <p:spPr>
          <a:xfrm>
            <a:off x="2121408" y="2231136"/>
            <a:ext cx="6766560" cy="1371600"/>
          </a:xfrm>
          <a:prstGeom prst="rect">
            <a:avLst/>
          </a:prstGeom>
          <a:noFill/>
          <a:ln/>
        </p:spPr>
        <p:txBody>
          <a:bodyPr wrap="square" lIns="0" tIns="0" rIns="0" bIns="0" rtlCol="0" anchor="t"/>
          <a:lstStyle/>
          <a:p>
            <a:pPr marL="0" indent="0" algn="l">
              <a:buNone/>
            </a:pPr>
            <a:r>
              <a:rPr lang="en-US" sz="3800" b="1" dirty="0">
                <a:solidFill>
                  <a:srgbClr val="FFFFFF"/>
                </a:solidFill>
                <a:latin typeface="Century Schoolbook" pitchFamily="34" charset="0"/>
                <a:ea typeface="Century Schoolbook" pitchFamily="34" charset="-122"/>
                <a:cs typeface="Century Schoolbook" pitchFamily="34" charset="-120"/>
              </a:rPr>
              <a:t>Types of data &amp; central tendency</a:t>
            </a:r>
            <a:endParaRPr lang="en-US" sz="3800" dirty="0"/>
          </a:p>
        </p:txBody>
      </p:sp>
      <p:sp>
        <p:nvSpPr>
          <p:cNvPr id="7" name="Text 4"/>
          <p:cNvSpPr/>
          <p:nvPr/>
        </p:nvSpPr>
        <p:spPr>
          <a:xfrm>
            <a:off x="2148840" y="4160520"/>
            <a:ext cx="6492240" cy="1097280"/>
          </a:xfrm>
          <a:prstGeom prst="rect">
            <a:avLst/>
          </a:prstGeom>
          <a:noFill/>
          <a:ln/>
        </p:spPr>
        <p:txBody>
          <a:bodyPr wrap="square" lIns="0" tIns="0" rIns="0" bIns="0" rtlCol="0" anchor="t"/>
          <a:lstStyle/>
          <a:p>
            <a:pPr marL="0" indent="0" algn="l">
              <a:lnSpc>
                <a:spcPct val="110000"/>
              </a:lnSpc>
              <a:buNone/>
            </a:pPr>
            <a:r>
              <a:rPr lang="en-US" sz="1600" dirty="0">
                <a:solidFill>
                  <a:srgbClr val="AFC2D6"/>
                </a:solidFill>
                <a:latin typeface="Calibri" pitchFamily="34" charset="0"/>
                <a:ea typeface="Calibri" pitchFamily="34" charset="-122"/>
                <a:cs typeface="Calibri" pitchFamily="34" charset="-120"/>
              </a:rPr>
              <a:t>First classify your variables, then summarise where the data sits — its typical value.</a:t>
            </a:r>
            <a:endParaRPr lang="en-US" sz="1600" dirty="0"/>
          </a:p>
        </p:txBody>
      </p:sp>
      <p:sp>
        <p:nvSpPr>
          <p:cNvPr id="8" name="Text 5"/>
          <p:cNvSpPr/>
          <p:nvPr/>
        </p:nvSpPr>
        <p:spPr>
          <a:xfrm>
            <a:off x="822960" y="6263640"/>
            <a:ext cx="7315200" cy="274320"/>
          </a:xfrm>
          <a:prstGeom prst="rect">
            <a:avLst/>
          </a:prstGeom>
          <a:noFill/>
          <a:ln/>
        </p:spPr>
        <p:txBody>
          <a:bodyPr wrap="square" lIns="0" tIns="0" rIns="0" bIns="0" rtlCol="0" anchor="ctr"/>
          <a:lstStyle/>
          <a:p>
            <a:pPr marL="0" indent="0" algn="l">
              <a:buNone/>
            </a:pPr>
            <a:r>
              <a:rPr lang="en-US" sz="1050" dirty="0">
                <a:solidFill>
                  <a:srgbClr val="6E83A0"/>
                </a:solidFill>
                <a:latin typeface="Calibri" pitchFamily="34" charset="0"/>
                <a:ea typeface="Calibri" pitchFamily="34" charset="-122"/>
                <a:cs typeface="Calibri" pitchFamily="34" charset="-120"/>
              </a:rPr>
              <a:t>Probability &amp; Statistics · Part 1 · 01 / 06</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list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FOUNDATION</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Types of data &amp; variables</a:t>
            </a:r>
            <a:endParaRPr lang="en-US" sz="2700" dirty="0"/>
          </a:p>
        </p:txBody>
      </p:sp>
      <p:sp>
        <p:nvSpPr>
          <p:cNvPr id="6" name="Shape 3"/>
          <p:cNvSpPr/>
          <p:nvPr/>
        </p:nvSpPr>
        <p:spPr>
          <a:xfrm>
            <a:off x="548640" y="1691640"/>
            <a:ext cx="5440680" cy="2743200"/>
          </a:xfrm>
          <a:prstGeom prst="roundRect">
            <a:avLst>
              <a:gd name="adj" fmla="val 3000"/>
            </a:avLst>
          </a:prstGeom>
          <a:solidFill>
            <a:srgbClr val="F2F5F9"/>
          </a:solidFill>
          <a:ln/>
        </p:spPr>
      </p:sp>
      <p:sp>
        <p:nvSpPr>
          <p:cNvPr id="7" name="Text 4"/>
          <p:cNvSpPr/>
          <p:nvPr/>
        </p:nvSpPr>
        <p:spPr>
          <a:xfrm>
            <a:off x="822960" y="1892808"/>
            <a:ext cx="4892040" cy="365760"/>
          </a:xfrm>
          <a:prstGeom prst="rect">
            <a:avLst/>
          </a:prstGeom>
          <a:noFill/>
          <a:ln/>
        </p:spPr>
        <p:txBody>
          <a:bodyPr wrap="square" lIns="0" tIns="0" rIns="0" bIns="0" rtlCol="0" anchor="ctr"/>
          <a:lstStyle/>
          <a:p>
            <a:pPr marL="0" indent="0" algn="l">
              <a:buNone/>
            </a:pPr>
            <a:r>
              <a:rPr lang="en-US" sz="1600" b="1" kern="0" spc="150" dirty="0">
                <a:solidFill>
                  <a:srgbClr val="2D6A9F"/>
                </a:solidFill>
                <a:latin typeface="Calibri" pitchFamily="34" charset="0"/>
                <a:ea typeface="Calibri" pitchFamily="34" charset="-122"/>
                <a:cs typeface="Calibri" pitchFamily="34" charset="-120"/>
              </a:rPr>
              <a:t>CATEGORICAL</a:t>
            </a:r>
            <a:endParaRPr lang="en-US" sz="1600" dirty="0"/>
          </a:p>
        </p:txBody>
      </p:sp>
      <p:sp>
        <p:nvSpPr>
          <p:cNvPr id="8" name="Text 5"/>
          <p:cNvSpPr/>
          <p:nvPr/>
        </p:nvSpPr>
        <p:spPr>
          <a:xfrm>
            <a:off x="822960" y="2240280"/>
            <a:ext cx="4892040" cy="310896"/>
          </a:xfrm>
          <a:prstGeom prst="rect">
            <a:avLst/>
          </a:prstGeom>
          <a:noFill/>
          <a:ln/>
        </p:spPr>
        <p:txBody>
          <a:bodyPr wrap="square" lIns="0" tIns="0" rIns="0" bIns="0" rtlCol="0" anchor="ctr"/>
          <a:lstStyle/>
          <a:p>
            <a:pPr marL="0" indent="0" algn="l">
              <a:buNone/>
            </a:pPr>
            <a:r>
              <a:rPr lang="en-US" sz="1250" i="1" dirty="0">
                <a:solidFill>
                  <a:srgbClr val="5C6B7A"/>
                </a:solidFill>
                <a:latin typeface="Calibri" pitchFamily="34" charset="0"/>
                <a:ea typeface="Calibri" pitchFamily="34" charset="-122"/>
                <a:cs typeface="Calibri" pitchFamily="34" charset="-120"/>
              </a:rPr>
              <a:t>labels &amp; groups</a:t>
            </a:r>
            <a:endParaRPr lang="en-US" sz="1250" dirty="0"/>
          </a:p>
        </p:txBody>
      </p:sp>
      <p:sp>
        <p:nvSpPr>
          <p:cNvPr id="9" name="Shape 6"/>
          <p:cNvSpPr/>
          <p:nvPr/>
        </p:nvSpPr>
        <p:spPr>
          <a:xfrm>
            <a:off x="822960" y="2697480"/>
            <a:ext cx="4892040" cy="658368"/>
          </a:xfrm>
          <a:prstGeom prst="roundRect">
            <a:avLst>
              <a:gd name="adj" fmla="val 8333"/>
            </a:avLst>
          </a:prstGeom>
          <a:solidFill>
            <a:srgbClr val="FFFFFF"/>
          </a:solidFill>
          <a:ln w="12700">
            <a:solidFill>
              <a:srgbClr val="DCE4EC"/>
            </a:solidFill>
            <a:prstDash val="solid"/>
          </a:ln>
        </p:spPr>
      </p:sp>
      <p:sp>
        <p:nvSpPr>
          <p:cNvPr id="10" name="Text 7"/>
          <p:cNvSpPr/>
          <p:nvPr/>
        </p:nvSpPr>
        <p:spPr>
          <a:xfrm>
            <a:off x="1005840" y="2788920"/>
            <a:ext cx="1554480" cy="45720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Nominal</a:t>
            </a:r>
            <a:endParaRPr lang="en-US" sz="1400" dirty="0"/>
          </a:p>
        </p:txBody>
      </p:sp>
      <p:sp>
        <p:nvSpPr>
          <p:cNvPr id="11" name="Text 8"/>
          <p:cNvSpPr/>
          <p:nvPr/>
        </p:nvSpPr>
        <p:spPr>
          <a:xfrm>
            <a:off x="2468880" y="2788920"/>
            <a:ext cx="3246120" cy="457200"/>
          </a:xfrm>
          <a:prstGeom prst="rect">
            <a:avLst/>
          </a:prstGeom>
          <a:noFill/>
          <a:ln/>
        </p:spPr>
        <p:txBody>
          <a:bodyPr wrap="square" lIns="0" tIns="0" rIns="0" bIns="0" rtlCol="0" anchor="ctr"/>
          <a:lstStyle/>
          <a:p>
            <a:pPr marL="0" indent="0" algn="l">
              <a:buNone/>
            </a:pPr>
            <a:r>
              <a:rPr lang="en-US" sz="1150" dirty="0">
                <a:solidFill>
                  <a:srgbClr val="1B2733"/>
                </a:solidFill>
                <a:latin typeface="Calibri" pitchFamily="34" charset="0"/>
                <a:ea typeface="Calibri" pitchFamily="34" charset="-122"/>
                <a:cs typeface="Calibri" pitchFamily="34" charset="-120"/>
              </a:rPr>
              <a:t>no order — colour, city, gender</a:t>
            </a:r>
            <a:endParaRPr lang="en-US" sz="1150" dirty="0"/>
          </a:p>
        </p:txBody>
      </p:sp>
      <p:sp>
        <p:nvSpPr>
          <p:cNvPr id="12" name="Shape 9"/>
          <p:cNvSpPr/>
          <p:nvPr/>
        </p:nvSpPr>
        <p:spPr>
          <a:xfrm>
            <a:off x="822960" y="3474720"/>
            <a:ext cx="4892040" cy="658368"/>
          </a:xfrm>
          <a:prstGeom prst="roundRect">
            <a:avLst>
              <a:gd name="adj" fmla="val 8333"/>
            </a:avLst>
          </a:prstGeom>
          <a:solidFill>
            <a:srgbClr val="FFFFFF"/>
          </a:solidFill>
          <a:ln w="12700">
            <a:solidFill>
              <a:srgbClr val="DCE4EC"/>
            </a:solidFill>
            <a:prstDash val="solid"/>
          </a:ln>
        </p:spPr>
      </p:sp>
      <p:sp>
        <p:nvSpPr>
          <p:cNvPr id="13" name="Text 10"/>
          <p:cNvSpPr/>
          <p:nvPr/>
        </p:nvSpPr>
        <p:spPr>
          <a:xfrm>
            <a:off x="1005840" y="3566160"/>
            <a:ext cx="1554480" cy="45720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Ordinal</a:t>
            </a:r>
            <a:endParaRPr lang="en-US" sz="1400" dirty="0"/>
          </a:p>
        </p:txBody>
      </p:sp>
      <p:sp>
        <p:nvSpPr>
          <p:cNvPr id="14" name="Text 11"/>
          <p:cNvSpPr/>
          <p:nvPr/>
        </p:nvSpPr>
        <p:spPr>
          <a:xfrm>
            <a:off x="2468880" y="3566160"/>
            <a:ext cx="3246120" cy="457200"/>
          </a:xfrm>
          <a:prstGeom prst="rect">
            <a:avLst/>
          </a:prstGeom>
          <a:noFill/>
          <a:ln/>
        </p:spPr>
        <p:txBody>
          <a:bodyPr wrap="square" lIns="0" tIns="0" rIns="0" bIns="0" rtlCol="0" anchor="ctr"/>
          <a:lstStyle/>
          <a:p>
            <a:pPr marL="0" indent="0" algn="l">
              <a:buNone/>
            </a:pPr>
            <a:r>
              <a:rPr lang="en-US" sz="1150" dirty="0">
                <a:solidFill>
                  <a:srgbClr val="1B2733"/>
                </a:solidFill>
                <a:latin typeface="Calibri" pitchFamily="34" charset="0"/>
                <a:ea typeface="Calibri" pitchFamily="34" charset="-122"/>
                <a:cs typeface="Calibri" pitchFamily="34" charset="-120"/>
              </a:rPr>
              <a:t>ordered — small / medium / large</a:t>
            </a:r>
            <a:endParaRPr lang="en-US" sz="1150" dirty="0"/>
          </a:p>
        </p:txBody>
      </p:sp>
      <p:sp>
        <p:nvSpPr>
          <p:cNvPr id="15" name="Shape 12"/>
          <p:cNvSpPr/>
          <p:nvPr/>
        </p:nvSpPr>
        <p:spPr>
          <a:xfrm>
            <a:off x="6199632" y="1691640"/>
            <a:ext cx="5440680" cy="2743200"/>
          </a:xfrm>
          <a:prstGeom prst="roundRect">
            <a:avLst>
              <a:gd name="adj" fmla="val 3000"/>
            </a:avLst>
          </a:prstGeom>
          <a:solidFill>
            <a:srgbClr val="F2F5F9"/>
          </a:solidFill>
          <a:ln/>
        </p:spPr>
      </p:sp>
      <p:sp>
        <p:nvSpPr>
          <p:cNvPr id="16" name="Text 13"/>
          <p:cNvSpPr/>
          <p:nvPr/>
        </p:nvSpPr>
        <p:spPr>
          <a:xfrm>
            <a:off x="6473952" y="1892808"/>
            <a:ext cx="4892040" cy="365760"/>
          </a:xfrm>
          <a:prstGeom prst="rect">
            <a:avLst/>
          </a:prstGeom>
          <a:noFill/>
          <a:ln/>
        </p:spPr>
        <p:txBody>
          <a:bodyPr wrap="square" lIns="0" tIns="0" rIns="0" bIns="0" rtlCol="0" anchor="ctr"/>
          <a:lstStyle/>
          <a:p>
            <a:pPr marL="0" indent="0" algn="l">
              <a:buNone/>
            </a:pPr>
            <a:r>
              <a:rPr lang="en-US" sz="1600" b="1" kern="0" spc="150" dirty="0">
                <a:solidFill>
                  <a:srgbClr val="3AAFA9"/>
                </a:solidFill>
                <a:latin typeface="Calibri" pitchFamily="34" charset="0"/>
                <a:ea typeface="Calibri" pitchFamily="34" charset="-122"/>
                <a:cs typeface="Calibri" pitchFamily="34" charset="-120"/>
              </a:rPr>
              <a:t>NUMERICAL</a:t>
            </a:r>
            <a:endParaRPr lang="en-US" sz="1600" dirty="0"/>
          </a:p>
        </p:txBody>
      </p:sp>
      <p:sp>
        <p:nvSpPr>
          <p:cNvPr id="17" name="Text 14"/>
          <p:cNvSpPr/>
          <p:nvPr/>
        </p:nvSpPr>
        <p:spPr>
          <a:xfrm>
            <a:off x="6473952" y="2240280"/>
            <a:ext cx="4892040" cy="310896"/>
          </a:xfrm>
          <a:prstGeom prst="rect">
            <a:avLst/>
          </a:prstGeom>
          <a:noFill/>
          <a:ln/>
        </p:spPr>
        <p:txBody>
          <a:bodyPr wrap="square" lIns="0" tIns="0" rIns="0" bIns="0" rtlCol="0" anchor="ctr"/>
          <a:lstStyle/>
          <a:p>
            <a:pPr marL="0" indent="0" algn="l">
              <a:buNone/>
            </a:pPr>
            <a:r>
              <a:rPr lang="en-US" sz="1250" i="1" dirty="0">
                <a:solidFill>
                  <a:srgbClr val="5C6B7A"/>
                </a:solidFill>
                <a:latin typeface="Calibri" pitchFamily="34" charset="0"/>
                <a:ea typeface="Calibri" pitchFamily="34" charset="-122"/>
                <a:cs typeface="Calibri" pitchFamily="34" charset="-120"/>
              </a:rPr>
              <a:t>measured quantities</a:t>
            </a:r>
            <a:endParaRPr lang="en-US" sz="1250" dirty="0"/>
          </a:p>
        </p:txBody>
      </p:sp>
      <p:sp>
        <p:nvSpPr>
          <p:cNvPr id="18" name="Shape 15"/>
          <p:cNvSpPr/>
          <p:nvPr/>
        </p:nvSpPr>
        <p:spPr>
          <a:xfrm>
            <a:off x="6473952" y="2697480"/>
            <a:ext cx="4892040" cy="658368"/>
          </a:xfrm>
          <a:prstGeom prst="roundRect">
            <a:avLst>
              <a:gd name="adj" fmla="val 8333"/>
            </a:avLst>
          </a:prstGeom>
          <a:solidFill>
            <a:srgbClr val="FFFFFF"/>
          </a:solidFill>
          <a:ln w="12700">
            <a:solidFill>
              <a:srgbClr val="DCE4EC"/>
            </a:solidFill>
            <a:prstDash val="solid"/>
          </a:ln>
        </p:spPr>
      </p:sp>
      <p:sp>
        <p:nvSpPr>
          <p:cNvPr id="19" name="Text 16"/>
          <p:cNvSpPr/>
          <p:nvPr/>
        </p:nvSpPr>
        <p:spPr>
          <a:xfrm>
            <a:off x="6656832" y="2788920"/>
            <a:ext cx="1554480" cy="45720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Discrete</a:t>
            </a:r>
            <a:endParaRPr lang="en-US" sz="1400" dirty="0"/>
          </a:p>
        </p:txBody>
      </p:sp>
      <p:sp>
        <p:nvSpPr>
          <p:cNvPr id="20" name="Text 17"/>
          <p:cNvSpPr/>
          <p:nvPr/>
        </p:nvSpPr>
        <p:spPr>
          <a:xfrm>
            <a:off x="8119872" y="2788920"/>
            <a:ext cx="3246120" cy="457200"/>
          </a:xfrm>
          <a:prstGeom prst="rect">
            <a:avLst/>
          </a:prstGeom>
          <a:noFill/>
          <a:ln/>
        </p:spPr>
        <p:txBody>
          <a:bodyPr wrap="square" lIns="0" tIns="0" rIns="0" bIns="0" rtlCol="0" anchor="ctr"/>
          <a:lstStyle/>
          <a:p>
            <a:pPr marL="0" indent="0" algn="l">
              <a:buNone/>
            </a:pPr>
            <a:r>
              <a:rPr lang="en-US" sz="1150" dirty="0">
                <a:solidFill>
                  <a:srgbClr val="1B2733"/>
                </a:solidFill>
                <a:latin typeface="Calibri" pitchFamily="34" charset="0"/>
                <a:ea typeface="Calibri" pitchFamily="34" charset="-122"/>
                <a:cs typeface="Calibri" pitchFamily="34" charset="-120"/>
              </a:rPr>
              <a:t>countable — number of children</a:t>
            </a:r>
            <a:endParaRPr lang="en-US" sz="1150" dirty="0"/>
          </a:p>
        </p:txBody>
      </p:sp>
      <p:sp>
        <p:nvSpPr>
          <p:cNvPr id="21" name="Shape 18"/>
          <p:cNvSpPr/>
          <p:nvPr/>
        </p:nvSpPr>
        <p:spPr>
          <a:xfrm>
            <a:off x="6473952" y="3474720"/>
            <a:ext cx="4892040" cy="658368"/>
          </a:xfrm>
          <a:prstGeom prst="roundRect">
            <a:avLst>
              <a:gd name="adj" fmla="val 8333"/>
            </a:avLst>
          </a:prstGeom>
          <a:solidFill>
            <a:srgbClr val="FFFFFF"/>
          </a:solidFill>
          <a:ln w="12700">
            <a:solidFill>
              <a:srgbClr val="DCE4EC"/>
            </a:solidFill>
            <a:prstDash val="solid"/>
          </a:ln>
        </p:spPr>
      </p:sp>
      <p:sp>
        <p:nvSpPr>
          <p:cNvPr id="22" name="Text 19"/>
          <p:cNvSpPr/>
          <p:nvPr/>
        </p:nvSpPr>
        <p:spPr>
          <a:xfrm>
            <a:off x="6656832" y="3566160"/>
            <a:ext cx="1554480" cy="45720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Continuous</a:t>
            </a:r>
            <a:endParaRPr lang="en-US" sz="1400" dirty="0"/>
          </a:p>
        </p:txBody>
      </p:sp>
      <p:sp>
        <p:nvSpPr>
          <p:cNvPr id="23" name="Text 20"/>
          <p:cNvSpPr/>
          <p:nvPr/>
        </p:nvSpPr>
        <p:spPr>
          <a:xfrm>
            <a:off x="8119872" y="3566160"/>
            <a:ext cx="3246120" cy="457200"/>
          </a:xfrm>
          <a:prstGeom prst="rect">
            <a:avLst/>
          </a:prstGeom>
          <a:noFill/>
          <a:ln/>
        </p:spPr>
        <p:txBody>
          <a:bodyPr wrap="square" lIns="0" tIns="0" rIns="0" bIns="0" rtlCol="0" anchor="ctr"/>
          <a:lstStyle/>
          <a:p>
            <a:pPr marL="0" indent="0" algn="l">
              <a:buNone/>
            </a:pPr>
            <a:r>
              <a:rPr lang="en-US" sz="1150" dirty="0">
                <a:solidFill>
                  <a:srgbClr val="1B2733"/>
                </a:solidFill>
                <a:latin typeface="Calibri" pitchFamily="34" charset="0"/>
                <a:ea typeface="Calibri" pitchFamily="34" charset="-122"/>
                <a:cs typeface="Calibri" pitchFamily="34" charset="-120"/>
              </a:rPr>
              <a:t>any value — height, temperature</a:t>
            </a:r>
            <a:endParaRPr lang="en-US" sz="1150" dirty="0"/>
          </a:p>
        </p:txBody>
      </p:sp>
      <p:sp>
        <p:nvSpPr>
          <p:cNvPr id="24" name="Text 21"/>
          <p:cNvSpPr/>
          <p:nvPr/>
        </p:nvSpPr>
        <p:spPr>
          <a:xfrm>
            <a:off x="548640" y="4617720"/>
            <a:ext cx="11064240" cy="36576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Why it matters: the data type decides which statistics, charts and encodings you can use.</a:t>
            </a:r>
            <a:endParaRPr lang="en-US" sz="1200" dirty="0"/>
          </a:p>
        </p:txBody>
      </p:sp>
      <p:sp>
        <p:nvSpPr>
          <p:cNvPr id="25" name="Shape 22"/>
          <p:cNvSpPr/>
          <p:nvPr/>
        </p:nvSpPr>
        <p:spPr>
          <a:xfrm>
            <a:off x="548640" y="5029200"/>
            <a:ext cx="11091672" cy="1097280"/>
          </a:xfrm>
          <a:prstGeom prst="roundRect">
            <a:avLst>
              <a:gd name="adj" fmla="val 6667"/>
            </a:avLst>
          </a:prstGeom>
          <a:solidFill>
            <a:srgbClr val="16263F"/>
          </a:solidFill>
          <a:ln/>
          <a:effectLst>
            <a:outerShdw blurRad="101600" dist="38100" dir="5400000" algn="bl" rotWithShape="0">
              <a:srgbClr val="000000">
                <a:alpha val="14000"/>
              </a:srgbClr>
            </a:outerShdw>
          </a:effectLst>
        </p:spPr>
      </p:sp>
      <p:sp>
        <p:nvSpPr>
          <p:cNvPr id="26" name="Text 23"/>
          <p:cNvSpPr/>
          <p:nvPr/>
        </p:nvSpPr>
        <p:spPr>
          <a:xfrm>
            <a:off x="822960" y="5029200"/>
            <a:ext cx="10515600" cy="1097280"/>
          </a:xfrm>
          <a:prstGeom prst="rect">
            <a:avLst/>
          </a:prstGeom>
          <a:noFill/>
          <a:ln/>
        </p:spPr>
        <p:txBody>
          <a:bodyPr wrap="square" lIns="0" tIns="0" rIns="0" bIns="0" rtlCol="0" anchor="ctr"/>
          <a:lstStyle/>
          <a:p>
            <a:pPr marL="0" indent="0" algn="l">
              <a:lnSpc>
                <a:spcPct val="105000"/>
              </a:lnSpc>
              <a:buNone/>
            </a:pPr>
            <a:r>
              <a:rPr lang="en-US" sz="1300" b="1" dirty="0">
                <a:solidFill>
                  <a:srgbClr val="F4B942"/>
                </a:solidFill>
                <a:latin typeface="Calibri" pitchFamily="34" charset="0"/>
                <a:ea typeface="Calibri" pitchFamily="34" charset="-122"/>
                <a:cs typeface="Calibri" pitchFamily="34" charset="-120"/>
              </a:rPr>
              <a:t>Rule of thumb   </a:t>
            </a:r>
            <a:r>
              <a:rPr lang="en-US" sz="1300" dirty="0">
                <a:solidFill>
                  <a:srgbClr val="DCE7F2"/>
                </a:solidFill>
                <a:latin typeface="Calibri" pitchFamily="34" charset="0"/>
                <a:ea typeface="Calibri" pitchFamily="34" charset="-122"/>
                <a:cs typeface="Calibri" pitchFamily="34" charset="-120"/>
              </a:rPr>
              <a:t>Mean &amp; standard deviation suit numerical data; counts &amp; mode suit categorical data; the median is safe for skewed or ordinal data.</a:t>
            </a:r>
            <a:endParaRPr lang="en-US" sz="1300" dirty="0"/>
          </a:p>
          <a:p>
            <a:pPr marL="0" indent="0" algn="l">
              <a:lnSpc>
                <a:spcPct val="105000"/>
              </a:lnSpc>
              <a:buNone/>
            </a:pPr>
            <a:r>
              <a:rPr lang="en-US" sz="1300" b="1" dirty="0">
                <a:solidFill>
                  <a:srgbClr val="F4B942"/>
                </a:solidFill>
                <a:latin typeface="Calibri" pitchFamily="34" charset="0"/>
                <a:ea typeface="Calibri" pitchFamily="34" charset="-122"/>
                <a:cs typeface="Calibri" pitchFamily="34" charset="-120"/>
              </a:rPr>
              <a:t>Example   </a:t>
            </a:r>
            <a:r>
              <a:rPr lang="en-US" sz="1300" dirty="0">
                <a:solidFill>
                  <a:srgbClr val="DCE7F2"/>
                </a:solidFill>
                <a:latin typeface="Calibri" pitchFamily="34" charset="0"/>
                <a:ea typeface="Calibri" pitchFamily="34" charset="-122"/>
                <a:cs typeface="Calibri" pitchFamily="34" charset="-120"/>
              </a:rPr>
              <a:t>plan_tier (Basic / Pro / Enterprise) is Ordinal; tickets_filed is Discrete; session_length_sec is Continuous.</a:t>
            </a:r>
            <a:endParaRPr lang="en-US" sz="1300" dirty="0"/>
          </a:p>
        </p:txBody>
      </p:sp>
      <p:sp>
        <p:nvSpPr>
          <p:cNvPr id="27" name="Text 24"/>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28" name="Text 25"/>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balance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WHERE THE DATA SITS</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Measures of central tendency</a:t>
            </a:r>
            <a:endParaRPr lang="en-US" sz="2700" dirty="0"/>
          </a:p>
        </p:txBody>
      </p:sp>
      <p:sp>
        <p:nvSpPr>
          <p:cNvPr id="6" name="Shape 3"/>
          <p:cNvSpPr/>
          <p:nvPr/>
        </p:nvSpPr>
        <p:spPr>
          <a:xfrm>
            <a:off x="566928" y="1709928"/>
            <a:ext cx="146304" cy="146304"/>
          </a:xfrm>
          <a:prstGeom prst="ellipse">
            <a:avLst/>
          </a:prstGeom>
          <a:solidFill>
            <a:srgbClr val="F4B942"/>
          </a:solidFill>
          <a:ln/>
        </p:spPr>
      </p:sp>
      <p:sp>
        <p:nvSpPr>
          <p:cNvPr id="7" name="Text 4"/>
          <p:cNvSpPr/>
          <p:nvPr/>
        </p:nvSpPr>
        <p:spPr>
          <a:xfrm>
            <a:off x="841248" y="1600200"/>
            <a:ext cx="5120640" cy="502920"/>
          </a:xfrm>
          <a:prstGeom prst="rect">
            <a:avLst/>
          </a:prstGeom>
          <a:noFill/>
          <a:ln/>
        </p:spPr>
        <p:txBody>
          <a:bodyPr wrap="square" lIns="0" tIns="0" rIns="0" bIns="0" rtlCol="0" anchor="t"/>
          <a:lstStyle/>
          <a:p>
            <a:pPr marL="0" indent="0" algn="l">
              <a:lnSpc>
                <a:spcPct val="103000"/>
              </a:lnSpc>
              <a:buNone/>
            </a:pPr>
            <a:r>
              <a:rPr lang="en-US" sz="1450" b="1" dirty="0">
                <a:solidFill>
                  <a:srgbClr val="16263F"/>
                </a:solidFill>
                <a:latin typeface="Calibri" pitchFamily="34" charset="0"/>
                <a:ea typeface="Calibri" pitchFamily="34" charset="-122"/>
                <a:cs typeface="Calibri" pitchFamily="34" charset="-120"/>
              </a:rPr>
              <a:t>Mean  </a:t>
            </a:r>
            <a:r>
              <a:rPr lang="en-US" sz="1250" dirty="0">
                <a:solidFill>
                  <a:srgbClr val="1B2733"/>
                </a:solidFill>
                <a:latin typeface="Calibri" pitchFamily="34" charset="0"/>
                <a:ea typeface="Calibri" pitchFamily="34" charset="-122"/>
                <a:cs typeface="Calibri" pitchFamily="34" charset="-120"/>
              </a:rPr>
              <a:t>— the average — sum ÷ count; sensitive to outliers</a:t>
            </a:r>
            <a:endParaRPr lang="en-US" sz="1450" dirty="0"/>
          </a:p>
        </p:txBody>
      </p:sp>
      <p:sp>
        <p:nvSpPr>
          <p:cNvPr id="8" name="Shape 5"/>
          <p:cNvSpPr/>
          <p:nvPr/>
        </p:nvSpPr>
        <p:spPr>
          <a:xfrm>
            <a:off x="566928" y="2276856"/>
            <a:ext cx="146304" cy="146304"/>
          </a:xfrm>
          <a:prstGeom prst="ellipse">
            <a:avLst/>
          </a:prstGeom>
          <a:solidFill>
            <a:srgbClr val="F4B942"/>
          </a:solidFill>
          <a:ln/>
        </p:spPr>
      </p:sp>
      <p:sp>
        <p:nvSpPr>
          <p:cNvPr id="9" name="Text 6"/>
          <p:cNvSpPr/>
          <p:nvPr/>
        </p:nvSpPr>
        <p:spPr>
          <a:xfrm>
            <a:off x="841248" y="2167128"/>
            <a:ext cx="5120640" cy="502920"/>
          </a:xfrm>
          <a:prstGeom prst="rect">
            <a:avLst/>
          </a:prstGeom>
          <a:noFill/>
          <a:ln/>
        </p:spPr>
        <p:txBody>
          <a:bodyPr wrap="square" lIns="0" tIns="0" rIns="0" bIns="0" rtlCol="0" anchor="t"/>
          <a:lstStyle/>
          <a:p>
            <a:pPr marL="0" indent="0" algn="l">
              <a:lnSpc>
                <a:spcPct val="103000"/>
              </a:lnSpc>
              <a:buNone/>
            </a:pPr>
            <a:r>
              <a:rPr lang="en-US" sz="1450" b="1" dirty="0">
                <a:solidFill>
                  <a:srgbClr val="16263F"/>
                </a:solidFill>
                <a:latin typeface="Calibri" pitchFamily="34" charset="0"/>
                <a:ea typeface="Calibri" pitchFamily="34" charset="-122"/>
                <a:cs typeface="Calibri" pitchFamily="34" charset="-120"/>
              </a:rPr>
              <a:t>Median  </a:t>
            </a:r>
            <a:r>
              <a:rPr lang="en-US" sz="1250" dirty="0">
                <a:solidFill>
                  <a:srgbClr val="1B2733"/>
                </a:solidFill>
                <a:latin typeface="Calibri" pitchFamily="34" charset="0"/>
                <a:ea typeface="Calibri" pitchFamily="34" charset="-122"/>
                <a:cs typeface="Calibri" pitchFamily="34" charset="-120"/>
              </a:rPr>
              <a:t>— the middle value when sorted; robust to outliers</a:t>
            </a:r>
            <a:endParaRPr lang="en-US" sz="1450" dirty="0"/>
          </a:p>
        </p:txBody>
      </p:sp>
      <p:sp>
        <p:nvSpPr>
          <p:cNvPr id="10" name="Shape 7"/>
          <p:cNvSpPr/>
          <p:nvPr/>
        </p:nvSpPr>
        <p:spPr>
          <a:xfrm>
            <a:off x="566928" y="2843784"/>
            <a:ext cx="146304" cy="146304"/>
          </a:xfrm>
          <a:prstGeom prst="ellipse">
            <a:avLst/>
          </a:prstGeom>
          <a:solidFill>
            <a:srgbClr val="F4B942"/>
          </a:solidFill>
          <a:ln/>
        </p:spPr>
      </p:sp>
      <p:sp>
        <p:nvSpPr>
          <p:cNvPr id="11" name="Text 8"/>
          <p:cNvSpPr/>
          <p:nvPr/>
        </p:nvSpPr>
        <p:spPr>
          <a:xfrm>
            <a:off x="841248" y="2734056"/>
            <a:ext cx="5120640" cy="502920"/>
          </a:xfrm>
          <a:prstGeom prst="rect">
            <a:avLst/>
          </a:prstGeom>
          <a:noFill/>
          <a:ln/>
        </p:spPr>
        <p:txBody>
          <a:bodyPr wrap="square" lIns="0" tIns="0" rIns="0" bIns="0" rtlCol="0" anchor="t"/>
          <a:lstStyle/>
          <a:p>
            <a:pPr marL="0" indent="0" algn="l">
              <a:lnSpc>
                <a:spcPct val="103000"/>
              </a:lnSpc>
              <a:buNone/>
            </a:pPr>
            <a:r>
              <a:rPr lang="en-US" sz="1450" b="1" dirty="0">
                <a:solidFill>
                  <a:srgbClr val="16263F"/>
                </a:solidFill>
                <a:latin typeface="Calibri" pitchFamily="34" charset="0"/>
                <a:ea typeface="Calibri" pitchFamily="34" charset="-122"/>
                <a:cs typeface="Calibri" pitchFamily="34" charset="-120"/>
              </a:rPr>
              <a:t>Mode  </a:t>
            </a:r>
            <a:r>
              <a:rPr lang="en-US" sz="1250" dirty="0">
                <a:solidFill>
                  <a:srgbClr val="1B2733"/>
                </a:solidFill>
                <a:latin typeface="Calibri" pitchFamily="34" charset="0"/>
                <a:ea typeface="Calibri" pitchFamily="34" charset="-122"/>
                <a:cs typeface="Calibri" pitchFamily="34" charset="-120"/>
              </a:rPr>
              <a:t>— the most frequent value; the only one for categories</a:t>
            </a:r>
            <a:endParaRPr lang="en-US" sz="1450" dirty="0"/>
          </a:p>
        </p:txBody>
      </p:sp>
      <p:sp>
        <p:nvSpPr>
          <p:cNvPr id="12" name="Shape 9"/>
          <p:cNvSpPr/>
          <p:nvPr/>
        </p:nvSpPr>
        <p:spPr>
          <a:xfrm>
            <a:off x="548640" y="3520440"/>
            <a:ext cx="5440680" cy="1143000"/>
          </a:xfrm>
          <a:prstGeom prst="roundRect">
            <a:avLst>
              <a:gd name="adj" fmla="val 7200"/>
            </a:avLst>
          </a:prstGeom>
          <a:solidFill>
            <a:srgbClr val="16263F"/>
          </a:solidFill>
          <a:ln/>
          <a:effectLst>
            <a:outerShdw blurRad="101600" dist="38100" dir="5400000" algn="bl" rotWithShape="0">
              <a:srgbClr val="000000">
                <a:alpha val="14000"/>
              </a:srgbClr>
            </a:outerShdw>
          </a:effectLst>
        </p:spPr>
      </p:sp>
      <p:sp>
        <p:nvSpPr>
          <p:cNvPr id="13" name="Text 10"/>
          <p:cNvSpPr/>
          <p:nvPr/>
        </p:nvSpPr>
        <p:spPr>
          <a:xfrm>
            <a:off x="685800" y="3611880"/>
            <a:ext cx="5166360" cy="685800"/>
          </a:xfrm>
          <a:prstGeom prst="rect">
            <a:avLst/>
          </a:prstGeom>
          <a:noFill/>
          <a:ln/>
        </p:spPr>
        <p:txBody>
          <a:bodyPr wrap="square" lIns="0" tIns="0" rIns="0" bIns="0" rtlCol="0" anchor="ctr"/>
          <a:lstStyle/>
          <a:p>
            <a:pPr marL="0" indent="0" algn="ctr">
              <a:buNone/>
            </a:pPr>
            <a:r>
              <a:rPr lang="en-US" sz="2200" b="1" dirty="0">
                <a:solidFill>
                  <a:srgbClr val="F4B942"/>
                </a:solidFill>
                <a:latin typeface="Cambria" pitchFamily="34" charset="0"/>
                <a:ea typeface="Cambria" pitchFamily="34" charset="-122"/>
                <a:cs typeface="Cambria" pitchFamily="34" charset="-120"/>
              </a:rPr>
              <a:t>mean  x̄ = (1/n) Σ xᵢ</a:t>
            </a:r>
            <a:endParaRPr lang="en-US" sz="2200" dirty="0"/>
          </a:p>
        </p:txBody>
      </p:sp>
      <p:sp>
        <p:nvSpPr>
          <p:cNvPr id="14" name="Text 11"/>
          <p:cNvSpPr/>
          <p:nvPr/>
        </p:nvSpPr>
        <p:spPr>
          <a:xfrm>
            <a:off x="685800" y="4224528"/>
            <a:ext cx="5166360" cy="347472"/>
          </a:xfrm>
          <a:prstGeom prst="rect">
            <a:avLst/>
          </a:prstGeom>
          <a:noFill/>
          <a:ln/>
        </p:spPr>
        <p:txBody>
          <a:bodyPr wrap="square" lIns="0" tIns="0" rIns="0" bIns="0" rtlCol="0" anchor="ctr"/>
          <a:lstStyle/>
          <a:p>
            <a:pPr marL="0" indent="0" algn="ctr">
              <a:buNone/>
            </a:pPr>
            <a:r>
              <a:rPr lang="en-US" sz="1150" i="1" dirty="0">
                <a:solidFill>
                  <a:srgbClr val="C7D6E6"/>
                </a:solidFill>
                <a:latin typeface="Calibri" pitchFamily="34" charset="0"/>
                <a:ea typeface="Calibri" pitchFamily="34" charset="-122"/>
                <a:cs typeface="Calibri" pitchFamily="34" charset="-120"/>
              </a:rPr>
              <a:t>add every value, divide by how many there are</a:t>
            </a:r>
            <a:endParaRPr lang="en-US" sz="1150" dirty="0"/>
          </a:p>
        </p:txBody>
      </p:sp>
      <p:sp>
        <p:nvSpPr>
          <p:cNvPr id="15" name="Text 12"/>
          <p:cNvSpPr/>
          <p:nvPr/>
        </p:nvSpPr>
        <p:spPr>
          <a:xfrm>
            <a:off x="6400800" y="1572768"/>
            <a:ext cx="5120640" cy="310896"/>
          </a:xfrm>
          <a:prstGeom prst="rect">
            <a:avLst/>
          </a:prstGeom>
          <a:noFill/>
          <a:ln/>
        </p:spPr>
        <p:txBody>
          <a:bodyPr wrap="square" lIns="0" tIns="0" rIns="0" bIns="0" rtlCol="0" anchor="ctr"/>
          <a:lstStyle/>
          <a:p>
            <a:pPr marL="0" indent="0" algn="l">
              <a:buNone/>
            </a:pPr>
            <a:r>
              <a:rPr lang="en-US" sz="1300" b="1" dirty="0">
                <a:solidFill>
                  <a:srgbClr val="16263F"/>
                </a:solidFill>
                <a:latin typeface="Calibri" pitchFamily="34" charset="0"/>
                <a:ea typeface="Calibri" pitchFamily="34" charset="-122"/>
                <a:cs typeface="Calibri" pitchFamily="34" charset="-120"/>
              </a:rPr>
              <a:t>Skewed data: mean ≠ median</a:t>
            </a:r>
            <a:endParaRPr lang="en-US" sz="1300" dirty="0"/>
          </a:p>
        </p:txBody>
      </p:sp>
      <p:graphicFrame>
        <p:nvGraphicFramePr>
          <p:cNvPr id="16" name="Chart 0"/>
          <p:cNvGraphicFramePr/>
          <p:nvPr/>
        </p:nvGraphicFramePr>
        <p:xfrm>
          <a:off x="6217920" y="1920240"/>
          <a:ext cx="544068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13"/>
          <p:cNvSpPr/>
          <p:nvPr/>
        </p:nvSpPr>
        <p:spPr>
          <a:xfrm>
            <a:off x="6217920" y="4681728"/>
            <a:ext cx="5440680" cy="274320"/>
          </a:xfrm>
          <a:prstGeom prst="rect">
            <a:avLst/>
          </a:prstGeom>
          <a:noFill/>
          <a:ln/>
        </p:spPr>
        <p:txBody>
          <a:bodyPr wrap="square" lIns="0" tIns="0" rIns="0" bIns="0" rtlCol="0" anchor="ctr"/>
          <a:lstStyle/>
          <a:p>
            <a:pPr marL="0" indent="0" algn="ctr">
              <a:buNone/>
            </a:pPr>
            <a:r>
              <a:rPr lang="en-US" sz="1050" i="1" dirty="0">
                <a:solidFill>
                  <a:srgbClr val="5C6B7A"/>
                </a:solidFill>
                <a:latin typeface="Calibri" pitchFamily="34" charset="0"/>
                <a:ea typeface="Calibri" pitchFamily="34" charset="-122"/>
                <a:cs typeface="Calibri" pitchFamily="34" charset="-120"/>
              </a:rPr>
              <a:t>right-skewed → mean pulled right of the median</a:t>
            </a:r>
            <a:endParaRPr lang="en-US" sz="1050" dirty="0"/>
          </a:p>
        </p:txBody>
      </p:sp>
      <p:sp>
        <p:nvSpPr>
          <p:cNvPr id="18" name="Shape 14"/>
          <p:cNvSpPr/>
          <p:nvPr/>
        </p:nvSpPr>
        <p:spPr>
          <a:xfrm>
            <a:off x="548640" y="5138928"/>
            <a:ext cx="11091672" cy="566928"/>
          </a:xfrm>
          <a:prstGeom prst="roundRect">
            <a:avLst>
              <a:gd name="adj" fmla="val 11290"/>
            </a:avLst>
          </a:prstGeom>
          <a:solidFill>
            <a:srgbClr val="FBF1D8"/>
          </a:solidFill>
          <a:ln/>
        </p:spPr>
      </p:sp>
      <p:sp>
        <p:nvSpPr>
          <p:cNvPr id="19" name="Shape 15"/>
          <p:cNvSpPr/>
          <p:nvPr/>
        </p:nvSpPr>
        <p:spPr>
          <a:xfrm>
            <a:off x="694944" y="5257800"/>
            <a:ext cx="329184" cy="329184"/>
          </a:xfrm>
          <a:prstGeom prst="ellipse">
            <a:avLst/>
          </a:prstGeom>
          <a:solidFill>
            <a:srgbClr val="F4B942"/>
          </a:solidFill>
          <a:ln/>
        </p:spPr>
      </p:sp>
      <p:pic>
        <p:nvPicPr>
          <p:cNvPr id="20" name="Image 1" descr="ic_flask_navy.png"/>
          <p:cNvPicPr>
            <a:picLocks noChangeAspect="1"/>
          </p:cNvPicPr>
          <p:nvPr/>
        </p:nvPicPr>
        <p:blipFill>
          <a:blip r:embed="rId5"/>
          <a:stretch>
            <a:fillRect/>
          </a:stretch>
        </p:blipFill>
        <p:spPr>
          <a:xfrm>
            <a:off x="777240" y="5340096"/>
            <a:ext cx="164592" cy="164592"/>
          </a:xfrm>
          <a:prstGeom prst="rect">
            <a:avLst/>
          </a:prstGeom>
        </p:spPr>
      </p:pic>
      <p:sp>
        <p:nvSpPr>
          <p:cNvPr id="21" name="Text 16"/>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Compute mean, median and mode on a provided CSV.</a:t>
            </a:r>
            <a:endParaRPr lang="en-US" sz="1100" dirty="0"/>
          </a:p>
        </p:txBody>
      </p:sp>
      <p:sp>
        <p:nvSpPr>
          <p:cNvPr id="22" name="Text 17"/>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23" name="Text 18"/>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5</a:t>
            </a:r>
            <a:endParaRPr lang="en-US" sz="950" dirty="0"/>
          </a:p>
        </p:txBody>
      </p:sp>
      <p:sp>
        <p:nvSpPr>
          <p:cNvPr id="40" name="Worked Example 5"/>
          <p:cNvSpPr/>
          <p:nvPr/>
        </p:nvSpPr>
        <p:spPr>
          <a:xfrm>
            <a:off x="548640" y="4700000"/>
            <a:ext cx="5666920" cy="42000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[2, 3, 3, 5, 40]: mean ≈ 10.6, median = mode = 3 — the outlier pulls the mean well above the median.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spread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HOW SPREAD OUT IT IS</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Measures of spread (dispersion)</a:t>
            </a:r>
            <a:endParaRPr lang="en-US" sz="2700" dirty="0"/>
          </a:p>
        </p:txBody>
      </p:sp>
      <p:sp>
        <p:nvSpPr>
          <p:cNvPr id="6" name="Shape 3"/>
          <p:cNvSpPr/>
          <p:nvPr/>
        </p:nvSpPr>
        <p:spPr>
          <a:xfrm>
            <a:off x="566928" y="1682496"/>
            <a:ext cx="146304" cy="146304"/>
          </a:xfrm>
          <a:prstGeom prst="ellipse">
            <a:avLst/>
          </a:prstGeom>
          <a:solidFill>
            <a:srgbClr val="F4B942"/>
          </a:solidFill>
          <a:ln/>
        </p:spPr>
      </p:sp>
      <p:sp>
        <p:nvSpPr>
          <p:cNvPr id="7" name="Text 4"/>
          <p:cNvSpPr/>
          <p:nvPr/>
        </p:nvSpPr>
        <p:spPr>
          <a:xfrm>
            <a:off x="841248" y="1572768"/>
            <a:ext cx="5029200" cy="502920"/>
          </a:xfrm>
          <a:prstGeom prst="rect">
            <a:avLst/>
          </a:prstGeom>
          <a:noFill/>
          <a:ln/>
        </p:spPr>
        <p:txBody>
          <a:bodyPr wrap="square" lIns="0" tIns="0" rIns="0" bIns="0" rtlCol="0" anchor="t"/>
          <a:lstStyle/>
          <a:p>
            <a:pPr marL="0" indent="0" algn="l">
              <a:lnSpc>
                <a:spcPct val="103000"/>
              </a:lnSpc>
              <a:buNone/>
            </a:pPr>
            <a:r>
              <a:rPr lang="en-US" sz="1400" b="1" dirty="0">
                <a:solidFill>
                  <a:srgbClr val="16263F"/>
                </a:solidFill>
                <a:latin typeface="Calibri" pitchFamily="34" charset="0"/>
                <a:ea typeface="Calibri" pitchFamily="34" charset="-122"/>
                <a:cs typeface="Calibri" pitchFamily="34" charset="-120"/>
              </a:rPr>
              <a:t>Range  </a:t>
            </a:r>
            <a:r>
              <a:rPr lang="en-US" sz="1250" dirty="0">
                <a:solidFill>
                  <a:srgbClr val="1B2733"/>
                </a:solidFill>
                <a:latin typeface="Calibri" pitchFamily="34" charset="0"/>
                <a:ea typeface="Calibri" pitchFamily="34" charset="-122"/>
                <a:cs typeface="Calibri" pitchFamily="34" charset="-120"/>
              </a:rPr>
              <a:t>— max − min; quick but outlier-sensitive</a:t>
            </a:r>
            <a:endParaRPr lang="en-US" sz="1400" dirty="0"/>
          </a:p>
        </p:txBody>
      </p:sp>
      <p:sp>
        <p:nvSpPr>
          <p:cNvPr id="8" name="Shape 5"/>
          <p:cNvSpPr/>
          <p:nvPr/>
        </p:nvSpPr>
        <p:spPr>
          <a:xfrm>
            <a:off x="566928" y="2286000"/>
            <a:ext cx="146304" cy="146304"/>
          </a:xfrm>
          <a:prstGeom prst="ellipse">
            <a:avLst/>
          </a:prstGeom>
          <a:solidFill>
            <a:srgbClr val="F4B942"/>
          </a:solidFill>
          <a:ln/>
        </p:spPr>
      </p:sp>
      <p:sp>
        <p:nvSpPr>
          <p:cNvPr id="9" name="Text 6"/>
          <p:cNvSpPr/>
          <p:nvPr/>
        </p:nvSpPr>
        <p:spPr>
          <a:xfrm>
            <a:off x="841248" y="2176272"/>
            <a:ext cx="5029200" cy="502920"/>
          </a:xfrm>
          <a:prstGeom prst="rect">
            <a:avLst/>
          </a:prstGeom>
          <a:noFill/>
          <a:ln/>
        </p:spPr>
        <p:txBody>
          <a:bodyPr wrap="square" lIns="0" tIns="0" rIns="0" bIns="0" rtlCol="0" anchor="t"/>
          <a:lstStyle/>
          <a:p>
            <a:pPr marL="0" indent="0" algn="l">
              <a:lnSpc>
                <a:spcPct val="103000"/>
              </a:lnSpc>
              <a:buNone/>
            </a:pPr>
            <a:r>
              <a:rPr lang="en-US" sz="1400" b="1" dirty="0">
                <a:solidFill>
                  <a:srgbClr val="16263F"/>
                </a:solidFill>
                <a:latin typeface="Calibri" pitchFamily="34" charset="0"/>
                <a:ea typeface="Calibri" pitchFamily="34" charset="-122"/>
                <a:cs typeface="Calibri" pitchFamily="34" charset="-120"/>
              </a:rPr>
              <a:t>Variance  σ²  </a:t>
            </a:r>
            <a:r>
              <a:rPr lang="en-US" sz="1250" dirty="0">
                <a:solidFill>
                  <a:srgbClr val="1B2733"/>
                </a:solidFill>
                <a:latin typeface="Calibri" pitchFamily="34" charset="0"/>
                <a:ea typeface="Calibri" pitchFamily="34" charset="-122"/>
                <a:cs typeface="Calibri" pitchFamily="34" charset="-120"/>
              </a:rPr>
              <a:t>— average squared distance from the mean</a:t>
            </a:r>
            <a:endParaRPr lang="en-US" sz="1400" dirty="0"/>
          </a:p>
        </p:txBody>
      </p:sp>
      <p:sp>
        <p:nvSpPr>
          <p:cNvPr id="10" name="Shape 7"/>
          <p:cNvSpPr/>
          <p:nvPr/>
        </p:nvSpPr>
        <p:spPr>
          <a:xfrm>
            <a:off x="566928" y="2889504"/>
            <a:ext cx="146304" cy="146304"/>
          </a:xfrm>
          <a:prstGeom prst="ellipse">
            <a:avLst/>
          </a:prstGeom>
          <a:solidFill>
            <a:srgbClr val="F4B942"/>
          </a:solidFill>
          <a:ln/>
        </p:spPr>
      </p:sp>
      <p:sp>
        <p:nvSpPr>
          <p:cNvPr id="11" name="Text 8"/>
          <p:cNvSpPr/>
          <p:nvPr/>
        </p:nvSpPr>
        <p:spPr>
          <a:xfrm>
            <a:off x="841248" y="2779776"/>
            <a:ext cx="5029200" cy="502920"/>
          </a:xfrm>
          <a:prstGeom prst="rect">
            <a:avLst/>
          </a:prstGeom>
          <a:noFill/>
          <a:ln/>
        </p:spPr>
        <p:txBody>
          <a:bodyPr wrap="square" lIns="0" tIns="0" rIns="0" bIns="0" rtlCol="0" anchor="t"/>
          <a:lstStyle/>
          <a:p>
            <a:pPr marL="0" indent="0" algn="l">
              <a:lnSpc>
                <a:spcPct val="103000"/>
              </a:lnSpc>
              <a:buNone/>
            </a:pPr>
            <a:r>
              <a:rPr lang="en-US" sz="1400" b="1" dirty="0">
                <a:solidFill>
                  <a:srgbClr val="16263F"/>
                </a:solidFill>
                <a:latin typeface="Calibri" pitchFamily="34" charset="0"/>
                <a:ea typeface="Calibri" pitchFamily="34" charset="-122"/>
                <a:cs typeface="Calibri" pitchFamily="34" charset="-120"/>
              </a:rPr>
              <a:t>Std deviation  σ  </a:t>
            </a:r>
            <a:r>
              <a:rPr lang="en-US" sz="1250" dirty="0">
                <a:solidFill>
                  <a:srgbClr val="1B2733"/>
                </a:solidFill>
                <a:latin typeface="Calibri" pitchFamily="34" charset="0"/>
                <a:ea typeface="Calibri" pitchFamily="34" charset="-122"/>
                <a:cs typeface="Calibri" pitchFamily="34" charset="-120"/>
              </a:rPr>
              <a:t>— √variance — spread in the data's own units</a:t>
            </a:r>
            <a:endParaRPr lang="en-US" sz="1400" dirty="0"/>
          </a:p>
        </p:txBody>
      </p:sp>
      <p:sp>
        <p:nvSpPr>
          <p:cNvPr id="12" name="Shape 9"/>
          <p:cNvSpPr/>
          <p:nvPr/>
        </p:nvSpPr>
        <p:spPr>
          <a:xfrm>
            <a:off x="566928" y="3493008"/>
            <a:ext cx="146304" cy="146304"/>
          </a:xfrm>
          <a:prstGeom prst="ellipse">
            <a:avLst/>
          </a:prstGeom>
          <a:solidFill>
            <a:srgbClr val="F4B942"/>
          </a:solidFill>
          <a:ln/>
        </p:spPr>
      </p:sp>
      <p:sp>
        <p:nvSpPr>
          <p:cNvPr id="13" name="Text 10"/>
          <p:cNvSpPr/>
          <p:nvPr/>
        </p:nvSpPr>
        <p:spPr>
          <a:xfrm>
            <a:off x="841248" y="3383280"/>
            <a:ext cx="5029200" cy="502920"/>
          </a:xfrm>
          <a:prstGeom prst="rect">
            <a:avLst/>
          </a:prstGeom>
          <a:noFill/>
          <a:ln/>
        </p:spPr>
        <p:txBody>
          <a:bodyPr wrap="square" lIns="0" tIns="0" rIns="0" bIns="0" rtlCol="0" anchor="t"/>
          <a:lstStyle/>
          <a:p>
            <a:pPr marL="0" indent="0" algn="l">
              <a:lnSpc>
                <a:spcPct val="103000"/>
              </a:lnSpc>
              <a:buNone/>
            </a:pPr>
            <a:r>
              <a:rPr lang="en-US" sz="1400" b="1" dirty="0">
                <a:solidFill>
                  <a:srgbClr val="16263F"/>
                </a:solidFill>
                <a:latin typeface="Calibri" pitchFamily="34" charset="0"/>
                <a:ea typeface="Calibri" pitchFamily="34" charset="-122"/>
                <a:cs typeface="Calibri" pitchFamily="34" charset="-120"/>
              </a:rPr>
              <a:t>IQR  </a:t>
            </a:r>
            <a:r>
              <a:rPr lang="en-US" sz="1250" dirty="0">
                <a:solidFill>
                  <a:srgbClr val="1B2733"/>
                </a:solidFill>
                <a:latin typeface="Calibri" pitchFamily="34" charset="0"/>
                <a:ea typeface="Calibri" pitchFamily="34" charset="-122"/>
                <a:cs typeface="Calibri" pitchFamily="34" charset="-120"/>
              </a:rPr>
              <a:t>— Q3 − Q1; the middle 50%, robust to outliers</a:t>
            </a:r>
            <a:endParaRPr lang="en-US" sz="1400" dirty="0"/>
          </a:p>
        </p:txBody>
      </p:sp>
      <p:sp>
        <p:nvSpPr>
          <p:cNvPr id="14" name="Shape 11"/>
          <p:cNvSpPr/>
          <p:nvPr/>
        </p:nvSpPr>
        <p:spPr>
          <a:xfrm>
            <a:off x="548640" y="4160520"/>
            <a:ext cx="5440680" cy="868680"/>
          </a:xfrm>
          <a:prstGeom prst="roundRect">
            <a:avLst>
              <a:gd name="adj" fmla="val 9474"/>
            </a:avLst>
          </a:prstGeom>
          <a:solidFill>
            <a:srgbClr val="16263F"/>
          </a:solidFill>
          <a:ln/>
          <a:effectLst>
            <a:outerShdw blurRad="101600" dist="38100" dir="5400000" algn="bl" rotWithShape="0">
              <a:srgbClr val="000000">
                <a:alpha val="14000"/>
              </a:srgbClr>
            </a:outerShdw>
          </a:effectLst>
        </p:spPr>
      </p:sp>
      <p:sp>
        <p:nvSpPr>
          <p:cNvPr id="15" name="Text 12"/>
          <p:cNvSpPr/>
          <p:nvPr/>
        </p:nvSpPr>
        <p:spPr>
          <a:xfrm>
            <a:off x="685800" y="4251960"/>
            <a:ext cx="5166360" cy="685800"/>
          </a:xfrm>
          <a:prstGeom prst="rect">
            <a:avLst/>
          </a:prstGeom>
          <a:noFill/>
          <a:ln/>
        </p:spPr>
        <p:txBody>
          <a:bodyPr wrap="square" lIns="0" tIns="0" rIns="0" bIns="0" rtlCol="0" anchor="ctr"/>
          <a:lstStyle/>
          <a:p>
            <a:pPr marL="0" indent="0" algn="ctr">
              <a:buNone/>
            </a:pPr>
            <a:r>
              <a:rPr lang="en-US" sz="2200" b="1" dirty="0">
                <a:solidFill>
                  <a:srgbClr val="F4B942"/>
                </a:solidFill>
                <a:latin typeface="Cambria" pitchFamily="34" charset="0"/>
                <a:ea typeface="Cambria" pitchFamily="34" charset="-122"/>
                <a:cs typeface="Cambria" pitchFamily="34" charset="-120"/>
              </a:rPr>
              <a:t>σ² = (1/n) Σ (xᵢ − x̄)²</a:t>
            </a:r>
            <a:endParaRPr lang="en-US" sz="2200" dirty="0"/>
          </a:p>
        </p:txBody>
      </p:sp>
      <p:sp>
        <p:nvSpPr>
          <p:cNvPr id="16" name="Shape 13"/>
          <p:cNvSpPr/>
          <p:nvPr/>
        </p:nvSpPr>
        <p:spPr>
          <a:xfrm>
            <a:off x="6126480" y="1664208"/>
            <a:ext cx="5513832" cy="2743200"/>
          </a:xfrm>
          <a:prstGeom prst="roundRect">
            <a:avLst>
              <a:gd name="adj" fmla="val 2000"/>
            </a:avLst>
          </a:prstGeom>
          <a:solidFill>
            <a:srgbClr val="0E1B2E"/>
          </a:solidFill>
          <a:ln/>
          <a:effectLst>
            <a:outerShdw blurRad="101600" dist="38100" dir="5400000" algn="bl" rotWithShape="0">
              <a:srgbClr val="000000">
                <a:alpha val="14000"/>
              </a:srgbClr>
            </a:outerShdw>
          </a:effectLst>
        </p:spPr>
      </p:sp>
      <p:sp>
        <p:nvSpPr>
          <p:cNvPr id="17" name="Shape 14"/>
          <p:cNvSpPr/>
          <p:nvPr/>
        </p:nvSpPr>
        <p:spPr>
          <a:xfrm>
            <a:off x="6272784" y="1810512"/>
            <a:ext cx="91440" cy="91440"/>
          </a:xfrm>
          <a:prstGeom prst="ellipse">
            <a:avLst/>
          </a:prstGeom>
          <a:solidFill>
            <a:srgbClr val="FF5F56"/>
          </a:solidFill>
          <a:ln/>
        </p:spPr>
      </p:sp>
      <p:sp>
        <p:nvSpPr>
          <p:cNvPr id="18" name="Shape 15"/>
          <p:cNvSpPr/>
          <p:nvPr/>
        </p:nvSpPr>
        <p:spPr>
          <a:xfrm>
            <a:off x="6419088" y="1810512"/>
            <a:ext cx="91440" cy="91440"/>
          </a:xfrm>
          <a:prstGeom prst="ellipse">
            <a:avLst/>
          </a:prstGeom>
          <a:solidFill>
            <a:srgbClr val="FFBD2E"/>
          </a:solidFill>
          <a:ln/>
        </p:spPr>
      </p:sp>
      <p:sp>
        <p:nvSpPr>
          <p:cNvPr id="19" name="Shape 16"/>
          <p:cNvSpPr/>
          <p:nvPr/>
        </p:nvSpPr>
        <p:spPr>
          <a:xfrm>
            <a:off x="6565392" y="1810512"/>
            <a:ext cx="91440" cy="91440"/>
          </a:xfrm>
          <a:prstGeom prst="ellipse">
            <a:avLst/>
          </a:prstGeom>
          <a:solidFill>
            <a:srgbClr val="27C93F"/>
          </a:solidFill>
          <a:ln/>
        </p:spPr>
      </p:sp>
      <p:sp>
        <p:nvSpPr>
          <p:cNvPr id="20" name="Text 17"/>
          <p:cNvSpPr/>
          <p:nvPr/>
        </p:nvSpPr>
        <p:spPr>
          <a:xfrm>
            <a:off x="6766560" y="1737360"/>
            <a:ext cx="4690872" cy="237744"/>
          </a:xfrm>
          <a:prstGeom prst="rect">
            <a:avLst/>
          </a:prstGeom>
          <a:noFill/>
          <a:ln/>
        </p:spPr>
        <p:txBody>
          <a:bodyPr wrap="square" lIns="0" tIns="0" rIns="0" bIns="0" rtlCol="0" anchor="ctr"/>
          <a:lstStyle/>
          <a:p>
            <a:pPr marL="0" indent="0" algn="l">
              <a:buNone/>
            </a:pPr>
            <a:r>
              <a:rPr lang="en-US" sz="950" dirty="0">
                <a:solidFill>
                  <a:srgbClr val="8FA6BE"/>
                </a:solidFill>
                <a:latin typeface="Courier New" pitchFamily="34" charset="0"/>
                <a:ea typeface="Courier New" pitchFamily="34" charset="-122"/>
                <a:cs typeface="Courier New" pitchFamily="34" charset="-120"/>
              </a:rPr>
              <a:t>spread.py</a:t>
            </a:r>
            <a:endParaRPr lang="en-US" sz="950" dirty="0"/>
          </a:p>
        </p:txBody>
      </p:sp>
      <p:sp>
        <p:nvSpPr>
          <p:cNvPr id="21" name="Text 18"/>
          <p:cNvSpPr/>
          <p:nvPr/>
        </p:nvSpPr>
        <p:spPr>
          <a:xfrm>
            <a:off x="6327648" y="2048256"/>
            <a:ext cx="5111496" cy="2212848"/>
          </a:xfrm>
          <a:prstGeom prst="rect">
            <a:avLst/>
          </a:prstGeom>
          <a:noFill/>
          <a:ln/>
        </p:spPr>
        <p:txBody>
          <a:bodyPr wrap="square" lIns="0" tIns="0" rIns="0" bIns="0" rtlCol="0" anchor="t"/>
          <a:lstStyle/>
          <a:p>
            <a:pPr marL="0" indent="0" algn="l">
              <a:lnSpc>
                <a:spcPct val="112000"/>
              </a:lnSpc>
              <a:buNone/>
            </a:pPr>
            <a:r>
              <a:rPr lang="en-US" sz="1150" dirty="0">
                <a:solidFill>
                  <a:srgbClr val="F4B942"/>
                </a:solidFill>
                <a:latin typeface="Courier New" pitchFamily="34" charset="0"/>
                <a:ea typeface="Courier New" pitchFamily="34" charset="-122"/>
                <a:cs typeface="Courier New" pitchFamily="34" charset="-120"/>
              </a:rPr>
              <a:t>import numpy as np</a:t>
            </a:r>
            <a:endParaRPr lang="en-US" sz="1150" dirty="0"/>
          </a:p>
          <a:p>
            <a:pPr marL="0" indent="0" algn="l">
              <a:lnSpc>
                <a:spcPct val="112000"/>
              </a:lnSpc>
              <a:buNone/>
            </a:pPr>
            <a:r>
              <a:rPr lang="en-US" sz="1150" dirty="0">
                <a:solidFill>
                  <a:srgbClr val="E6EEF7"/>
                </a:solidFill>
                <a:latin typeface="Courier New" pitchFamily="34" charset="0"/>
                <a:ea typeface="Courier New" pitchFamily="34" charset="-122"/>
                <a:cs typeface="Courier New" pitchFamily="34" charset="-120"/>
              </a:rPr>
              <a:t>data = np.array([4, 8, 6, 5, 3, 9, 7])</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data.mean()          # average</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data.var()           # variance σ²</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data.std()           # std deviation σ</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data.max() - data.min()        # range</a:t>
            </a:r>
            <a:endParaRPr lang="en-US" sz="1150" dirty="0"/>
          </a:p>
          <a:p>
            <a:pPr marL="0" indent="0" algn="l">
              <a:lnSpc>
                <a:spcPct val="112000"/>
              </a:lnSpc>
              <a:buNone/>
            </a:pPr>
            <a:r>
              <a:rPr lang="en-US" sz="1150" dirty="0">
                <a:solidFill>
                  <a:srgbClr val="E6EEF7"/>
                </a:solidFill>
                <a:latin typeface="Courier New" pitchFamily="34" charset="0"/>
                <a:ea typeface="Courier New" pitchFamily="34" charset="-122"/>
                <a:cs typeface="Courier New" pitchFamily="34" charset="-120"/>
              </a:rPr>
              <a:t>q1, q3 = np.percentile(data, [25, 75])</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iqr = q3 - q1        # interquartile range</a:t>
            </a:r>
            <a:endParaRPr lang="en-US" sz="1150" dirty="0"/>
          </a:p>
        </p:txBody>
      </p:sp>
      <p:sp>
        <p:nvSpPr>
          <p:cNvPr id="22" name="Shape 19"/>
          <p:cNvSpPr/>
          <p:nvPr/>
        </p:nvSpPr>
        <p:spPr>
          <a:xfrm>
            <a:off x="548640" y="5138928"/>
            <a:ext cx="11091672" cy="566928"/>
          </a:xfrm>
          <a:prstGeom prst="roundRect">
            <a:avLst>
              <a:gd name="adj" fmla="val 11290"/>
            </a:avLst>
          </a:prstGeom>
          <a:solidFill>
            <a:srgbClr val="FBF1D8"/>
          </a:solidFill>
          <a:ln/>
        </p:spPr>
      </p:sp>
      <p:sp>
        <p:nvSpPr>
          <p:cNvPr id="23" name="Shape 20"/>
          <p:cNvSpPr/>
          <p:nvPr/>
        </p:nvSpPr>
        <p:spPr>
          <a:xfrm>
            <a:off x="694944" y="5257800"/>
            <a:ext cx="329184" cy="329184"/>
          </a:xfrm>
          <a:prstGeom prst="ellipse">
            <a:avLst/>
          </a:prstGeom>
          <a:solidFill>
            <a:srgbClr val="F4B942"/>
          </a:solidFill>
          <a:ln/>
        </p:spPr>
      </p:sp>
      <p:pic>
        <p:nvPicPr>
          <p:cNvPr id="24" name="Image 1" descr="ic_flask_navy.png"/>
          <p:cNvPicPr>
            <a:picLocks noChangeAspect="1"/>
          </p:cNvPicPr>
          <p:nvPr/>
        </p:nvPicPr>
        <p:blipFill>
          <a:blip r:embed="rId4"/>
          <a:stretch>
            <a:fillRect/>
          </a:stretch>
        </p:blipFill>
        <p:spPr>
          <a:xfrm>
            <a:off x="777240" y="5340096"/>
            <a:ext cx="164592" cy="164592"/>
          </a:xfrm>
          <a:prstGeom prst="rect">
            <a:avLst/>
          </a:prstGeom>
        </p:spPr>
      </p:pic>
      <p:sp>
        <p:nvSpPr>
          <p:cNvPr id="25" name="Text 21"/>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Compute variance, standard deviation and IQR for a numeric column.</a:t>
            </a:r>
            <a:endParaRPr lang="en-US" sz="1100" dirty="0"/>
          </a:p>
        </p:txBody>
      </p:sp>
      <p:sp>
        <p:nvSpPr>
          <p:cNvPr id="26" name="Text 22"/>
          <p:cNvSpPr/>
          <p:nvPr/>
        </p:nvSpPr>
        <p:spPr>
          <a:xfrm>
            <a:off x="548640" y="5870448"/>
            <a:ext cx="11064240" cy="36576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Two datasets can share a mean yet behave very differently — spread tells them apart.</a:t>
            </a:r>
            <a:endParaRPr lang="en-US" sz="1200" dirty="0"/>
          </a:p>
        </p:txBody>
      </p:sp>
      <p:sp>
        <p:nvSpPr>
          <p:cNvPr id="27" name="Text 23"/>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28" name="Text 24"/>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6</a:t>
            </a:r>
            <a:endParaRPr lang="en-US" sz="950" dirty="0"/>
          </a:p>
        </p:txBody>
      </p:sp>
      <p:sp>
        <p:nvSpPr>
          <p:cNvPr id="40" name="Worked Example 6"/>
          <p:cNvSpPr/>
          <p:nvPr/>
        </p:nvSpPr>
        <p:spPr>
          <a:xfrm>
            <a:off x="6217920" y="4480560"/>
            <a:ext cx="5440680" cy="60000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data = [4, 8, 6, 5, 3, 9, 7]: mean = 6.0, variance ≈ 3.71, std ≈ 1.93, IQR ≈ 3.0.</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263F"/>
        </a:solidFill>
        <a:effectLst/>
      </p:bgPr>
    </p:bg>
    <p:spTree>
      <p:nvGrpSpPr>
        <p:cNvPr id="1" name=""/>
        <p:cNvGrpSpPr/>
        <p:nvPr/>
      </p:nvGrpSpPr>
      <p:grpSpPr>
        <a:xfrm>
          <a:off x="0" y="0"/>
          <a:ext cx="0" cy="0"/>
          <a:chOff x="0" y="0"/>
          <a:chExt cx="0" cy="0"/>
        </a:xfrm>
      </p:grpSpPr>
      <p:sp>
        <p:nvSpPr>
          <p:cNvPr id="2" name="Text 0"/>
          <p:cNvSpPr/>
          <p:nvPr/>
        </p:nvSpPr>
        <p:spPr>
          <a:xfrm>
            <a:off x="9509760" y="914400"/>
            <a:ext cx="2286000" cy="4572000"/>
          </a:xfrm>
          <a:prstGeom prst="rect">
            <a:avLst/>
          </a:prstGeom>
          <a:noFill/>
          <a:ln/>
        </p:spPr>
        <p:txBody>
          <a:bodyPr wrap="square" lIns="0" tIns="0" rIns="0" bIns="0" rtlCol="0" anchor="ctr"/>
          <a:lstStyle/>
          <a:p>
            <a:pPr marL="0" indent="0" algn="r">
              <a:buNone/>
            </a:pPr>
            <a:r>
              <a:rPr lang="en-US" sz="24000" b="1" dirty="0">
                <a:solidFill>
                  <a:srgbClr val="1F3656"/>
                </a:solidFill>
                <a:latin typeface="Century Schoolbook" pitchFamily="34" charset="0"/>
                <a:ea typeface="Century Schoolbook" pitchFamily="34" charset="-122"/>
                <a:cs typeface="Century Schoolbook" pitchFamily="34" charset="-120"/>
              </a:rPr>
              <a:t>2</a:t>
            </a:r>
            <a:endParaRPr lang="en-US" sz="24000" dirty="0"/>
          </a:p>
        </p:txBody>
      </p:sp>
      <p:sp>
        <p:nvSpPr>
          <p:cNvPr id="3" name="Shape 1"/>
          <p:cNvSpPr/>
          <p:nvPr/>
        </p:nvSpPr>
        <p:spPr>
          <a:xfrm>
            <a:off x="822960" y="1783080"/>
            <a:ext cx="1051560" cy="1051560"/>
          </a:xfrm>
          <a:prstGeom prst="ellipse">
            <a:avLst/>
          </a:prstGeom>
          <a:solidFill>
            <a:srgbClr val="F4B942"/>
          </a:solidFill>
          <a:ln/>
          <a:effectLst>
            <a:outerShdw blurRad="101600" dist="38100" dir="5400000" algn="bl" rotWithShape="0">
              <a:srgbClr val="000000">
                <a:alpha val="14000"/>
              </a:srgbClr>
            </a:outerShdw>
          </a:effectLst>
        </p:spPr>
      </p:sp>
      <p:pic>
        <p:nvPicPr>
          <p:cNvPr id="4" name="Image 0" descr="ic_area_white.png"/>
          <p:cNvPicPr>
            <a:picLocks noChangeAspect="1"/>
          </p:cNvPicPr>
          <p:nvPr/>
        </p:nvPicPr>
        <p:blipFill>
          <a:blip r:embed="rId3"/>
          <a:stretch>
            <a:fillRect/>
          </a:stretch>
        </p:blipFill>
        <p:spPr>
          <a:xfrm>
            <a:off x="1085850" y="2045970"/>
            <a:ext cx="525780" cy="525780"/>
          </a:xfrm>
          <a:prstGeom prst="rect">
            <a:avLst/>
          </a:prstGeom>
        </p:spPr>
      </p:pic>
      <p:sp>
        <p:nvSpPr>
          <p:cNvPr id="5" name="Text 2"/>
          <p:cNvSpPr/>
          <p:nvPr/>
        </p:nvSpPr>
        <p:spPr>
          <a:xfrm>
            <a:off x="2148840" y="1847088"/>
            <a:ext cx="7315200" cy="365760"/>
          </a:xfrm>
          <a:prstGeom prst="rect">
            <a:avLst/>
          </a:prstGeom>
          <a:noFill/>
          <a:ln/>
        </p:spPr>
        <p:txBody>
          <a:bodyPr wrap="square" lIns="0" tIns="0" rIns="0" bIns="0" rtlCol="0" anchor="ctr"/>
          <a:lstStyle/>
          <a:p>
            <a:pPr marL="0" indent="0" algn="l">
              <a:buNone/>
            </a:pPr>
            <a:r>
              <a:rPr lang="en-US" sz="1400" b="1" kern="0" spc="300" dirty="0">
                <a:solidFill>
                  <a:srgbClr val="F4B942"/>
                </a:solidFill>
                <a:latin typeface="Calibri" pitchFamily="34" charset="0"/>
                <a:ea typeface="Calibri" pitchFamily="34" charset="-122"/>
                <a:cs typeface="Calibri" pitchFamily="34" charset="-120"/>
              </a:rPr>
              <a:t>SHAPE &amp; RELATIONSHIPS</a:t>
            </a:r>
            <a:endParaRPr lang="en-US" sz="1400" dirty="0"/>
          </a:p>
        </p:txBody>
      </p:sp>
      <p:sp>
        <p:nvSpPr>
          <p:cNvPr id="6" name="Text 3"/>
          <p:cNvSpPr/>
          <p:nvPr/>
        </p:nvSpPr>
        <p:spPr>
          <a:xfrm>
            <a:off x="2121408" y="2231136"/>
            <a:ext cx="6766560" cy="1371600"/>
          </a:xfrm>
          <a:prstGeom prst="rect">
            <a:avLst/>
          </a:prstGeom>
          <a:noFill/>
          <a:ln/>
        </p:spPr>
        <p:txBody>
          <a:bodyPr wrap="square" lIns="0" tIns="0" rIns="0" bIns="0" rtlCol="0" anchor="t"/>
          <a:lstStyle/>
          <a:p>
            <a:pPr marL="0" indent="0" algn="l">
              <a:buNone/>
            </a:pPr>
            <a:r>
              <a:rPr lang="en-US" sz="3800" b="1" dirty="0">
                <a:solidFill>
                  <a:srgbClr val="FFFFFF"/>
                </a:solidFill>
                <a:latin typeface="Century Schoolbook" pitchFamily="34" charset="0"/>
                <a:ea typeface="Century Schoolbook" pitchFamily="34" charset="-122"/>
                <a:cs typeface="Century Schoolbook" pitchFamily="34" charset="-120"/>
              </a:rPr>
              <a:t>Distribution shape &amp; correlation</a:t>
            </a:r>
            <a:endParaRPr lang="en-US" sz="3800" dirty="0"/>
          </a:p>
        </p:txBody>
      </p:sp>
      <p:sp>
        <p:nvSpPr>
          <p:cNvPr id="7" name="Text 4"/>
          <p:cNvSpPr/>
          <p:nvPr/>
        </p:nvSpPr>
        <p:spPr>
          <a:xfrm>
            <a:off x="2148840" y="4160520"/>
            <a:ext cx="6492240" cy="1097280"/>
          </a:xfrm>
          <a:prstGeom prst="rect">
            <a:avLst/>
          </a:prstGeom>
          <a:noFill/>
          <a:ln/>
        </p:spPr>
        <p:txBody>
          <a:bodyPr wrap="square" lIns="0" tIns="0" rIns="0" bIns="0" rtlCol="0" anchor="t"/>
          <a:lstStyle/>
          <a:p>
            <a:pPr marL="0" indent="0" algn="l">
              <a:lnSpc>
                <a:spcPct val="110000"/>
              </a:lnSpc>
              <a:buNone/>
            </a:pPr>
            <a:r>
              <a:rPr lang="en-US" sz="1600" dirty="0">
                <a:solidFill>
                  <a:srgbClr val="AFC2D6"/>
                </a:solidFill>
                <a:latin typeface="Calibri" pitchFamily="34" charset="0"/>
                <a:ea typeface="Calibri" pitchFamily="34" charset="-122"/>
                <a:cs typeface="Calibri" pitchFamily="34" charset="-120"/>
              </a:rPr>
              <a:t>Beyond centre and spread: how a distribution leans, where its quartiles fall, and how variables move together.</a:t>
            </a:r>
            <a:endParaRPr lang="en-US" sz="1600" dirty="0"/>
          </a:p>
        </p:txBody>
      </p:sp>
      <p:sp>
        <p:nvSpPr>
          <p:cNvPr id="8" name="Text 5"/>
          <p:cNvSpPr/>
          <p:nvPr/>
        </p:nvSpPr>
        <p:spPr>
          <a:xfrm>
            <a:off x="822960" y="6263640"/>
            <a:ext cx="7315200" cy="274320"/>
          </a:xfrm>
          <a:prstGeom prst="rect">
            <a:avLst/>
          </a:prstGeom>
          <a:noFill/>
          <a:ln/>
        </p:spPr>
        <p:txBody>
          <a:bodyPr wrap="square" lIns="0" tIns="0" rIns="0" bIns="0" rtlCol="0" anchor="ctr"/>
          <a:lstStyle/>
          <a:p>
            <a:pPr marL="0" indent="0" algn="l">
              <a:buNone/>
            </a:pPr>
            <a:r>
              <a:rPr lang="en-US" sz="1050" dirty="0">
                <a:solidFill>
                  <a:srgbClr val="6E83A0"/>
                </a:solidFill>
                <a:latin typeface="Calibri" pitchFamily="34" charset="0"/>
                <a:ea typeface="Calibri" pitchFamily="34" charset="-122"/>
                <a:cs typeface="Calibri" pitchFamily="34" charset="-120"/>
              </a:rPr>
              <a:t>Probability &amp; Statistics · Part 1 · 02 / 06</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area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THE SHAPE OF A DISTRIBUTION</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Skew, quartiles &amp; the box plot</a:t>
            </a:r>
            <a:endParaRPr lang="en-US" sz="2700" dirty="0"/>
          </a:p>
        </p:txBody>
      </p:sp>
      <p:sp>
        <p:nvSpPr>
          <p:cNvPr id="6" name="Shape 3"/>
          <p:cNvSpPr/>
          <p:nvPr/>
        </p:nvSpPr>
        <p:spPr>
          <a:xfrm>
            <a:off x="566928" y="1709928"/>
            <a:ext cx="146304" cy="146304"/>
          </a:xfrm>
          <a:prstGeom prst="ellipse">
            <a:avLst/>
          </a:prstGeom>
          <a:solidFill>
            <a:srgbClr val="F4B942"/>
          </a:solidFill>
          <a:ln/>
        </p:spPr>
      </p:sp>
      <p:sp>
        <p:nvSpPr>
          <p:cNvPr id="7" name="Text 4"/>
          <p:cNvSpPr/>
          <p:nvPr/>
        </p:nvSpPr>
        <p:spPr>
          <a:xfrm>
            <a:off x="841248" y="1600200"/>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Percentiles &amp; quartiles  </a:t>
            </a:r>
            <a:r>
              <a:rPr lang="en-US" sz="1200" dirty="0">
                <a:solidFill>
                  <a:srgbClr val="1B2733"/>
                </a:solidFill>
                <a:latin typeface="Calibri" pitchFamily="34" charset="0"/>
                <a:ea typeface="Calibri" pitchFamily="34" charset="-122"/>
                <a:cs typeface="Calibri" pitchFamily="34" charset="-120"/>
              </a:rPr>
              <a:t>— Q1 (25%), Q2 = median (50%), Q3 (75%)</a:t>
            </a:r>
            <a:endParaRPr lang="en-US" sz="1350" dirty="0"/>
          </a:p>
        </p:txBody>
      </p:sp>
      <p:sp>
        <p:nvSpPr>
          <p:cNvPr id="8" name="Shape 5"/>
          <p:cNvSpPr/>
          <p:nvPr/>
        </p:nvSpPr>
        <p:spPr>
          <a:xfrm>
            <a:off x="566928" y="2368296"/>
            <a:ext cx="146304" cy="146304"/>
          </a:xfrm>
          <a:prstGeom prst="ellipse">
            <a:avLst/>
          </a:prstGeom>
          <a:solidFill>
            <a:srgbClr val="F4B942"/>
          </a:solidFill>
          <a:ln/>
        </p:spPr>
      </p:sp>
      <p:sp>
        <p:nvSpPr>
          <p:cNvPr id="9" name="Text 6"/>
          <p:cNvSpPr/>
          <p:nvPr/>
        </p:nvSpPr>
        <p:spPr>
          <a:xfrm>
            <a:off x="841248" y="2258568"/>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Five-number summary  </a:t>
            </a:r>
            <a:r>
              <a:rPr lang="en-US" sz="1200" dirty="0">
                <a:solidFill>
                  <a:srgbClr val="1B2733"/>
                </a:solidFill>
                <a:latin typeface="Calibri" pitchFamily="34" charset="0"/>
                <a:ea typeface="Calibri" pitchFamily="34" charset="-122"/>
                <a:cs typeface="Calibri" pitchFamily="34" charset="-120"/>
              </a:rPr>
              <a:t>— min · Q1 · median · Q3 · max</a:t>
            </a:r>
            <a:endParaRPr lang="en-US" sz="1350" dirty="0"/>
          </a:p>
        </p:txBody>
      </p:sp>
      <p:sp>
        <p:nvSpPr>
          <p:cNvPr id="10" name="Shape 7"/>
          <p:cNvSpPr/>
          <p:nvPr/>
        </p:nvSpPr>
        <p:spPr>
          <a:xfrm>
            <a:off x="566928" y="3026664"/>
            <a:ext cx="146304" cy="146304"/>
          </a:xfrm>
          <a:prstGeom prst="ellipse">
            <a:avLst/>
          </a:prstGeom>
          <a:solidFill>
            <a:srgbClr val="F4B942"/>
          </a:solidFill>
          <a:ln/>
        </p:spPr>
      </p:sp>
      <p:sp>
        <p:nvSpPr>
          <p:cNvPr id="11" name="Text 8"/>
          <p:cNvSpPr/>
          <p:nvPr/>
        </p:nvSpPr>
        <p:spPr>
          <a:xfrm>
            <a:off x="841248" y="2916936"/>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Skewness  </a:t>
            </a:r>
            <a:r>
              <a:rPr lang="en-US" sz="1200" dirty="0">
                <a:solidFill>
                  <a:srgbClr val="1B2733"/>
                </a:solidFill>
                <a:latin typeface="Calibri" pitchFamily="34" charset="0"/>
                <a:ea typeface="Calibri" pitchFamily="34" charset="-122"/>
                <a:cs typeface="Calibri" pitchFamily="34" charset="-120"/>
              </a:rPr>
              <a:t>— right-skew: tail to the right (mean &gt; median)</a:t>
            </a:r>
            <a:endParaRPr lang="en-US" sz="1350" dirty="0"/>
          </a:p>
        </p:txBody>
      </p:sp>
      <p:sp>
        <p:nvSpPr>
          <p:cNvPr id="12" name="Shape 9"/>
          <p:cNvSpPr/>
          <p:nvPr/>
        </p:nvSpPr>
        <p:spPr>
          <a:xfrm>
            <a:off x="566928" y="3685032"/>
            <a:ext cx="146304" cy="146304"/>
          </a:xfrm>
          <a:prstGeom prst="ellipse">
            <a:avLst/>
          </a:prstGeom>
          <a:solidFill>
            <a:srgbClr val="F4B942"/>
          </a:solidFill>
          <a:ln/>
        </p:spPr>
      </p:sp>
      <p:sp>
        <p:nvSpPr>
          <p:cNvPr id="13" name="Text 10"/>
          <p:cNvSpPr/>
          <p:nvPr/>
        </p:nvSpPr>
        <p:spPr>
          <a:xfrm>
            <a:off x="841248" y="3575304"/>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IQR &amp; outliers  </a:t>
            </a:r>
            <a:r>
              <a:rPr lang="en-US" sz="1200" dirty="0">
                <a:solidFill>
                  <a:srgbClr val="1B2733"/>
                </a:solidFill>
                <a:latin typeface="Calibri" pitchFamily="34" charset="0"/>
                <a:ea typeface="Calibri" pitchFamily="34" charset="-122"/>
                <a:cs typeface="Calibri" pitchFamily="34" charset="-120"/>
              </a:rPr>
              <a:t>— points beyond Q1−1.5·IQR or Q3+1.5·IQR</a:t>
            </a:r>
            <a:endParaRPr lang="en-US" sz="1350" dirty="0"/>
          </a:p>
        </p:txBody>
      </p:sp>
      <p:sp>
        <p:nvSpPr>
          <p:cNvPr id="14" name="Shape 11"/>
          <p:cNvSpPr/>
          <p:nvPr/>
        </p:nvSpPr>
        <p:spPr>
          <a:xfrm>
            <a:off x="6126480" y="1664208"/>
            <a:ext cx="5513832" cy="2999232"/>
          </a:xfrm>
          <a:prstGeom prst="roundRect">
            <a:avLst>
              <a:gd name="adj" fmla="val 1829"/>
            </a:avLst>
          </a:prstGeom>
          <a:solidFill>
            <a:srgbClr val="F2F5F9"/>
          </a:solidFill>
          <a:ln/>
        </p:spPr>
      </p:sp>
      <p:sp>
        <p:nvSpPr>
          <p:cNvPr id="15" name="Text 12"/>
          <p:cNvSpPr/>
          <p:nvPr/>
        </p:nvSpPr>
        <p:spPr>
          <a:xfrm>
            <a:off x="6309360" y="1810512"/>
            <a:ext cx="5120640" cy="310896"/>
          </a:xfrm>
          <a:prstGeom prst="rect">
            <a:avLst/>
          </a:prstGeom>
          <a:noFill/>
          <a:ln/>
        </p:spPr>
        <p:txBody>
          <a:bodyPr wrap="square" lIns="0" tIns="0" rIns="0" bIns="0" rtlCol="0" anchor="ctr"/>
          <a:lstStyle/>
          <a:p>
            <a:pPr marL="0" indent="0" algn="l">
              <a:buNone/>
            </a:pPr>
            <a:r>
              <a:rPr lang="en-US" sz="1250" b="1" dirty="0">
                <a:solidFill>
                  <a:srgbClr val="16263F"/>
                </a:solidFill>
                <a:latin typeface="Calibri" pitchFamily="34" charset="0"/>
                <a:ea typeface="Calibri" pitchFamily="34" charset="-122"/>
                <a:cs typeface="Calibri" pitchFamily="34" charset="-120"/>
              </a:rPr>
              <a:t>Box plot — the five-number summary</a:t>
            </a:r>
            <a:endParaRPr lang="en-US" sz="1250" dirty="0"/>
          </a:p>
        </p:txBody>
      </p:sp>
      <p:sp>
        <p:nvSpPr>
          <p:cNvPr id="16" name="Shape 13"/>
          <p:cNvSpPr/>
          <p:nvPr/>
        </p:nvSpPr>
        <p:spPr>
          <a:xfrm>
            <a:off x="6629400" y="3337560"/>
            <a:ext cx="4480560" cy="0"/>
          </a:xfrm>
          <a:prstGeom prst="line">
            <a:avLst/>
          </a:prstGeom>
          <a:noFill/>
          <a:ln w="19050">
            <a:solidFill>
              <a:srgbClr val="16263F"/>
            </a:solidFill>
            <a:prstDash val="solid"/>
          </a:ln>
        </p:spPr>
      </p:sp>
      <p:sp>
        <p:nvSpPr>
          <p:cNvPr id="17" name="Shape 14"/>
          <p:cNvSpPr/>
          <p:nvPr/>
        </p:nvSpPr>
        <p:spPr>
          <a:xfrm>
            <a:off x="7818120" y="2926080"/>
            <a:ext cx="1874520" cy="822960"/>
          </a:xfrm>
          <a:prstGeom prst="rect">
            <a:avLst/>
          </a:prstGeom>
          <a:solidFill>
            <a:srgbClr val="2D6A9F">
              <a:alpha val="65000"/>
            </a:srgbClr>
          </a:solidFill>
          <a:ln w="19050">
            <a:solidFill>
              <a:srgbClr val="16263F"/>
            </a:solidFill>
            <a:prstDash val="solid"/>
          </a:ln>
        </p:spPr>
      </p:sp>
      <p:sp>
        <p:nvSpPr>
          <p:cNvPr id="18" name="Shape 15"/>
          <p:cNvSpPr/>
          <p:nvPr/>
        </p:nvSpPr>
        <p:spPr>
          <a:xfrm>
            <a:off x="8549640" y="2926080"/>
            <a:ext cx="0" cy="822960"/>
          </a:xfrm>
          <a:prstGeom prst="line">
            <a:avLst/>
          </a:prstGeom>
          <a:noFill/>
          <a:ln w="38100">
            <a:solidFill>
              <a:srgbClr val="F4B942"/>
            </a:solidFill>
            <a:prstDash val="solid"/>
          </a:ln>
        </p:spPr>
      </p:sp>
      <p:sp>
        <p:nvSpPr>
          <p:cNvPr id="19" name="Shape 16"/>
          <p:cNvSpPr/>
          <p:nvPr/>
        </p:nvSpPr>
        <p:spPr>
          <a:xfrm>
            <a:off x="6629400" y="3108960"/>
            <a:ext cx="0" cy="457200"/>
          </a:xfrm>
          <a:prstGeom prst="line">
            <a:avLst/>
          </a:prstGeom>
          <a:noFill/>
          <a:ln w="19050">
            <a:solidFill>
              <a:srgbClr val="16263F"/>
            </a:solidFill>
            <a:prstDash val="solid"/>
          </a:ln>
        </p:spPr>
      </p:sp>
      <p:sp>
        <p:nvSpPr>
          <p:cNvPr id="20" name="Shape 17"/>
          <p:cNvSpPr/>
          <p:nvPr/>
        </p:nvSpPr>
        <p:spPr>
          <a:xfrm>
            <a:off x="11109960" y="3108960"/>
            <a:ext cx="0" cy="457200"/>
          </a:xfrm>
          <a:prstGeom prst="line">
            <a:avLst/>
          </a:prstGeom>
          <a:noFill/>
          <a:ln w="19050">
            <a:solidFill>
              <a:srgbClr val="16263F"/>
            </a:solidFill>
            <a:prstDash val="solid"/>
          </a:ln>
        </p:spPr>
      </p:sp>
      <p:sp>
        <p:nvSpPr>
          <p:cNvPr id="21" name="Text 18"/>
          <p:cNvSpPr/>
          <p:nvPr/>
        </p:nvSpPr>
        <p:spPr>
          <a:xfrm>
            <a:off x="6172200" y="3657600"/>
            <a:ext cx="914400" cy="274320"/>
          </a:xfrm>
          <a:prstGeom prst="rect">
            <a:avLst/>
          </a:prstGeom>
          <a:noFill/>
          <a:ln/>
        </p:spPr>
        <p:txBody>
          <a:bodyPr wrap="square" lIns="0" tIns="0" rIns="0" bIns="0" rtlCol="0" anchor="ctr"/>
          <a:lstStyle/>
          <a:p>
            <a:pPr marL="0" indent="0" algn="ctr">
              <a:buNone/>
            </a:pPr>
            <a:r>
              <a:rPr lang="en-US" sz="1000" dirty="0">
                <a:solidFill>
                  <a:srgbClr val="5C6B7A"/>
                </a:solidFill>
                <a:latin typeface="Calibri" pitchFamily="34" charset="0"/>
                <a:ea typeface="Calibri" pitchFamily="34" charset="-122"/>
                <a:cs typeface="Calibri" pitchFamily="34" charset="-120"/>
              </a:rPr>
              <a:t>min</a:t>
            </a:r>
            <a:endParaRPr lang="en-US" sz="1000" dirty="0"/>
          </a:p>
        </p:txBody>
      </p:sp>
      <p:sp>
        <p:nvSpPr>
          <p:cNvPr id="22" name="Text 19"/>
          <p:cNvSpPr/>
          <p:nvPr/>
        </p:nvSpPr>
        <p:spPr>
          <a:xfrm>
            <a:off x="7360920" y="3657600"/>
            <a:ext cx="914400" cy="274320"/>
          </a:xfrm>
          <a:prstGeom prst="rect">
            <a:avLst/>
          </a:prstGeom>
          <a:noFill/>
          <a:ln/>
        </p:spPr>
        <p:txBody>
          <a:bodyPr wrap="square" lIns="0" tIns="0" rIns="0" bIns="0" rtlCol="0" anchor="ctr"/>
          <a:lstStyle/>
          <a:p>
            <a:pPr marL="0" indent="0" algn="ctr">
              <a:buNone/>
            </a:pPr>
            <a:r>
              <a:rPr lang="en-US" sz="1000" dirty="0">
                <a:solidFill>
                  <a:srgbClr val="5C6B7A"/>
                </a:solidFill>
                <a:latin typeface="Calibri" pitchFamily="34" charset="0"/>
                <a:ea typeface="Calibri" pitchFamily="34" charset="-122"/>
                <a:cs typeface="Calibri" pitchFamily="34" charset="-120"/>
              </a:rPr>
              <a:t>Q1</a:t>
            </a:r>
            <a:endParaRPr lang="en-US" sz="1000" dirty="0"/>
          </a:p>
        </p:txBody>
      </p:sp>
      <p:sp>
        <p:nvSpPr>
          <p:cNvPr id="23" name="Text 20"/>
          <p:cNvSpPr/>
          <p:nvPr/>
        </p:nvSpPr>
        <p:spPr>
          <a:xfrm>
            <a:off x="8092440" y="3657600"/>
            <a:ext cx="914400" cy="274320"/>
          </a:xfrm>
          <a:prstGeom prst="rect">
            <a:avLst/>
          </a:prstGeom>
          <a:noFill/>
          <a:ln/>
        </p:spPr>
        <p:txBody>
          <a:bodyPr wrap="square" lIns="0" tIns="0" rIns="0" bIns="0" rtlCol="0" anchor="ctr"/>
          <a:lstStyle/>
          <a:p>
            <a:pPr marL="0" indent="0" algn="ctr">
              <a:buNone/>
            </a:pPr>
            <a:r>
              <a:rPr lang="en-US" sz="1000" b="1" dirty="0">
                <a:solidFill>
                  <a:srgbClr val="9A6B12"/>
                </a:solidFill>
                <a:latin typeface="Calibri" pitchFamily="34" charset="0"/>
                <a:ea typeface="Calibri" pitchFamily="34" charset="-122"/>
                <a:cs typeface="Calibri" pitchFamily="34" charset="-120"/>
              </a:rPr>
              <a:t>median</a:t>
            </a:r>
            <a:endParaRPr lang="en-US" sz="1000" dirty="0"/>
          </a:p>
        </p:txBody>
      </p:sp>
      <p:sp>
        <p:nvSpPr>
          <p:cNvPr id="24" name="Text 21"/>
          <p:cNvSpPr/>
          <p:nvPr/>
        </p:nvSpPr>
        <p:spPr>
          <a:xfrm>
            <a:off x="9235440" y="3657600"/>
            <a:ext cx="914400" cy="274320"/>
          </a:xfrm>
          <a:prstGeom prst="rect">
            <a:avLst/>
          </a:prstGeom>
          <a:noFill/>
          <a:ln/>
        </p:spPr>
        <p:txBody>
          <a:bodyPr wrap="square" lIns="0" tIns="0" rIns="0" bIns="0" rtlCol="0" anchor="ctr"/>
          <a:lstStyle/>
          <a:p>
            <a:pPr marL="0" indent="0" algn="ctr">
              <a:buNone/>
            </a:pPr>
            <a:r>
              <a:rPr lang="en-US" sz="1000" dirty="0">
                <a:solidFill>
                  <a:srgbClr val="5C6B7A"/>
                </a:solidFill>
                <a:latin typeface="Calibri" pitchFamily="34" charset="0"/>
                <a:ea typeface="Calibri" pitchFamily="34" charset="-122"/>
                <a:cs typeface="Calibri" pitchFamily="34" charset="-120"/>
              </a:rPr>
              <a:t>Q3</a:t>
            </a:r>
            <a:endParaRPr lang="en-US" sz="1000" dirty="0"/>
          </a:p>
        </p:txBody>
      </p:sp>
      <p:sp>
        <p:nvSpPr>
          <p:cNvPr id="25" name="Text 22"/>
          <p:cNvSpPr/>
          <p:nvPr/>
        </p:nvSpPr>
        <p:spPr>
          <a:xfrm>
            <a:off x="10652760" y="3657600"/>
            <a:ext cx="914400" cy="274320"/>
          </a:xfrm>
          <a:prstGeom prst="rect">
            <a:avLst/>
          </a:prstGeom>
          <a:noFill/>
          <a:ln/>
        </p:spPr>
        <p:txBody>
          <a:bodyPr wrap="square" lIns="0" tIns="0" rIns="0" bIns="0" rtlCol="0" anchor="ctr"/>
          <a:lstStyle/>
          <a:p>
            <a:pPr marL="0" indent="0" algn="ctr">
              <a:buNone/>
            </a:pPr>
            <a:r>
              <a:rPr lang="en-US" sz="1000" dirty="0">
                <a:solidFill>
                  <a:srgbClr val="5C6B7A"/>
                </a:solidFill>
                <a:latin typeface="Calibri" pitchFamily="34" charset="0"/>
                <a:ea typeface="Calibri" pitchFamily="34" charset="-122"/>
                <a:cs typeface="Calibri" pitchFamily="34" charset="-120"/>
              </a:rPr>
              <a:t>max</a:t>
            </a:r>
            <a:endParaRPr lang="en-US" sz="1000" dirty="0"/>
          </a:p>
        </p:txBody>
      </p:sp>
      <p:sp>
        <p:nvSpPr>
          <p:cNvPr id="26" name="Text 23"/>
          <p:cNvSpPr/>
          <p:nvPr/>
        </p:nvSpPr>
        <p:spPr>
          <a:xfrm>
            <a:off x="6309360" y="4160520"/>
            <a:ext cx="5212080" cy="365760"/>
          </a:xfrm>
          <a:prstGeom prst="rect">
            <a:avLst/>
          </a:prstGeom>
          <a:noFill/>
          <a:ln/>
        </p:spPr>
        <p:txBody>
          <a:bodyPr wrap="square" lIns="0" tIns="0" rIns="0" bIns="0" rtlCol="0" anchor="ctr"/>
          <a:lstStyle/>
          <a:p>
            <a:pPr marL="0" indent="0" algn="ctr">
              <a:buNone/>
            </a:pPr>
            <a:r>
              <a:rPr lang="en-US" sz="1050" i="1" dirty="0">
                <a:solidFill>
                  <a:srgbClr val="5C6B7A"/>
                </a:solidFill>
                <a:latin typeface="Calibri" pitchFamily="34" charset="0"/>
                <a:ea typeface="Calibri" pitchFamily="34" charset="-122"/>
                <a:cs typeface="Calibri" pitchFamily="34" charset="-120"/>
              </a:rPr>
              <a:t>the box spans the middle 50% (IQR); whiskers reach the rest</a:t>
            </a:r>
            <a:endParaRPr lang="en-US" sz="1050" dirty="0"/>
          </a:p>
        </p:txBody>
      </p:sp>
      <p:sp>
        <p:nvSpPr>
          <p:cNvPr id="27" name="Shape 24"/>
          <p:cNvSpPr/>
          <p:nvPr/>
        </p:nvSpPr>
        <p:spPr>
          <a:xfrm>
            <a:off x="548640" y="5138928"/>
            <a:ext cx="11091672" cy="566928"/>
          </a:xfrm>
          <a:prstGeom prst="roundRect">
            <a:avLst>
              <a:gd name="adj" fmla="val 11290"/>
            </a:avLst>
          </a:prstGeom>
          <a:solidFill>
            <a:srgbClr val="FBF1D8"/>
          </a:solidFill>
          <a:ln/>
        </p:spPr>
      </p:sp>
      <p:sp>
        <p:nvSpPr>
          <p:cNvPr id="28" name="Shape 25"/>
          <p:cNvSpPr/>
          <p:nvPr/>
        </p:nvSpPr>
        <p:spPr>
          <a:xfrm>
            <a:off x="694944" y="5257800"/>
            <a:ext cx="329184" cy="329184"/>
          </a:xfrm>
          <a:prstGeom prst="ellipse">
            <a:avLst/>
          </a:prstGeom>
          <a:solidFill>
            <a:srgbClr val="F4B942"/>
          </a:solidFill>
          <a:ln/>
        </p:spPr>
      </p:sp>
      <p:pic>
        <p:nvPicPr>
          <p:cNvPr id="29" name="Image 1" descr="ic_flask_navy.png"/>
          <p:cNvPicPr>
            <a:picLocks noChangeAspect="1"/>
          </p:cNvPicPr>
          <p:nvPr/>
        </p:nvPicPr>
        <p:blipFill>
          <a:blip r:embed="rId4"/>
          <a:stretch>
            <a:fillRect/>
          </a:stretch>
        </p:blipFill>
        <p:spPr>
          <a:xfrm>
            <a:off x="777240" y="5340096"/>
            <a:ext cx="164592" cy="164592"/>
          </a:xfrm>
          <a:prstGeom prst="rect">
            <a:avLst/>
          </a:prstGeom>
        </p:spPr>
      </p:pic>
      <p:sp>
        <p:nvSpPr>
          <p:cNvPr id="30" name="Text 26"/>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Compute the five-number summary and read a box plot of a column.</a:t>
            </a:r>
            <a:endParaRPr lang="en-US" sz="1100" dirty="0"/>
          </a:p>
        </p:txBody>
      </p:sp>
      <p:sp>
        <p:nvSpPr>
          <p:cNvPr id="31" name="Text 27"/>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32" name="Text 28"/>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8</a:t>
            </a:r>
            <a:endParaRPr lang="en-US" sz="950" dirty="0"/>
          </a:p>
        </p:txBody>
      </p:sp>
      <p:sp>
        <p:nvSpPr>
          <p:cNvPr id="40" name="Worked Example 8"/>
          <p:cNvSpPr/>
          <p:nvPr/>
        </p:nvSpPr>
        <p:spPr>
          <a:xfrm>
            <a:off x="6309360" y="4600000"/>
            <a:ext cx="5212080" cy="480000"/>
          </a:xfrm>
          <a:prstGeom prst="rect">
            <a:avLst/>
          </a:prstGeom>
          <a:noFill/>
          <a:ln/>
        </p:spPr>
        <p:txBody>
          <a:bodyPr wrap="square" lIns="0" tIns="0" rIns="0" bIns="0" rtlCol="0" anchor="ctr"/>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scores: min 42, Q1 61, median 74, Q3 85, max 99. IQR = 24, so outliers lie below 25 or above 121.</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822960" y="1463040"/>
            <a:ext cx="7315200" cy="320040"/>
          </a:xfrm>
          <a:prstGeom prst="rect">
            <a:avLst/>
          </a:prstGeom>
          <a:noFill/>
          <a:ln/>
        </p:spPr>
        <p:txBody>
          <a:bodyPr wrap="square" lIns="0" tIns="0" rIns="0" bIns="0" rtlCol="0" anchor="ctr"/>
          <a:lstStyle/>
          <a:p>
            <a:pPr marL="0" indent="0">
              <a:buNone/>
            </a:pPr>
            <a:r>
              <a:rPr lang="en-US" sz="1200" b="1" kern="0" spc="400" dirty="0">
                <a:solidFill>
                  <a:srgbClr val="F4B942"/>
                </a:solidFill>
                <a:latin typeface="Calibri" pitchFamily="34" charset="0"/>
                <a:ea typeface="Calibri" pitchFamily="34" charset="-122"/>
                <a:cs typeface="Calibri" pitchFamily="34" charset="-120"/>
              </a:rPr>
              <a:t>AI / ML TRAINING  ·  PROBABILITY &amp; STATISTICS</a:t>
            </a:r>
            <a:endParaRPr lang="en-US" sz="1200" dirty="0"/>
          </a:p>
        </p:txBody>
      </p:sp>
      <p:sp>
        <p:nvSpPr>
          <p:cNvPr id="3" name="Text 1"/>
          <p:cNvSpPr txBox="1"/>
          <p:nvPr/>
        </p:nvSpPr>
        <p:spPr>
          <a:xfrm>
            <a:off x="822960" y="1920240"/>
            <a:ext cx="6400800" cy="118872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Skewness</a:t>
            </a:r>
            <a:endParaRPr lang="en-US" sz="6400" dirty="0"/>
          </a:p>
        </p:txBody>
      </p:sp>
      <p:sp>
        <p:nvSpPr>
          <p:cNvPr id="4" name="Text 2"/>
          <p:cNvSpPr txBox="1"/>
          <p:nvPr/>
        </p:nvSpPr>
        <p:spPr>
          <a:xfrm>
            <a:off x="822960" y="3154680"/>
            <a:ext cx="6400800" cy="548640"/>
          </a:xfrm>
          <a:prstGeom prst="rect">
            <a:avLst/>
          </a:prstGeom>
          <a:noFill/>
          <a:ln/>
        </p:spPr>
        <p:txBody>
          <a:bodyPr wrap="square" lIns="0" tIns="0" rIns="0" bIns="0" rtlCol="0" anchor="ctr"/>
          <a:lstStyle/>
          <a:p>
            <a:pPr marL="0" indent="0">
              <a:buNone/>
            </a:pPr>
            <a:r>
              <a:rPr lang="en-US" sz="2600" i="1" dirty="0">
                <a:solidFill>
                  <a:srgbClr val="F4B942"/>
                </a:solidFill>
                <a:latin typeface="Cambria" pitchFamily="34" charset="0"/>
                <a:ea typeface="Cambria" pitchFamily="34" charset="-122"/>
                <a:cs typeface="Cambria" pitchFamily="34" charset="-120"/>
              </a:rPr>
              <a:t>How lopsided is your data?</a:t>
            </a:r>
            <a:endParaRPr lang="en-US" sz="2600" dirty="0"/>
          </a:p>
        </p:txBody>
      </p:sp>
      <p:sp>
        <p:nvSpPr>
          <p:cNvPr id="5" name="Text 3"/>
          <p:cNvSpPr txBox="1"/>
          <p:nvPr/>
        </p:nvSpPr>
        <p:spPr>
          <a:xfrm>
            <a:off x="822960" y="4023360"/>
            <a:ext cx="6217920" cy="731520"/>
          </a:xfrm>
          <a:prstGeom prst="rect">
            <a:avLst/>
          </a:prstGeom>
          <a:noFill/>
          <a:ln/>
        </p:spPr>
        <p:txBody>
          <a:bodyPr wrap="square" lIns="0" tIns="0" rIns="0" bIns="0" rtlCol="0" anchor="ctr"/>
          <a:lstStyle/>
          <a:p>
            <a:pPr marL="0" indent="0">
              <a:buNone/>
            </a:pPr>
            <a:r>
              <a:rPr lang="en-US" sz="1600" b="1" dirty="0">
                <a:solidFill>
                  <a:srgbClr val="DCE7F2"/>
                </a:solidFill>
                <a:latin typeface="Calibri" pitchFamily="34" charset="0"/>
                <a:ea typeface="Calibri" pitchFamily="34" charset="-122"/>
                <a:cs typeface="Calibri" pitchFamily="34" charset="-120"/>
              </a:rPr>
              <a:t>Symmetric · positive · negative · the formula · skewness in data science</a:t>
            </a:r>
            <a:endParaRPr lang="en-US" sz="1600" b="1" dirty="0"/>
          </a:p>
        </p:txBody>
      </p:sp>
      <p:sp>
        <p:nvSpPr>
          <p:cNvPr id="6" name="Shape 4"/>
          <p:cNvSpPr/>
          <p:nvPr/>
        </p:nvSpPr>
        <p:spPr>
          <a:xfrm>
            <a:off x="7498080" y="1371600"/>
            <a:ext cx="4114800" cy="3931920"/>
          </a:xfrm>
          <a:prstGeom prst="roundRect">
            <a:avLst>
              <a:gd name="adj" fmla="val 2791"/>
            </a:avLst>
          </a:prstGeom>
          <a:solidFill>
            <a:srgbClr val="1F3556"/>
          </a:solidFill>
          <a:ln w="12700">
            <a:solidFill>
              <a:srgbClr val="1F3556"/>
            </a:solidFill>
            <a:prstDash val="solid"/>
          </a:ln>
        </p:spPr>
      </p:sp>
      <p:graphicFrame>
        <p:nvGraphicFramePr>
          <p:cNvPr id="7" name="Chart 0"/>
          <p:cNvGraphicFramePr/>
          <p:nvPr/>
        </p:nvGraphicFramePr>
        <p:xfrm>
          <a:off x="7680960" y="1737360"/>
          <a:ext cx="374904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8" name="Text 5"/>
          <p:cNvSpPr txBox="1"/>
          <p:nvPr/>
        </p:nvSpPr>
        <p:spPr>
          <a:xfrm>
            <a:off x="9052560" y="4572000"/>
            <a:ext cx="2377440" cy="365760"/>
          </a:xfrm>
          <a:prstGeom prst="rect">
            <a:avLst/>
          </a:prstGeom>
          <a:noFill/>
          <a:ln/>
        </p:spPr>
        <p:txBody>
          <a:bodyPr wrap="square" lIns="0" tIns="0" rIns="0" bIns="0" rtlCol="0" anchor="ctr"/>
          <a:lstStyle/>
          <a:p>
            <a:pPr marL="0" indent="0" algn="r">
              <a:buNone/>
            </a:pPr>
            <a:r>
              <a:rPr lang="en-US" sz="1400" i="1" dirty="0">
                <a:solidFill>
                  <a:srgbClr val="DCE7F2"/>
                </a:solidFill>
                <a:latin typeface="Calibri" pitchFamily="34" charset="0"/>
                <a:ea typeface="Calibri" pitchFamily="34" charset="-122"/>
                <a:cs typeface="Calibri" pitchFamily="34" charset="-120"/>
              </a:rPr>
              <a:t>long tail  →</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THE BIG IDEA</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What is skewness?</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2</a:t>
            </a:r>
            <a:endParaRPr lang="en-US" sz="1000" dirty="0"/>
          </a:p>
        </p:txBody>
      </p:sp>
      <p:sp>
        <p:nvSpPr>
          <p:cNvPr id="9" name="Shape 6"/>
          <p:cNvSpPr/>
          <p:nvPr/>
        </p:nvSpPr>
        <p:spPr>
          <a:xfrm>
            <a:off x="548640" y="1463040"/>
            <a:ext cx="11094415" cy="1188720"/>
          </a:xfrm>
          <a:prstGeom prst="roundRect">
            <a:avLst>
              <a:gd name="adj" fmla="val 6154"/>
            </a:avLst>
          </a:prstGeom>
          <a:solidFill>
            <a:srgbClr val="16263F"/>
          </a:solidFill>
          <a:ln w="12700">
            <a:solidFill>
              <a:srgbClr val="16263F"/>
            </a:solidFill>
            <a:prstDash val="solid"/>
          </a:ln>
        </p:spPr>
      </p:sp>
      <p:sp>
        <p:nvSpPr>
          <p:cNvPr id="10" name="Text 7"/>
          <p:cNvSpPr txBox="1"/>
          <p:nvPr/>
        </p:nvSpPr>
        <p:spPr>
          <a:xfrm>
            <a:off x="868680" y="1463040"/>
            <a:ext cx="10454335" cy="1188720"/>
          </a:xfrm>
          <a:prstGeom prst="rect">
            <a:avLst/>
          </a:prstGeom>
          <a:noFill/>
          <a:ln/>
        </p:spPr>
        <p:txBody>
          <a:bodyPr wrap="square" lIns="0" tIns="0" rIns="0" bIns="0" rtlCol="0" anchor="ctr"/>
          <a:lstStyle/>
          <a:p>
            <a:pPr marL="0" indent="0">
              <a:spcAft>
                <a:spcPts val="600"/>
              </a:spcAft>
              <a:buNone/>
            </a:pPr>
            <a:r>
              <a:rPr lang="en-US" sz="1700" b="1" dirty="0">
                <a:solidFill>
                  <a:srgbClr val="F4B942"/>
                </a:solidFill>
                <a:latin typeface="Calibri" pitchFamily="34" charset="0"/>
                <a:ea typeface="Calibri" pitchFamily="34" charset="-122"/>
                <a:cs typeface="Calibri" pitchFamily="34" charset="-120"/>
              </a:rPr>
              <a:t>Skewness </a:t>
            </a:r>
            <a:r>
              <a:rPr lang="en-US" sz="1700" dirty="0">
                <a:solidFill>
                  <a:srgbClr val="FFFFFF"/>
                </a:solidFill>
                <a:latin typeface="Calibri" pitchFamily="34" charset="0"/>
                <a:ea typeface="Calibri" pitchFamily="34" charset="-122"/>
                <a:cs typeface="Calibri" pitchFamily="34" charset="-120"/>
              </a:rPr>
              <a:t>measures how asymmetric a distribution is around its mean.</a:t>
            </a:r>
            <a:endParaRPr lang="en-US" sz="1700" dirty="0"/>
          </a:p>
          <a:p>
            <a:pPr marL="0" indent="0">
              <a:spcAft>
                <a:spcPts val="600"/>
              </a:spcAft>
              <a:buNone/>
            </a:pPr>
            <a:r>
              <a:rPr lang="en-US" sz="1700" b="1" dirty="0">
                <a:solidFill>
                  <a:srgbClr val="F4B942"/>
                </a:solidFill>
                <a:latin typeface="Calibri" pitchFamily="34" charset="0"/>
                <a:ea typeface="Calibri" pitchFamily="34" charset="-122"/>
                <a:cs typeface="Calibri" pitchFamily="34" charset="-120"/>
              </a:rPr>
              <a:t>In simple words: </a:t>
            </a:r>
            <a:r>
              <a:rPr lang="en-US" sz="1700" dirty="0">
                <a:solidFill>
                  <a:srgbClr val="FFFFFF"/>
                </a:solidFill>
                <a:latin typeface="Calibri" pitchFamily="34" charset="0"/>
                <a:ea typeface="Calibri" pitchFamily="34" charset="-122"/>
                <a:cs typeface="Calibri" pitchFamily="34" charset="-120"/>
              </a:rPr>
              <a:t>it tells us whether the data is pulled more toward the left or the right.</a:t>
            </a:r>
            <a:endParaRPr lang="en-US" sz="1700" dirty="0"/>
          </a:p>
        </p:txBody>
      </p:sp>
      <p:sp>
        <p:nvSpPr>
          <p:cNvPr id="11" name="Shape 8"/>
          <p:cNvSpPr/>
          <p:nvPr/>
        </p:nvSpPr>
        <p:spPr>
          <a:xfrm>
            <a:off x="548640" y="2926080"/>
            <a:ext cx="3593592" cy="3200400"/>
          </a:xfrm>
          <a:prstGeom prst="roundRect">
            <a:avLst>
              <a:gd name="adj" fmla="val 2286"/>
            </a:avLst>
          </a:prstGeom>
          <a:solidFill>
            <a:srgbClr val="F1F5FA"/>
          </a:solidFill>
          <a:ln w="12700">
            <a:solidFill>
              <a:srgbClr val="F1F5FA"/>
            </a:solidFill>
            <a:prstDash val="solid"/>
          </a:ln>
        </p:spPr>
      </p:sp>
      <p:graphicFrame>
        <p:nvGraphicFramePr>
          <p:cNvPr id="12" name="Chart 0"/>
          <p:cNvGraphicFramePr/>
          <p:nvPr/>
        </p:nvGraphicFramePr>
        <p:xfrm>
          <a:off x="731520" y="3108960"/>
          <a:ext cx="3227832" cy="1920240"/>
        </p:xfrm>
        <a:graphic>
          <a:graphicData uri="http://schemas.openxmlformats.org/drawingml/2006/chart">
            <c:chart xmlns:c="http://schemas.openxmlformats.org/drawingml/2006/chart" xmlns:r="http://schemas.openxmlformats.org/officeDocument/2006/relationships" r:id="rId3"/>
          </a:graphicData>
        </a:graphic>
      </p:graphicFrame>
      <p:sp>
        <p:nvSpPr>
          <p:cNvPr id="13" name="Text 9"/>
          <p:cNvSpPr txBox="1"/>
          <p:nvPr/>
        </p:nvSpPr>
        <p:spPr>
          <a:xfrm>
            <a:off x="777240" y="5120640"/>
            <a:ext cx="3136392" cy="365760"/>
          </a:xfrm>
          <a:prstGeom prst="rect">
            <a:avLst/>
          </a:prstGeom>
          <a:noFill/>
          <a:ln/>
        </p:spPr>
        <p:txBody>
          <a:bodyPr wrap="square" lIns="0" tIns="0" rIns="0" bIns="0" rtlCol="0" anchor="ctr"/>
          <a:lstStyle/>
          <a:p>
            <a:pPr marL="0" indent="0">
              <a:buNone/>
            </a:pPr>
            <a:r>
              <a:rPr lang="en-US" sz="1700" b="1" dirty="0">
                <a:solidFill>
                  <a:srgbClr val="16263F"/>
                </a:solidFill>
                <a:latin typeface="Cambria" pitchFamily="34" charset="0"/>
                <a:ea typeface="Cambria" pitchFamily="34" charset="-122"/>
                <a:cs typeface="Cambria" pitchFamily="34" charset="-120"/>
              </a:rPr>
              <a:t>Symmetric</a:t>
            </a:r>
            <a:endParaRPr lang="en-US" sz="1700" dirty="0"/>
          </a:p>
        </p:txBody>
      </p:sp>
      <p:sp>
        <p:nvSpPr>
          <p:cNvPr id="14" name="Text 10"/>
          <p:cNvSpPr txBox="1"/>
          <p:nvPr/>
        </p:nvSpPr>
        <p:spPr>
          <a:xfrm>
            <a:off x="777240" y="5532120"/>
            <a:ext cx="3136392" cy="54864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Equal on both sides — balanced around the centre.</a:t>
            </a:r>
            <a:endParaRPr lang="en-US" sz="1400" dirty="0"/>
          </a:p>
        </p:txBody>
      </p:sp>
      <p:sp>
        <p:nvSpPr>
          <p:cNvPr id="15" name="Shape 11"/>
          <p:cNvSpPr/>
          <p:nvPr/>
        </p:nvSpPr>
        <p:spPr>
          <a:xfrm>
            <a:off x="4297680" y="2926080"/>
            <a:ext cx="3593592" cy="3200400"/>
          </a:xfrm>
          <a:prstGeom prst="roundRect">
            <a:avLst>
              <a:gd name="adj" fmla="val 2286"/>
            </a:avLst>
          </a:prstGeom>
          <a:solidFill>
            <a:srgbClr val="F1F5FA"/>
          </a:solidFill>
          <a:ln w="12700">
            <a:solidFill>
              <a:srgbClr val="F1F5FA"/>
            </a:solidFill>
            <a:prstDash val="solid"/>
          </a:ln>
        </p:spPr>
      </p:sp>
      <p:graphicFrame>
        <p:nvGraphicFramePr>
          <p:cNvPr id="16" name="Chart 1"/>
          <p:cNvGraphicFramePr/>
          <p:nvPr/>
        </p:nvGraphicFramePr>
        <p:xfrm>
          <a:off x="4480560" y="3108960"/>
          <a:ext cx="3227832" cy="1920240"/>
        </p:xfrm>
        <a:graphic>
          <a:graphicData uri="http://schemas.openxmlformats.org/drawingml/2006/chart">
            <c:chart xmlns:c="http://schemas.openxmlformats.org/drawingml/2006/chart" xmlns:r="http://schemas.openxmlformats.org/officeDocument/2006/relationships" r:id="rId4"/>
          </a:graphicData>
        </a:graphic>
      </p:graphicFrame>
      <p:sp>
        <p:nvSpPr>
          <p:cNvPr id="17" name="Text 12"/>
          <p:cNvSpPr txBox="1"/>
          <p:nvPr/>
        </p:nvSpPr>
        <p:spPr>
          <a:xfrm>
            <a:off x="4526280" y="5120640"/>
            <a:ext cx="3136392" cy="365760"/>
          </a:xfrm>
          <a:prstGeom prst="rect">
            <a:avLst/>
          </a:prstGeom>
          <a:noFill/>
          <a:ln/>
        </p:spPr>
        <p:txBody>
          <a:bodyPr wrap="square" lIns="0" tIns="0" rIns="0" bIns="0" rtlCol="0" anchor="ctr"/>
          <a:lstStyle/>
          <a:p>
            <a:pPr marL="0" indent="0">
              <a:buNone/>
            </a:pPr>
            <a:r>
              <a:rPr lang="en-US" sz="1700" b="1" dirty="0">
                <a:solidFill>
                  <a:srgbClr val="16263F"/>
                </a:solidFill>
                <a:latin typeface="Cambria" pitchFamily="34" charset="0"/>
                <a:ea typeface="Cambria" pitchFamily="34" charset="-122"/>
                <a:cs typeface="Cambria" pitchFamily="34" charset="-120"/>
              </a:rPr>
              <a:t>Positive skew (right-skewed)</a:t>
            </a:r>
            <a:endParaRPr lang="en-US" sz="1700" dirty="0"/>
          </a:p>
        </p:txBody>
      </p:sp>
      <p:sp>
        <p:nvSpPr>
          <p:cNvPr id="18" name="Text 13"/>
          <p:cNvSpPr txBox="1"/>
          <p:nvPr/>
        </p:nvSpPr>
        <p:spPr>
          <a:xfrm>
            <a:off x="4526280" y="5532120"/>
            <a:ext cx="3136392" cy="54864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Long tail on the right — a few very high values.</a:t>
            </a:r>
            <a:endParaRPr lang="en-US" sz="1400" dirty="0"/>
          </a:p>
        </p:txBody>
      </p:sp>
      <p:sp>
        <p:nvSpPr>
          <p:cNvPr id="19" name="Shape 14"/>
          <p:cNvSpPr/>
          <p:nvPr/>
        </p:nvSpPr>
        <p:spPr>
          <a:xfrm>
            <a:off x="8046720" y="2926080"/>
            <a:ext cx="3593592" cy="3200400"/>
          </a:xfrm>
          <a:prstGeom prst="roundRect">
            <a:avLst>
              <a:gd name="adj" fmla="val 2286"/>
            </a:avLst>
          </a:prstGeom>
          <a:solidFill>
            <a:srgbClr val="F1F5FA"/>
          </a:solidFill>
          <a:ln w="12700">
            <a:solidFill>
              <a:srgbClr val="F1F5FA"/>
            </a:solidFill>
            <a:prstDash val="solid"/>
          </a:ln>
        </p:spPr>
      </p:sp>
      <p:graphicFrame>
        <p:nvGraphicFramePr>
          <p:cNvPr id="20" name="Chart 2"/>
          <p:cNvGraphicFramePr/>
          <p:nvPr/>
        </p:nvGraphicFramePr>
        <p:xfrm>
          <a:off x="8229600" y="3108960"/>
          <a:ext cx="3227832" cy="1920240"/>
        </p:xfrm>
        <a:graphic>
          <a:graphicData uri="http://schemas.openxmlformats.org/drawingml/2006/chart">
            <c:chart xmlns:c="http://schemas.openxmlformats.org/drawingml/2006/chart" xmlns:r="http://schemas.openxmlformats.org/officeDocument/2006/relationships" r:id="rId5"/>
          </a:graphicData>
        </a:graphic>
      </p:graphicFrame>
      <p:sp>
        <p:nvSpPr>
          <p:cNvPr id="21" name="Text 15"/>
          <p:cNvSpPr txBox="1"/>
          <p:nvPr/>
        </p:nvSpPr>
        <p:spPr>
          <a:xfrm>
            <a:off x="8275320" y="5120640"/>
            <a:ext cx="3136392" cy="365760"/>
          </a:xfrm>
          <a:prstGeom prst="rect">
            <a:avLst/>
          </a:prstGeom>
          <a:noFill/>
          <a:ln/>
        </p:spPr>
        <p:txBody>
          <a:bodyPr wrap="square" lIns="0" tIns="0" rIns="0" bIns="0" rtlCol="0" anchor="ctr"/>
          <a:lstStyle/>
          <a:p>
            <a:pPr marL="0" indent="0">
              <a:buNone/>
            </a:pPr>
            <a:r>
              <a:rPr lang="en-US" sz="1700" b="1" dirty="0">
                <a:solidFill>
                  <a:srgbClr val="16263F"/>
                </a:solidFill>
                <a:latin typeface="Cambria" pitchFamily="34" charset="0"/>
                <a:ea typeface="Cambria" pitchFamily="34" charset="-122"/>
                <a:cs typeface="Cambria" pitchFamily="34" charset="-120"/>
              </a:rPr>
              <a:t>Negative skew (left-skewed)</a:t>
            </a:r>
            <a:endParaRPr lang="en-US" sz="1700" dirty="0"/>
          </a:p>
        </p:txBody>
      </p:sp>
      <p:sp>
        <p:nvSpPr>
          <p:cNvPr id="22" name="Text 16"/>
          <p:cNvSpPr txBox="1"/>
          <p:nvPr/>
        </p:nvSpPr>
        <p:spPr>
          <a:xfrm>
            <a:off x="8275320" y="5532120"/>
            <a:ext cx="3136392" cy="54864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Long tail on the left — a few very low values.</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THREE CASES</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Types of skewness</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3</a:t>
            </a:r>
            <a:endParaRPr lang="en-US" sz="1000" dirty="0"/>
          </a:p>
        </p:txBody>
      </p:sp>
      <p:graphicFrame>
        <p:nvGraphicFramePr>
          <p:cNvPr id="8" name="Table 0"/>
          <p:cNvGraphicFramePr>
            <a:graphicFrameLocks noGrp="1"/>
          </p:cNvGraphicFramePr>
          <p:nvPr/>
        </p:nvGraphicFramePr>
        <p:xfrm>
          <a:off x="548640" y="1554480"/>
          <a:ext cx="11094415" cy="3200400"/>
        </p:xfrm>
        <a:graphic>
          <a:graphicData uri="http://schemas.openxmlformats.org/drawingml/2006/table">
            <a:tbl>
              <a:tblPr/>
              <a:tblGrid>
                <a:gridCol w="265176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2926080">
                  <a:extLst>
                    <a:ext uri="{9D8B030D-6E8A-4147-A177-3AD203B41FA5}">
                      <a16:colId xmlns:a16="http://schemas.microsoft.com/office/drawing/2014/main" val="20002"/>
                    </a:ext>
                  </a:extLst>
                </a:gridCol>
                <a:gridCol w="2590495">
                  <a:extLst>
                    <a:ext uri="{9D8B030D-6E8A-4147-A177-3AD203B41FA5}">
                      <a16:colId xmlns:a16="http://schemas.microsoft.com/office/drawing/2014/main" val="20003"/>
                    </a:ext>
                  </a:extLst>
                </a:gridCol>
              </a:tblGrid>
              <a:tr h="59436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Type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Shape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Relationship</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extLst>
                  <a:ext uri="{0D108BD9-81ED-4DB2-BD59-A6C34878D82A}">
                    <a16:rowId xmlns:a16="http://schemas.microsoft.com/office/drawing/2014/main" val="10000"/>
                  </a:ext>
                </a:extLst>
              </a:tr>
              <a:tr h="868680">
                <a:tc>
                  <a:txBody>
                    <a:bodyPr/>
                    <a:lstStyle/>
                    <a:p>
                      <a:pPr marL="0" indent="0">
                        <a:buNone/>
                      </a:pPr>
                      <a:r>
                        <a:rPr lang="en-US" sz="1500" b="1" dirty="0">
                          <a:solidFill>
                            <a:srgbClr val="2D6A9F"/>
                          </a:solidFill>
                          <a:latin typeface="Calibri" pitchFamily="34" charset="0"/>
                          <a:ea typeface="Calibri" pitchFamily="34" charset="-122"/>
                          <a:cs typeface="Calibri" pitchFamily="34" charset="-120"/>
                        </a:rPr>
                        <a:t>Symmetric</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Equal on both sides</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Mean ≈ Median ≈ Mode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Height of adults</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868680">
                <a:tc>
                  <a:txBody>
                    <a:bodyPr/>
                    <a:lstStyle/>
                    <a:p>
                      <a:pPr marL="0" indent="0">
                        <a:buNone/>
                      </a:pPr>
                      <a:r>
                        <a:rPr lang="en-US" sz="1500" b="1" dirty="0">
                          <a:solidFill>
                            <a:srgbClr val="9A6B00"/>
                          </a:solidFill>
                          <a:latin typeface="Calibri" pitchFamily="34" charset="0"/>
                          <a:ea typeface="Calibri" pitchFamily="34" charset="-122"/>
                          <a:cs typeface="Calibri" pitchFamily="34" charset="-120"/>
                        </a:rPr>
                        <a:t>Positive skewness</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F6E6"/>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Long tail on the right</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F6E6"/>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Mean &gt; Median &gt; Mode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F6E6"/>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Income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DF6E6"/>
                    </a:solidFill>
                  </a:tcPr>
                </a:tc>
                <a:extLst>
                  <a:ext uri="{0D108BD9-81ED-4DB2-BD59-A6C34878D82A}">
                    <a16:rowId xmlns:a16="http://schemas.microsoft.com/office/drawing/2014/main" val="10002"/>
                  </a:ext>
                </a:extLst>
              </a:tr>
              <a:tr h="868680">
                <a:tc>
                  <a:txBody>
                    <a:bodyPr/>
                    <a:lstStyle/>
                    <a:p>
                      <a:pPr marL="0" indent="0">
                        <a:buNone/>
                      </a:pPr>
                      <a:r>
                        <a:rPr lang="en-US" sz="1500" b="1" dirty="0">
                          <a:solidFill>
                            <a:srgbClr val="2A9D95"/>
                          </a:solidFill>
                          <a:latin typeface="Calibri" pitchFamily="34" charset="0"/>
                          <a:ea typeface="Calibri" pitchFamily="34" charset="-122"/>
                          <a:cs typeface="Calibri" pitchFamily="34" charset="-120"/>
                        </a:rPr>
                        <a:t>Negative skewness</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6F5"/>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Long tail on the left</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6F5"/>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Mean &lt; Median &lt; Mode</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6F5"/>
                    </a:solidFill>
                  </a:tcPr>
                </a:tc>
                <a:tc>
                  <a:txBody>
                    <a:bodyPr/>
                    <a:lstStyle/>
                    <a:p>
                      <a:pPr marL="0" indent="0">
                        <a:buNone/>
                      </a:pPr>
                      <a:r>
                        <a:rPr lang="en-US" sz="1500" dirty="0">
                          <a:solidFill>
                            <a:srgbClr val="1B2733"/>
                          </a:solidFill>
                          <a:latin typeface="Calibri" pitchFamily="34" charset="0"/>
                          <a:ea typeface="Calibri" pitchFamily="34" charset="-122"/>
                          <a:cs typeface="Calibri" pitchFamily="34" charset="-120"/>
                        </a:rPr>
                        <a:t>Easy exam scores</a:t>
                      </a:r>
                      <a:endParaRPr lang="en-US" sz="15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EAF6F5"/>
                    </a:solidFill>
                  </a:tcPr>
                </a:tc>
                <a:extLst>
                  <a:ext uri="{0D108BD9-81ED-4DB2-BD59-A6C34878D82A}">
                    <a16:rowId xmlns:a16="http://schemas.microsoft.com/office/drawing/2014/main" val="10003"/>
                  </a:ext>
                </a:extLst>
              </a:tr>
            </a:tbl>
          </a:graphicData>
        </a:graphic>
      </p:graphicFrame>
      <p:sp>
        <p:nvSpPr>
          <p:cNvPr id="10" name="Shape 6"/>
          <p:cNvSpPr/>
          <p:nvPr/>
        </p:nvSpPr>
        <p:spPr>
          <a:xfrm>
            <a:off x="548640" y="5120640"/>
            <a:ext cx="11094415" cy="1051560"/>
          </a:xfrm>
          <a:prstGeom prst="roundRect">
            <a:avLst>
              <a:gd name="adj" fmla="val 6957"/>
            </a:avLst>
          </a:prstGeom>
          <a:solidFill>
            <a:srgbClr val="FBF0D9"/>
          </a:solidFill>
          <a:ln w="12700">
            <a:solidFill>
              <a:srgbClr val="FBF0D9"/>
            </a:solidFill>
            <a:prstDash val="solid"/>
          </a:ln>
        </p:spPr>
      </p:sp>
      <p:sp>
        <p:nvSpPr>
          <p:cNvPr id="11" name="Text 7"/>
          <p:cNvSpPr txBox="1"/>
          <p:nvPr/>
        </p:nvSpPr>
        <p:spPr>
          <a:xfrm>
            <a:off x="822960" y="5120640"/>
            <a:ext cx="10545775" cy="1051560"/>
          </a:xfrm>
          <a:prstGeom prst="rect">
            <a:avLst/>
          </a:prstGeom>
          <a:noFill/>
          <a:ln/>
        </p:spPr>
        <p:txBody>
          <a:bodyPr wrap="square" lIns="0" tIns="0" rIns="0" bIns="0" rtlCol="0" anchor="ctr"/>
          <a:lstStyle/>
          <a:p>
            <a:pPr marL="0" indent="0">
              <a:buNone/>
            </a:pPr>
            <a:r>
              <a:rPr lang="en-US" sz="1500" b="1" dirty="0">
                <a:solidFill>
                  <a:srgbClr val="9A6B00"/>
                </a:solidFill>
                <a:latin typeface="Calibri" pitchFamily="34" charset="0"/>
                <a:ea typeface="Calibri" pitchFamily="34" charset="-122"/>
                <a:cs typeface="Calibri" pitchFamily="34" charset="-120"/>
              </a:rPr>
              <a:t>Memory trick   </a:t>
            </a:r>
            <a:r>
              <a:rPr lang="en-US" sz="1500" dirty="0">
                <a:solidFill>
                  <a:srgbClr val="1B2733"/>
                </a:solidFill>
                <a:latin typeface="Calibri" pitchFamily="34" charset="0"/>
                <a:ea typeface="Calibri" pitchFamily="34" charset="-122"/>
                <a:cs typeface="Calibri" pitchFamily="34" charset="-120"/>
              </a:rPr>
              <a:t>The tail names the skew, and the mean is dragged toward the tail — the mode stays at the peak, the median sits in between.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RIGHT TAIL</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Positive skewness</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4</a:t>
            </a:r>
            <a:endParaRPr lang="en-US" sz="1000" dirty="0"/>
          </a:p>
        </p:txBody>
      </p:sp>
      <p:sp>
        <p:nvSpPr>
          <p:cNvPr id="9" name="Text 6"/>
          <p:cNvSpPr txBox="1"/>
          <p:nvPr/>
        </p:nvSpPr>
        <p:spPr>
          <a:xfrm>
            <a:off x="548640" y="1554480"/>
            <a:ext cx="5212080" cy="274320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Positively skewed = a longer tail toward higher values.</a:t>
            </a:r>
            <a:endParaRPr lang="en-US" sz="1700" dirty="0"/>
          </a:p>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Most values are low; a few are very high.</a:t>
            </a:r>
            <a:endParaRPr lang="en-US" sz="1700" dirty="0"/>
          </a:p>
          <a:p>
            <a:pPr marL="203200" indent="-203200">
              <a:spcAft>
                <a:spcPts val="1400"/>
              </a:spcAft>
              <a:buSzPct val="100000"/>
              <a:buChar char="•"/>
            </a:pPr>
            <a:r>
              <a:rPr lang="en-US" sz="1700" b="1" dirty="0">
                <a:solidFill>
                  <a:srgbClr val="9A6B00"/>
                </a:solidFill>
                <a:latin typeface="Calibri" pitchFamily="34" charset="0"/>
                <a:ea typeface="Calibri" pitchFamily="34" charset="-122"/>
                <a:cs typeface="Calibri" pitchFamily="34" charset="-120"/>
              </a:rPr>
              <a:t>Mode &lt; Median &lt; Mean</a:t>
            </a:r>
            <a:endParaRPr lang="en-US" sz="1700" dirty="0"/>
          </a:p>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Everyday examples: income, house prices, waiting times.</a:t>
            </a:r>
            <a:endParaRPr lang="en-US" sz="1700" dirty="0"/>
          </a:p>
        </p:txBody>
      </p:sp>
      <p:sp>
        <p:nvSpPr>
          <p:cNvPr id="10" name="Shape 7"/>
          <p:cNvSpPr/>
          <p:nvPr/>
        </p:nvSpPr>
        <p:spPr>
          <a:xfrm>
            <a:off x="548640" y="4434840"/>
            <a:ext cx="5212080" cy="1645920"/>
          </a:xfrm>
          <a:prstGeom prst="roundRect">
            <a:avLst>
              <a:gd name="adj" fmla="val 4444"/>
            </a:avLst>
          </a:prstGeom>
          <a:solidFill>
            <a:srgbClr val="16263F"/>
          </a:solidFill>
          <a:ln w="12700">
            <a:solidFill>
              <a:srgbClr val="16263F"/>
            </a:solidFill>
            <a:prstDash val="solid"/>
          </a:ln>
        </p:spPr>
      </p:sp>
      <p:sp>
        <p:nvSpPr>
          <p:cNvPr id="11" name="Text 8"/>
          <p:cNvSpPr txBox="1"/>
          <p:nvPr/>
        </p:nvSpPr>
        <p:spPr>
          <a:xfrm>
            <a:off x="822960" y="4434840"/>
            <a:ext cx="4663440" cy="1645920"/>
          </a:xfrm>
          <a:prstGeom prst="rect">
            <a:avLst/>
          </a:prstGeom>
          <a:noFill/>
          <a:ln/>
        </p:spPr>
        <p:txBody>
          <a:bodyPr wrap="square" lIns="0" tIns="0" rIns="0" bIns="0" rtlCol="0" anchor="ctr"/>
          <a:lstStyle/>
          <a:p>
            <a:pPr marL="0" indent="0">
              <a:buNone/>
            </a:pPr>
            <a:r>
              <a:rPr lang="en-US" sz="1500" b="1" dirty="0">
                <a:solidFill>
                  <a:srgbClr val="F4B942"/>
                </a:solidFill>
                <a:latin typeface="Calibri" pitchFamily="34" charset="0"/>
                <a:ea typeface="Calibri" pitchFamily="34" charset="-122"/>
                <a:cs typeface="Calibri" pitchFamily="34" charset="-120"/>
              </a:rPr>
              <a:t>Why the order? </a:t>
            </a:r>
            <a:r>
              <a:rPr lang="en-US" sz="1500" dirty="0">
                <a:solidFill>
                  <a:srgbClr val="FFFFFF"/>
                </a:solidFill>
                <a:latin typeface="Calibri" pitchFamily="34" charset="0"/>
                <a:ea typeface="Calibri" pitchFamily="34" charset="-122"/>
                <a:cs typeface="Calibri" pitchFamily="34" charset="-120"/>
              </a:rPr>
              <a:t>The mean uses every value, so a few huge ones drag it right. The median only cares about position, so it barely moves.</a:t>
            </a:r>
            <a:endParaRPr lang="en-US" sz="1500" dirty="0"/>
          </a:p>
        </p:txBody>
      </p:sp>
      <p:sp>
        <p:nvSpPr>
          <p:cNvPr id="12" name="Shape 9"/>
          <p:cNvSpPr/>
          <p:nvPr/>
        </p:nvSpPr>
        <p:spPr>
          <a:xfrm>
            <a:off x="6035040" y="1508760"/>
            <a:ext cx="5605272" cy="2880360"/>
          </a:xfrm>
          <a:prstGeom prst="roundRect">
            <a:avLst>
              <a:gd name="adj" fmla="val 2540"/>
            </a:avLst>
          </a:prstGeom>
          <a:solidFill>
            <a:srgbClr val="F1F5FA"/>
          </a:solidFill>
          <a:ln w="12700">
            <a:solidFill>
              <a:srgbClr val="F1F5FA"/>
            </a:solidFill>
            <a:prstDash val="solid"/>
          </a:ln>
        </p:spPr>
      </p:sp>
      <p:sp>
        <p:nvSpPr>
          <p:cNvPr id="13" name="Text 10"/>
          <p:cNvSpPr txBox="1"/>
          <p:nvPr/>
        </p:nvSpPr>
        <p:spPr>
          <a:xfrm>
            <a:off x="6263640" y="1572768"/>
            <a:ext cx="5120640" cy="274320"/>
          </a:xfrm>
          <a:prstGeom prst="rect">
            <a:avLst/>
          </a:prstGeom>
          <a:noFill/>
          <a:ln/>
        </p:spPr>
        <p:txBody>
          <a:bodyPr wrap="square" lIns="0" tIns="0" rIns="0" bIns="0" rtlCol="0" anchor="ctr"/>
          <a:lstStyle/>
          <a:p>
            <a:pPr marL="0" indent="0">
              <a:buNone/>
            </a:pPr>
            <a:r>
              <a:rPr lang="en-US" sz="1300" b="1" dirty="0">
                <a:solidFill>
                  <a:srgbClr val="16263F"/>
                </a:solidFill>
                <a:latin typeface="Calibri" pitchFamily="34" charset="0"/>
                <a:ea typeface="Calibri" pitchFamily="34" charset="-122"/>
                <a:cs typeface="Calibri" pitchFamily="34" charset="-120"/>
              </a:rPr>
              <a:t>Right-skewed distribution</a:t>
            </a:r>
            <a:endParaRPr lang="en-US" sz="1300" dirty="0"/>
          </a:p>
        </p:txBody>
      </p:sp>
      <p:graphicFrame>
        <p:nvGraphicFramePr>
          <p:cNvPr id="14" name="Chart 0"/>
          <p:cNvGraphicFramePr/>
          <p:nvPr/>
        </p:nvGraphicFramePr>
        <p:xfrm>
          <a:off x="6172200" y="1874520"/>
          <a:ext cx="5330952"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6035040" y="4572000"/>
            <a:ext cx="5605272" cy="1508760"/>
          </a:xfrm>
          <a:prstGeom prst="roundRect">
            <a:avLst>
              <a:gd name="adj" fmla="val 4848"/>
            </a:avLst>
          </a:prstGeom>
          <a:solidFill>
            <a:srgbClr val="F1F5FA"/>
          </a:solidFill>
          <a:ln w="12700">
            <a:solidFill>
              <a:srgbClr val="F1F5FA"/>
            </a:solidFill>
            <a:prstDash val="solid"/>
          </a:ln>
        </p:spPr>
      </p:sp>
      <p:sp>
        <p:nvSpPr>
          <p:cNvPr id="16" name="Text 12"/>
          <p:cNvSpPr txBox="1"/>
          <p:nvPr/>
        </p:nvSpPr>
        <p:spPr>
          <a:xfrm>
            <a:off x="6263640" y="4663440"/>
            <a:ext cx="5148072" cy="274320"/>
          </a:xfrm>
          <a:prstGeom prst="rect">
            <a:avLst/>
          </a:prstGeom>
          <a:noFill/>
          <a:ln/>
        </p:spPr>
        <p:txBody>
          <a:bodyPr wrap="square" lIns="0" tIns="0" rIns="0" bIns="0" rtlCol="0" anchor="ctr"/>
          <a:lstStyle/>
          <a:p>
            <a:pPr marL="0" indent="0">
              <a:buNone/>
            </a:pPr>
            <a:r>
              <a:rPr lang="en-US" sz="1200" b="1" dirty="0">
                <a:solidFill>
                  <a:srgbClr val="5C6B7A"/>
                </a:solidFill>
                <a:latin typeface="Calibri" pitchFamily="34" charset="0"/>
                <a:ea typeface="Calibri" pitchFamily="34" charset="-122"/>
                <a:cs typeface="Calibri" pitchFamily="34" charset="-120"/>
              </a:rPr>
              <a:t>Order along the value axis (low → high)</a:t>
            </a:r>
            <a:endParaRPr lang="en-US" sz="1200" dirty="0"/>
          </a:p>
        </p:txBody>
      </p:sp>
      <p:sp>
        <p:nvSpPr>
          <p:cNvPr id="17" name="Shape 13"/>
          <p:cNvSpPr/>
          <p:nvPr/>
        </p:nvSpPr>
        <p:spPr>
          <a:xfrm>
            <a:off x="6355080" y="5401818"/>
            <a:ext cx="4965192" cy="0"/>
          </a:xfrm>
          <a:prstGeom prst="line">
            <a:avLst/>
          </a:prstGeom>
          <a:noFill/>
          <a:ln w="25400">
            <a:solidFill>
              <a:srgbClr val="5C6B7A"/>
            </a:solidFill>
            <a:prstDash val="solid"/>
            <a:tailEnd type="triangle"/>
          </a:ln>
        </p:spPr>
      </p:sp>
      <p:sp>
        <p:nvSpPr>
          <p:cNvPr id="18" name="Shape 14"/>
          <p:cNvSpPr/>
          <p:nvPr/>
        </p:nvSpPr>
        <p:spPr>
          <a:xfrm>
            <a:off x="7217725" y="5282946"/>
            <a:ext cx="237744" cy="237744"/>
          </a:xfrm>
          <a:prstGeom prst="ellipse">
            <a:avLst/>
          </a:prstGeom>
          <a:solidFill>
            <a:srgbClr val="2D6A9F"/>
          </a:solidFill>
          <a:ln w="19050">
            <a:solidFill>
              <a:srgbClr val="FFFFFF"/>
            </a:solidFill>
            <a:prstDash val="solid"/>
          </a:ln>
        </p:spPr>
      </p:sp>
      <p:sp>
        <p:nvSpPr>
          <p:cNvPr id="19" name="Text 15"/>
          <p:cNvSpPr txBox="1"/>
          <p:nvPr/>
        </p:nvSpPr>
        <p:spPr>
          <a:xfrm>
            <a:off x="6513637"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Mode</a:t>
            </a:r>
            <a:endParaRPr lang="en-US" sz="1300" dirty="0"/>
          </a:p>
        </p:txBody>
      </p:sp>
      <p:sp>
        <p:nvSpPr>
          <p:cNvPr id="20" name="Shape 16"/>
          <p:cNvSpPr/>
          <p:nvPr/>
        </p:nvSpPr>
        <p:spPr>
          <a:xfrm>
            <a:off x="8343534" y="5282946"/>
            <a:ext cx="237744" cy="237744"/>
          </a:xfrm>
          <a:prstGeom prst="ellipse">
            <a:avLst/>
          </a:prstGeom>
          <a:solidFill>
            <a:srgbClr val="2A9D95"/>
          </a:solidFill>
          <a:ln w="19050">
            <a:solidFill>
              <a:srgbClr val="FFFFFF"/>
            </a:solidFill>
            <a:prstDash val="solid"/>
          </a:ln>
        </p:spPr>
      </p:sp>
      <p:sp>
        <p:nvSpPr>
          <p:cNvPr id="21" name="Text 17"/>
          <p:cNvSpPr txBox="1"/>
          <p:nvPr/>
        </p:nvSpPr>
        <p:spPr>
          <a:xfrm>
            <a:off x="7639446"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Median</a:t>
            </a:r>
            <a:endParaRPr lang="en-US" sz="1300" dirty="0"/>
          </a:p>
        </p:txBody>
      </p:sp>
      <p:sp>
        <p:nvSpPr>
          <p:cNvPr id="22" name="Shape 18"/>
          <p:cNvSpPr/>
          <p:nvPr/>
        </p:nvSpPr>
        <p:spPr>
          <a:xfrm>
            <a:off x="10126066" y="5282946"/>
            <a:ext cx="237744" cy="237744"/>
          </a:xfrm>
          <a:prstGeom prst="ellipse">
            <a:avLst/>
          </a:prstGeom>
          <a:solidFill>
            <a:srgbClr val="F4B942"/>
          </a:solidFill>
          <a:ln w="19050">
            <a:solidFill>
              <a:srgbClr val="FFFFFF"/>
            </a:solidFill>
            <a:prstDash val="solid"/>
          </a:ln>
        </p:spPr>
      </p:sp>
      <p:sp>
        <p:nvSpPr>
          <p:cNvPr id="23" name="Text 19"/>
          <p:cNvSpPr txBox="1"/>
          <p:nvPr/>
        </p:nvSpPr>
        <p:spPr>
          <a:xfrm>
            <a:off x="9421978"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Mean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WORKED EXAMPLE</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Positive skew: salaries</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5</a:t>
            </a:r>
            <a:endParaRPr lang="en-US" sz="1000" dirty="0"/>
          </a:p>
        </p:txBody>
      </p:sp>
      <p:graphicFrame>
        <p:nvGraphicFramePr>
          <p:cNvPr id="9" name="Chart 0"/>
          <p:cNvGraphicFramePr/>
          <p:nvPr/>
        </p:nvGraphicFramePr>
        <p:xfrm>
          <a:off x="548640" y="1463040"/>
          <a:ext cx="60350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858000" y="1463040"/>
            <a:ext cx="4782312" cy="1051560"/>
          </a:xfrm>
          <a:prstGeom prst="roundRect">
            <a:avLst>
              <a:gd name="adj" fmla="val 6957"/>
            </a:avLst>
          </a:prstGeom>
          <a:solidFill>
            <a:srgbClr val="F1F5FA"/>
          </a:solidFill>
          <a:ln w="12700">
            <a:solidFill>
              <a:srgbClr val="F1F5FA"/>
            </a:solidFill>
            <a:prstDash val="solid"/>
          </a:ln>
        </p:spPr>
      </p:sp>
      <p:sp>
        <p:nvSpPr>
          <p:cNvPr id="11" name="Text 7"/>
          <p:cNvSpPr txBox="1"/>
          <p:nvPr/>
        </p:nvSpPr>
        <p:spPr>
          <a:xfrm>
            <a:off x="7040880" y="1463040"/>
            <a:ext cx="2148840" cy="1051560"/>
          </a:xfrm>
          <a:prstGeom prst="rect">
            <a:avLst/>
          </a:prstGeom>
          <a:noFill/>
          <a:ln/>
        </p:spPr>
        <p:txBody>
          <a:bodyPr wrap="square" lIns="0" tIns="0" rIns="0" bIns="0" rtlCol="0" anchor="ctr"/>
          <a:lstStyle/>
          <a:p>
            <a:pPr marL="0" indent="0">
              <a:buNone/>
            </a:pPr>
            <a:r>
              <a:rPr lang="en-US" sz="2800" b="1" dirty="0">
                <a:solidFill>
                  <a:srgbClr val="9A6B00"/>
                </a:solidFill>
                <a:latin typeface="Cambria" pitchFamily="34" charset="0"/>
                <a:ea typeface="Cambria" pitchFamily="34" charset="-122"/>
                <a:cs typeface="Cambria" pitchFamily="34" charset="-120"/>
              </a:rPr>
              <a:t>≈ ₹52,333</a:t>
            </a:r>
            <a:endParaRPr lang="en-US" sz="2800" dirty="0"/>
          </a:p>
        </p:txBody>
      </p:sp>
      <p:sp>
        <p:nvSpPr>
          <p:cNvPr id="12" name="Text 8"/>
          <p:cNvSpPr txBox="1"/>
          <p:nvPr/>
        </p:nvSpPr>
        <p:spPr>
          <a:xfrm>
            <a:off x="9235440" y="1463040"/>
            <a:ext cx="2267712" cy="105156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Mean</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3,14,000 ÷ 6 — pulled right by ₹2,00,000</a:t>
            </a:r>
            <a:endParaRPr lang="en-US" sz="1500" dirty="0"/>
          </a:p>
        </p:txBody>
      </p:sp>
      <p:sp>
        <p:nvSpPr>
          <p:cNvPr id="13" name="Shape 9"/>
          <p:cNvSpPr/>
          <p:nvPr/>
        </p:nvSpPr>
        <p:spPr>
          <a:xfrm>
            <a:off x="6858000" y="2651760"/>
            <a:ext cx="4782312" cy="1051560"/>
          </a:xfrm>
          <a:prstGeom prst="roundRect">
            <a:avLst>
              <a:gd name="adj" fmla="val 6957"/>
            </a:avLst>
          </a:prstGeom>
          <a:solidFill>
            <a:srgbClr val="F1F5FA"/>
          </a:solidFill>
          <a:ln w="12700">
            <a:solidFill>
              <a:srgbClr val="F1F5FA"/>
            </a:solidFill>
            <a:prstDash val="solid"/>
          </a:ln>
        </p:spPr>
      </p:sp>
      <p:sp>
        <p:nvSpPr>
          <p:cNvPr id="14" name="Text 10"/>
          <p:cNvSpPr txBox="1"/>
          <p:nvPr/>
        </p:nvSpPr>
        <p:spPr>
          <a:xfrm>
            <a:off x="7040880" y="2651760"/>
            <a:ext cx="2148840" cy="1051560"/>
          </a:xfrm>
          <a:prstGeom prst="rect">
            <a:avLst/>
          </a:prstGeom>
          <a:noFill/>
          <a:ln/>
        </p:spPr>
        <p:txBody>
          <a:bodyPr wrap="square" lIns="0" tIns="0" rIns="0" bIns="0" rtlCol="0" anchor="ctr"/>
          <a:lstStyle/>
          <a:p>
            <a:pPr marL="0" indent="0">
              <a:buNone/>
            </a:pPr>
            <a:r>
              <a:rPr lang="en-US" sz="2800" b="1" dirty="0">
                <a:solidFill>
                  <a:srgbClr val="2A9D95"/>
                </a:solidFill>
                <a:latin typeface="Cambria" pitchFamily="34" charset="0"/>
                <a:ea typeface="Cambria" pitchFamily="34" charset="-122"/>
                <a:cs typeface="Cambria" pitchFamily="34" charset="-120"/>
              </a:rPr>
              <a:t>₹23,500</a:t>
            </a:r>
            <a:endParaRPr lang="en-US" sz="2800" dirty="0"/>
          </a:p>
        </p:txBody>
      </p:sp>
      <p:sp>
        <p:nvSpPr>
          <p:cNvPr id="15" name="Text 11"/>
          <p:cNvSpPr txBox="1"/>
          <p:nvPr/>
        </p:nvSpPr>
        <p:spPr>
          <a:xfrm>
            <a:off x="9235440" y="2651760"/>
            <a:ext cx="2267712" cy="105156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Median</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(23,000 + 24,000) ÷ 2 — the typical person</a:t>
            </a:r>
            <a:endParaRPr lang="en-US" sz="1500" dirty="0"/>
          </a:p>
        </p:txBody>
      </p:sp>
      <p:sp>
        <p:nvSpPr>
          <p:cNvPr id="16" name="Shape 12"/>
          <p:cNvSpPr/>
          <p:nvPr/>
        </p:nvSpPr>
        <p:spPr>
          <a:xfrm>
            <a:off x="6858000" y="3840480"/>
            <a:ext cx="4782312" cy="1005840"/>
          </a:xfrm>
          <a:prstGeom prst="roundRect">
            <a:avLst>
              <a:gd name="adj" fmla="val 7273"/>
            </a:avLst>
          </a:prstGeom>
          <a:solidFill>
            <a:srgbClr val="F1F5FA"/>
          </a:solidFill>
          <a:ln w="12700">
            <a:solidFill>
              <a:srgbClr val="F1F5FA"/>
            </a:solidFill>
            <a:prstDash val="solid"/>
          </a:ln>
        </p:spPr>
      </p:sp>
      <p:sp>
        <p:nvSpPr>
          <p:cNvPr id="17" name="Text 13"/>
          <p:cNvSpPr txBox="1"/>
          <p:nvPr/>
        </p:nvSpPr>
        <p:spPr>
          <a:xfrm>
            <a:off x="7040880" y="3840480"/>
            <a:ext cx="2148840" cy="1005840"/>
          </a:xfrm>
          <a:prstGeom prst="rect">
            <a:avLst/>
          </a:prstGeom>
          <a:noFill/>
          <a:ln/>
        </p:spPr>
        <p:txBody>
          <a:bodyPr wrap="square" lIns="0" tIns="0" rIns="0" bIns="0" rtlCol="0" anchor="ctr"/>
          <a:lstStyle/>
          <a:p>
            <a:pPr marL="0" indent="0">
              <a:buNone/>
            </a:pPr>
            <a:r>
              <a:rPr lang="en-US" sz="2800" b="1" dirty="0">
                <a:solidFill>
                  <a:srgbClr val="2D6A9F"/>
                </a:solidFill>
                <a:latin typeface="Cambria" pitchFamily="34" charset="0"/>
                <a:ea typeface="Cambria" pitchFamily="34" charset="-122"/>
                <a:cs typeface="Cambria" pitchFamily="34" charset="-120"/>
              </a:rPr>
              <a:t>+1.79</a:t>
            </a:r>
            <a:endParaRPr lang="en-US" sz="2800" dirty="0"/>
          </a:p>
        </p:txBody>
      </p:sp>
      <p:sp>
        <p:nvSpPr>
          <p:cNvPr id="18" name="Text 14"/>
          <p:cNvSpPr txBox="1"/>
          <p:nvPr/>
        </p:nvSpPr>
        <p:spPr>
          <a:xfrm>
            <a:off x="9235440" y="3840480"/>
            <a:ext cx="2267712" cy="100584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Skewness</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Positive → long right tail</a:t>
            </a:r>
            <a:endParaRPr lang="en-US" sz="1500" dirty="0"/>
          </a:p>
        </p:txBody>
      </p:sp>
      <p:sp>
        <p:nvSpPr>
          <p:cNvPr id="19" name="Shape 15"/>
          <p:cNvSpPr/>
          <p:nvPr/>
        </p:nvSpPr>
        <p:spPr>
          <a:xfrm>
            <a:off x="548640" y="5074920"/>
            <a:ext cx="11094415" cy="1051560"/>
          </a:xfrm>
          <a:prstGeom prst="roundRect">
            <a:avLst>
              <a:gd name="adj" fmla="val 6957"/>
            </a:avLst>
          </a:prstGeom>
          <a:solidFill>
            <a:srgbClr val="FBF0D9"/>
          </a:solidFill>
          <a:ln w="12700">
            <a:solidFill>
              <a:srgbClr val="FBF0D9"/>
            </a:solidFill>
            <a:prstDash val="solid"/>
          </a:ln>
        </p:spPr>
      </p:sp>
      <p:sp>
        <p:nvSpPr>
          <p:cNvPr id="20" name="Text 16"/>
          <p:cNvSpPr txBox="1"/>
          <p:nvPr/>
        </p:nvSpPr>
        <p:spPr>
          <a:xfrm>
            <a:off x="822960" y="5074920"/>
            <a:ext cx="10545775" cy="1051560"/>
          </a:xfrm>
          <a:prstGeom prst="rect">
            <a:avLst/>
          </a:prstGeom>
          <a:noFill/>
          <a:ln/>
        </p:spPr>
        <p:txBody>
          <a:bodyPr wrap="square" lIns="0" tIns="0" rIns="0" bIns="0" rtlCol="0" anchor="ctr"/>
          <a:lstStyle/>
          <a:p>
            <a:pPr marL="0" indent="0">
              <a:buNone/>
            </a:pPr>
            <a:r>
              <a:rPr lang="en-US" sz="1500" b="1" dirty="0">
                <a:solidFill>
                  <a:srgbClr val="9A6B00"/>
                </a:solidFill>
                <a:latin typeface="Calibri" pitchFamily="34" charset="0"/>
                <a:ea typeface="Calibri" pitchFamily="34" charset="-122"/>
                <a:cs typeface="Calibri" pitchFamily="34" charset="-120"/>
              </a:rPr>
              <a:t>Takeaway   </a:t>
            </a:r>
            <a:r>
              <a:rPr lang="en-US" sz="1500" dirty="0">
                <a:solidFill>
                  <a:srgbClr val="1B2733"/>
                </a:solidFill>
                <a:latin typeface="Calibri" pitchFamily="34" charset="0"/>
                <a:ea typeface="Calibri" pitchFamily="34" charset="-122"/>
                <a:cs typeface="Calibri" pitchFamily="34" charset="-120"/>
              </a:rPr>
              <a:t>Most people earn ₹20,000–₹25,000, but one person earns ₹2,00,000. That single value pulls the mean to more than twice the median → right-skewed. (No value repeats, so there is no single mode.)</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LEFT TAIL</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Negative skewness</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6</a:t>
            </a:r>
            <a:endParaRPr lang="en-US" sz="1000" dirty="0"/>
          </a:p>
        </p:txBody>
      </p:sp>
      <p:sp>
        <p:nvSpPr>
          <p:cNvPr id="9" name="Text 6"/>
          <p:cNvSpPr txBox="1"/>
          <p:nvPr/>
        </p:nvSpPr>
        <p:spPr>
          <a:xfrm>
            <a:off x="548640" y="1554480"/>
            <a:ext cx="5212080" cy="274320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Negatively skewed = a longer tail toward lower values.</a:t>
            </a:r>
            <a:endParaRPr lang="en-US" sz="1700" dirty="0"/>
          </a:p>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Most values are high; a few are very low.</a:t>
            </a:r>
            <a:endParaRPr lang="en-US" sz="1700" dirty="0"/>
          </a:p>
          <a:p>
            <a:pPr marL="203200" indent="-203200">
              <a:spcAft>
                <a:spcPts val="1400"/>
              </a:spcAft>
              <a:buSzPct val="100000"/>
              <a:buChar char="•"/>
            </a:pPr>
            <a:r>
              <a:rPr lang="en-US" sz="1700" b="1" dirty="0">
                <a:solidFill>
                  <a:srgbClr val="2A9D95"/>
                </a:solidFill>
                <a:latin typeface="Calibri" pitchFamily="34" charset="0"/>
                <a:ea typeface="Calibri" pitchFamily="34" charset="-122"/>
                <a:cs typeface="Calibri" pitchFamily="34" charset="-120"/>
              </a:rPr>
              <a:t>Mean &lt; Median &lt; Mode</a:t>
            </a:r>
            <a:endParaRPr lang="en-US" sz="1700" dirty="0"/>
          </a:p>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Everyday examples: easy exam scores, retirement age.</a:t>
            </a:r>
            <a:endParaRPr lang="en-US" sz="1700" dirty="0"/>
          </a:p>
        </p:txBody>
      </p:sp>
      <p:sp>
        <p:nvSpPr>
          <p:cNvPr id="10" name="Shape 7"/>
          <p:cNvSpPr/>
          <p:nvPr/>
        </p:nvSpPr>
        <p:spPr>
          <a:xfrm>
            <a:off x="548640" y="4434840"/>
            <a:ext cx="5212080" cy="1645920"/>
          </a:xfrm>
          <a:prstGeom prst="roundRect">
            <a:avLst>
              <a:gd name="adj" fmla="val 4444"/>
            </a:avLst>
          </a:prstGeom>
          <a:solidFill>
            <a:srgbClr val="16263F"/>
          </a:solidFill>
          <a:ln w="12700">
            <a:solidFill>
              <a:srgbClr val="16263F"/>
            </a:solidFill>
            <a:prstDash val="solid"/>
          </a:ln>
        </p:spPr>
      </p:sp>
      <p:sp>
        <p:nvSpPr>
          <p:cNvPr id="11" name="Text 8"/>
          <p:cNvSpPr txBox="1"/>
          <p:nvPr/>
        </p:nvSpPr>
        <p:spPr>
          <a:xfrm>
            <a:off x="822960" y="4434840"/>
            <a:ext cx="4663440" cy="1645920"/>
          </a:xfrm>
          <a:prstGeom prst="rect">
            <a:avLst/>
          </a:prstGeom>
          <a:noFill/>
          <a:ln/>
        </p:spPr>
        <p:txBody>
          <a:bodyPr wrap="square" lIns="0" tIns="0" rIns="0" bIns="0" rtlCol="0" anchor="ctr"/>
          <a:lstStyle/>
          <a:p>
            <a:pPr marL="0" indent="0">
              <a:buNone/>
            </a:pPr>
            <a:r>
              <a:rPr lang="en-US" sz="1500" b="1" dirty="0">
                <a:solidFill>
                  <a:srgbClr val="F4B942"/>
                </a:solidFill>
                <a:latin typeface="Calibri" pitchFamily="34" charset="0"/>
                <a:ea typeface="Calibri" pitchFamily="34" charset="-122"/>
                <a:cs typeface="Calibri" pitchFamily="34" charset="-120"/>
              </a:rPr>
              <a:t>Same idea, mirrored. </a:t>
            </a:r>
            <a:r>
              <a:rPr lang="en-US" sz="1500" dirty="0">
                <a:solidFill>
                  <a:srgbClr val="FFFFFF"/>
                </a:solidFill>
                <a:latin typeface="Calibri" pitchFamily="34" charset="0"/>
                <a:ea typeface="Calibri" pitchFamily="34" charset="-122"/>
                <a:cs typeface="Calibri" pitchFamily="34" charset="-120"/>
              </a:rPr>
              <a:t>A few very low values drag the mean left of the median, while most values bunch up on the high side.</a:t>
            </a:r>
            <a:endParaRPr lang="en-US" sz="1500" dirty="0"/>
          </a:p>
        </p:txBody>
      </p:sp>
      <p:sp>
        <p:nvSpPr>
          <p:cNvPr id="12" name="Shape 9"/>
          <p:cNvSpPr/>
          <p:nvPr/>
        </p:nvSpPr>
        <p:spPr>
          <a:xfrm>
            <a:off x="6035040" y="1508760"/>
            <a:ext cx="5605272" cy="2880360"/>
          </a:xfrm>
          <a:prstGeom prst="roundRect">
            <a:avLst>
              <a:gd name="adj" fmla="val 2540"/>
            </a:avLst>
          </a:prstGeom>
          <a:solidFill>
            <a:srgbClr val="F1F5FA"/>
          </a:solidFill>
          <a:ln w="12700">
            <a:solidFill>
              <a:srgbClr val="F1F5FA"/>
            </a:solidFill>
            <a:prstDash val="solid"/>
          </a:ln>
        </p:spPr>
      </p:sp>
      <p:sp>
        <p:nvSpPr>
          <p:cNvPr id="13" name="Text 10"/>
          <p:cNvSpPr txBox="1"/>
          <p:nvPr/>
        </p:nvSpPr>
        <p:spPr>
          <a:xfrm>
            <a:off x="6263640" y="1572768"/>
            <a:ext cx="5120640" cy="274320"/>
          </a:xfrm>
          <a:prstGeom prst="rect">
            <a:avLst/>
          </a:prstGeom>
          <a:noFill/>
          <a:ln/>
        </p:spPr>
        <p:txBody>
          <a:bodyPr wrap="square" lIns="0" tIns="0" rIns="0" bIns="0" rtlCol="0" anchor="ctr"/>
          <a:lstStyle/>
          <a:p>
            <a:pPr marL="0" indent="0">
              <a:buNone/>
            </a:pPr>
            <a:r>
              <a:rPr lang="en-US" sz="1300" b="1" dirty="0">
                <a:solidFill>
                  <a:srgbClr val="16263F"/>
                </a:solidFill>
                <a:latin typeface="Calibri" pitchFamily="34" charset="0"/>
                <a:ea typeface="Calibri" pitchFamily="34" charset="-122"/>
                <a:cs typeface="Calibri" pitchFamily="34" charset="-120"/>
              </a:rPr>
              <a:t>Left-skewed distribution</a:t>
            </a:r>
            <a:endParaRPr lang="en-US" sz="1300" dirty="0"/>
          </a:p>
        </p:txBody>
      </p:sp>
      <p:graphicFrame>
        <p:nvGraphicFramePr>
          <p:cNvPr id="14" name="Chart 0"/>
          <p:cNvGraphicFramePr/>
          <p:nvPr/>
        </p:nvGraphicFramePr>
        <p:xfrm>
          <a:off x="6172200" y="1874520"/>
          <a:ext cx="5330952"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6035040" y="4572000"/>
            <a:ext cx="5605272" cy="1508760"/>
          </a:xfrm>
          <a:prstGeom prst="roundRect">
            <a:avLst>
              <a:gd name="adj" fmla="val 4848"/>
            </a:avLst>
          </a:prstGeom>
          <a:solidFill>
            <a:srgbClr val="F1F5FA"/>
          </a:solidFill>
          <a:ln w="12700">
            <a:solidFill>
              <a:srgbClr val="F1F5FA"/>
            </a:solidFill>
            <a:prstDash val="solid"/>
          </a:ln>
        </p:spPr>
      </p:sp>
      <p:sp>
        <p:nvSpPr>
          <p:cNvPr id="16" name="Text 12"/>
          <p:cNvSpPr txBox="1"/>
          <p:nvPr/>
        </p:nvSpPr>
        <p:spPr>
          <a:xfrm>
            <a:off x="6263640" y="4663440"/>
            <a:ext cx="5148072" cy="274320"/>
          </a:xfrm>
          <a:prstGeom prst="rect">
            <a:avLst/>
          </a:prstGeom>
          <a:noFill/>
          <a:ln/>
        </p:spPr>
        <p:txBody>
          <a:bodyPr wrap="square" lIns="0" tIns="0" rIns="0" bIns="0" rtlCol="0" anchor="ctr"/>
          <a:lstStyle/>
          <a:p>
            <a:pPr marL="0" indent="0">
              <a:buNone/>
            </a:pPr>
            <a:r>
              <a:rPr lang="en-US" sz="1200" b="1" dirty="0">
                <a:solidFill>
                  <a:srgbClr val="5C6B7A"/>
                </a:solidFill>
                <a:latin typeface="Calibri" pitchFamily="34" charset="0"/>
                <a:ea typeface="Calibri" pitchFamily="34" charset="-122"/>
                <a:cs typeface="Calibri" pitchFamily="34" charset="-120"/>
              </a:rPr>
              <a:t>Order along the value axis (low → high)</a:t>
            </a:r>
            <a:endParaRPr lang="en-US" sz="1200" dirty="0"/>
          </a:p>
        </p:txBody>
      </p:sp>
      <p:sp>
        <p:nvSpPr>
          <p:cNvPr id="17" name="Shape 13"/>
          <p:cNvSpPr/>
          <p:nvPr/>
        </p:nvSpPr>
        <p:spPr>
          <a:xfrm>
            <a:off x="6355080" y="5401818"/>
            <a:ext cx="4965192" cy="0"/>
          </a:xfrm>
          <a:prstGeom prst="line">
            <a:avLst/>
          </a:prstGeom>
          <a:noFill/>
          <a:ln w="25400">
            <a:solidFill>
              <a:srgbClr val="5C6B7A"/>
            </a:solidFill>
            <a:prstDash val="solid"/>
            <a:tailEnd type="triangle"/>
          </a:ln>
        </p:spPr>
      </p:sp>
      <p:sp>
        <p:nvSpPr>
          <p:cNvPr id="18" name="Shape 14"/>
          <p:cNvSpPr/>
          <p:nvPr/>
        </p:nvSpPr>
        <p:spPr>
          <a:xfrm>
            <a:off x="7311542" y="5282946"/>
            <a:ext cx="237744" cy="237744"/>
          </a:xfrm>
          <a:prstGeom prst="ellipse">
            <a:avLst/>
          </a:prstGeom>
          <a:solidFill>
            <a:srgbClr val="F4B942"/>
          </a:solidFill>
          <a:ln w="19050">
            <a:solidFill>
              <a:srgbClr val="FFFFFF"/>
            </a:solidFill>
            <a:prstDash val="solid"/>
          </a:ln>
        </p:spPr>
      </p:sp>
      <p:sp>
        <p:nvSpPr>
          <p:cNvPr id="19" name="Text 15"/>
          <p:cNvSpPr txBox="1"/>
          <p:nvPr/>
        </p:nvSpPr>
        <p:spPr>
          <a:xfrm>
            <a:off x="6607454"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Mean</a:t>
            </a:r>
            <a:endParaRPr lang="en-US" sz="1300" dirty="0"/>
          </a:p>
        </p:txBody>
      </p:sp>
      <p:sp>
        <p:nvSpPr>
          <p:cNvPr id="20" name="Shape 16"/>
          <p:cNvSpPr/>
          <p:nvPr/>
        </p:nvSpPr>
        <p:spPr>
          <a:xfrm>
            <a:off x="9094074" y="5282946"/>
            <a:ext cx="237744" cy="237744"/>
          </a:xfrm>
          <a:prstGeom prst="ellipse">
            <a:avLst/>
          </a:prstGeom>
          <a:solidFill>
            <a:srgbClr val="2A9D95"/>
          </a:solidFill>
          <a:ln w="19050">
            <a:solidFill>
              <a:srgbClr val="FFFFFF"/>
            </a:solidFill>
            <a:prstDash val="solid"/>
          </a:ln>
        </p:spPr>
      </p:sp>
      <p:sp>
        <p:nvSpPr>
          <p:cNvPr id="21" name="Text 17"/>
          <p:cNvSpPr txBox="1"/>
          <p:nvPr/>
        </p:nvSpPr>
        <p:spPr>
          <a:xfrm>
            <a:off x="8389986"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Median</a:t>
            </a:r>
            <a:endParaRPr lang="en-US" sz="1300" dirty="0"/>
          </a:p>
        </p:txBody>
      </p:sp>
      <p:sp>
        <p:nvSpPr>
          <p:cNvPr id="22" name="Shape 18"/>
          <p:cNvSpPr/>
          <p:nvPr/>
        </p:nvSpPr>
        <p:spPr>
          <a:xfrm>
            <a:off x="10219883" y="5282946"/>
            <a:ext cx="237744" cy="237744"/>
          </a:xfrm>
          <a:prstGeom prst="ellipse">
            <a:avLst/>
          </a:prstGeom>
          <a:solidFill>
            <a:srgbClr val="2D6A9F"/>
          </a:solidFill>
          <a:ln w="19050">
            <a:solidFill>
              <a:srgbClr val="FFFFFF"/>
            </a:solidFill>
            <a:prstDash val="solid"/>
          </a:ln>
        </p:spPr>
      </p:sp>
      <p:sp>
        <p:nvSpPr>
          <p:cNvPr id="23" name="Text 19"/>
          <p:cNvSpPr txBox="1"/>
          <p:nvPr/>
        </p:nvSpPr>
        <p:spPr>
          <a:xfrm>
            <a:off x="9515795"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Mode</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WORKED EXAMPLE</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Negative skew: an easy exam</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7</a:t>
            </a:r>
            <a:endParaRPr lang="en-US" sz="1000" dirty="0"/>
          </a:p>
        </p:txBody>
      </p:sp>
      <p:graphicFrame>
        <p:nvGraphicFramePr>
          <p:cNvPr id="9" name="Chart 0"/>
          <p:cNvGraphicFramePr/>
          <p:nvPr/>
        </p:nvGraphicFramePr>
        <p:xfrm>
          <a:off x="548640" y="1463040"/>
          <a:ext cx="6035040" cy="3383280"/>
        </p:xfrm>
        <a:graphic>
          <a:graphicData uri="http://schemas.openxmlformats.org/drawingml/2006/chart">
            <c:chart xmlns:c="http://schemas.openxmlformats.org/drawingml/2006/chart" xmlns:r="http://schemas.openxmlformats.org/officeDocument/2006/relationships" r:id="rId3"/>
          </a:graphicData>
        </a:graphic>
      </p:graphicFrame>
      <p:sp>
        <p:nvSpPr>
          <p:cNvPr id="10" name="Shape 6"/>
          <p:cNvSpPr/>
          <p:nvPr/>
        </p:nvSpPr>
        <p:spPr>
          <a:xfrm>
            <a:off x="6858000" y="1463040"/>
            <a:ext cx="4782312" cy="1051560"/>
          </a:xfrm>
          <a:prstGeom prst="roundRect">
            <a:avLst>
              <a:gd name="adj" fmla="val 6957"/>
            </a:avLst>
          </a:prstGeom>
          <a:solidFill>
            <a:srgbClr val="F1F5FA"/>
          </a:solidFill>
          <a:ln w="12700">
            <a:solidFill>
              <a:srgbClr val="F1F5FA"/>
            </a:solidFill>
            <a:prstDash val="solid"/>
          </a:ln>
        </p:spPr>
      </p:sp>
      <p:sp>
        <p:nvSpPr>
          <p:cNvPr id="11" name="Text 7"/>
          <p:cNvSpPr txBox="1"/>
          <p:nvPr/>
        </p:nvSpPr>
        <p:spPr>
          <a:xfrm>
            <a:off x="7040880" y="1463040"/>
            <a:ext cx="2148840" cy="1051560"/>
          </a:xfrm>
          <a:prstGeom prst="rect">
            <a:avLst/>
          </a:prstGeom>
          <a:noFill/>
          <a:ln/>
        </p:spPr>
        <p:txBody>
          <a:bodyPr wrap="square" lIns="0" tIns="0" rIns="0" bIns="0" rtlCol="0" anchor="ctr"/>
          <a:lstStyle/>
          <a:p>
            <a:pPr marL="0" indent="0">
              <a:buNone/>
            </a:pPr>
            <a:r>
              <a:rPr lang="en-US" sz="2800" b="1" dirty="0">
                <a:solidFill>
                  <a:srgbClr val="9A6B00"/>
                </a:solidFill>
                <a:latin typeface="Cambria" pitchFamily="34" charset="0"/>
                <a:ea typeface="Cambria" pitchFamily="34" charset="-122"/>
                <a:cs typeface="Cambria" pitchFamily="34" charset="-120"/>
              </a:rPr>
              <a:t>65</a:t>
            </a:r>
            <a:endParaRPr lang="en-US" sz="2800" dirty="0"/>
          </a:p>
        </p:txBody>
      </p:sp>
      <p:sp>
        <p:nvSpPr>
          <p:cNvPr id="12" name="Text 8"/>
          <p:cNvSpPr txBox="1"/>
          <p:nvPr/>
        </p:nvSpPr>
        <p:spPr>
          <a:xfrm>
            <a:off x="9235440" y="1463040"/>
            <a:ext cx="2267712" cy="105156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Mean</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585 ÷ 9 — dragged down by 10, 12, 15</a:t>
            </a:r>
            <a:endParaRPr lang="en-US" sz="1500" dirty="0"/>
          </a:p>
        </p:txBody>
      </p:sp>
      <p:sp>
        <p:nvSpPr>
          <p:cNvPr id="13" name="Shape 9"/>
          <p:cNvSpPr/>
          <p:nvPr/>
        </p:nvSpPr>
        <p:spPr>
          <a:xfrm>
            <a:off x="6858000" y="2651760"/>
            <a:ext cx="4782312" cy="1051560"/>
          </a:xfrm>
          <a:prstGeom prst="roundRect">
            <a:avLst>
              <a:gd name="adj" fmla="val 6957"/>
            </a:avLst>
          </a:prstGeom>
          <a:solidFill>
            <a:srgbClr val="F1F5FA"/>
          </a:solidFill>
          <a:ln w="12700">
            <a:solidFill>
              <a:srgbClr val="F1F5FA"/>
            </a:solidFill>
            <a:prstDash val="solid"/>
          </a:ln>
        </p:spPr>
      </p:sp>
      <p:sp>
        <p:nvSpPr>
          <p:cNvPr id="14" name="Text 10"/>
          <p:cNvSpPr txBox="1"/>
          <p:nvPr/>
        </p:nvSpPr>
        <p:spPr>
          <a:xfrm>
            <a:off x="7040880" y="2651760"/>
            <a:ext cx="2148840" cy="1051560"/>
          </a:xfrm>
          <a:prstGeom prst="rect">
            <a:avLst/>
          </a:prstGeom>
          <a:noFill/>
          <a:ln/>
        </p:spPr>
        <p:txBody>
          <a:bodyPr wrap="square" lIns="0" tIns="0" rIns="0" bIns="0" rtlCol="0" anchor="ctr"/>
          <a:lstStyle/>
          <a:p>
            <a:pPr marL="0" indent="0">
              <a:buNone/>
            </a:pPr>
            <a:r>
              <a:rPr lang="en-US" sz="2800" b="1" dirty="0">
                <a:solidFill>
                  <a:srgbClr val="2A9D95"/>
                </a:solidFill>
                <a:latin typeface="Cambria" pitchFamily="34" charset="0"/>
                <a:ea typeface="Cambria" pitchFamily="34" charset="-122"/>
                <a:cs typeface="Cambria" pitchFamily="34" charset="-120"/>
              </a:rPr>
              <a:t>88</a:t>
            </a:r>
            <a:endParaRPr lang="en-US" sz="2800" dirty="0"/>
          </a:p>
        </p:txBody>
      </p:sp>
      <p:sp>
        <p:nvSpPr>
          <p:cNvPr id="15" name="Text 11"/>
          <p:cNvSpPr txBox="1"/>
          <p:nvPr/>
        </p:nvSpPr>
        <p:spPr>
          <a:xfrm>
            <a:off x="9235440" y="2651760"/>
            <a:ext cx="2267712" cy="105156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Median</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the 5th of 9 sorted scores</a:t>
            </a:r>
            <a:endParaRPr lang="en-US" sz="1500" dirty="0"/>
          </a:p>
        </p:txBody>
      </p:sp>
      <p:sp>
        <p:nvSpPr>
          <p:cNvPr id="16" name="Shape 12"/>
          <p:cNvSpPr/>
          <p:nvPr/>
        </p:nvSpPr>
        <p:spPr>
          <a:xfrm>
            <a:off x="6858000" y="3840480"/>
            <a:ext cx="4782312" cy="1005840"/>
          </a:xfrm>
          <a:prstGeom prst="roundRect">
            <a:avLst>
              <a:gd name="adj" fmla="val 7273"/>
            </a:avLst>
          </a:prstGeom>
          <a:solidFill>
            <a:srgbClr val="F1F5FA"/>
          </a:solidFill>
          <a:ln w="12700">
            <a:solidFill>
              <a:srgbClr val="F1F5FA"/>
            </a:solidFill>
            <a:prstDash val="solid"/>
          </a:ln>
        </p:spPr>
      </p:sp>
      <p:sp>
        <p:nvSpPr>
          <p:cNvPr id="17" name="Text 13"/>
          <p:cNvSpPr txBox="1"/>
          <p:nvPr/>
        </p:nvSpPr>
        <p:spPr>
          <a:xfrm>
            <a:off x="7040880" y="3840480"/>
            <a:ext cx="2148840" cy="1005840"/>
          </a:xfrm>
          <a:prstGeom prst="rect">
            <a:avLst/>
          </a:prstGeom>
          <a:noFill/>
          <a:ln/>
        </p:spPr>
        <p:txBody>
          <a:bodyPr wrap="square" lIns="0" tIns="0" rIns="0" bIns="0" rtlCol="0" anchor="ctr"/>
          <a:lstStyle/>
          <a:p>
            <a:pPr marL="0" indent="0">
              <a:buNone/>
            </a:pPr>
            <a:r>
              <a:rPr lang="en-US" sz="2800" b="1" dirty="0">
                <a:solidFill>
                  <a:srgbClr val="2D6A9F"/>
                </a:solidFill>
                <a:latin typeface="Cambria" pitchFamily="34" charset="0"/>
                <a:ea typeface="Cambria" pitchFamily="34" charset="-122"/>
                <a:cs typeface="Cambria" pitchFamily="34" charset="-120"/>
              </a:rPr>
              <a:t>−0.68</a:t>
            </a:r>
            <a:endParaRPr lang="en-US" sz="2800" dirty="0"/>
          </a:p>
        </p:txBody>
      </p:sp>
      <p:sp>
        <p:nvSpPr>
          <p:cNvPr id="18" name="Text 14"/>
          <p:cNvSpPr txBox="1"/>
          <p:nvPr/>
        </p:nvSpPr>
        <p:spPr>
          <a:xfrm>
            <a:off x="9235440" y="3840480"/>
            <a:ext cx="2267712" cy="1005840"/>
          </a:xfrm>
          <a:prstGeom prst="rect">
            <a:avLst/>
          </a:prstGeom>
          <a:noFill/>
          <a:ln/>
        </p:spPr>
        <p:txBody>
          <a:bodyPr wrap="square" lIns="0" tIns="0" rIns="0" bIns="0" rtlCol="0" anchor="ctr"/>
          <a:lstStyle/>
          <a:p>
            <a:pPr marL="0" indent="0">
              <a:buNone/>
            </a:pPr>
            <a:r>
              <a:rPr lang="en-US" sz="1500" b="1" dirty="0">
                <a:solidFill>
                  <a:srgbClr val="1B2733"/>
                </a:solidFill>
                <a:latin typeface="Calibri" pitchFamily="34" charset="0"/>
                <a:ea typeface="Calibri" pitchFamily="34" charset="-122"/>
                <a:cs typeface="Calibri" pitchFamily="34" charset="-120"/>
              </a:rPr>
              <a:t>Skewness</a:t>
            </a:r>
            <a:endParaRPr lang="en-US" sz="1500" dirty="0"/>
          </a:p>
          <a:p>
            <a:pPr marL="0" indent="0">
              <a:buNone/>
            </a:pPr>
            <a:r>
              <a:rPr lang="en-US" sz="1150" dirty="0">
                <a:solidFill>
                  <a:srgbClr val="5C6B7A"/>
                </a:solidFill>
                <a:latin typeface="Calibri" pitchFamily="34" charset="0"/>
                <a:ea typeface="Calibri" pitchFamily="34" charset="-122"/>
                <a:cs typeface="Calibri" pitchFamily="34" charset="-120"/>
              </a:rPr>
              <a:t>Negative → long left tail</a:t>
            </a:r>
            <a:endParaRPr lang="en-US" sz="1500" dirty="0"/>
          </a:p>
        </p:txBody>
      </p:sp>
      <p:sp>
        <p:nvSpPr>
          <p:cNvPr id="19" name="Shape 15"/>
          <p:cNvSpPr/>
          <p:nvPr/>
        </p:nvSpPr>
        <p:spPr>
          <a:xfrm>
            <a:off x="548640" y="5074920"/>
            <a:ext cx="11094415" cy="1051560"/>
          </a:xfrm>
          <a:prstGeom prst="roundRect">
            <a:avLst>
              <a:gd name="adj" fmla="val 6957"/>
            </a:avLst>
          </a:prstGeom>
          <a:solidFill>
            <a:srgbClr val="FBF0D9"/>
          </a:solidFill>
          <a:ln w="12700">
            <a:solidFill>
              <a:srgbClr val="FBF0D9"/>
            </a:solidFill>
            <a:prstDash val="solid"/>
          </a:ln>
        </p:spPr>
      </p:sp>
      <p:sp>
        <p:nvSpPr>
          <p:cNvPr id="20" name="Text 16"/>
          <p:cNvSpPr txBox="1"/>
          <p:nvPr/>
        </p:nvSpPr>
        <p:spPr>
          <a:xfrm>
            <a:off x="822960" y="5074920"/>
            <a:ext cx="10545775" cy="1051560"/>
          </a:xfrm>
          <a:prstGeom prst="rect">
            <a:avLst/>
          </a:prstGeom>
          <a:noFill/>
          <a:ln/>
        </p:spPr>
        <p:txBody>
          <a:bodyPr wrap="square" lIns="0" tIns="0" rIns="0" bIns="0" rtlCol="0" anchor="ctr"/>
          <a:lstStyle/>
          <a:p>
            <a:pPr marL="0" indent="0">
              <a:buNone/>
            </a:pPr>
            <a:r>
              <a:rPr lang="en-US" sz="1500" b="1" dirty="0">
                <a:solidFill>
                  <a:srgbClr val="9A6B00"/>
                </a:solidFill>
                <a:latin typeface="Calibri" pitchFamily="34" charset="0"/>
                <a:ea typeface="Calibri" pitchFamily="34" charset="-122"/>
                <a:cs typeface="Calibri" pitchFamily="34" charset="-120"/>
              </a:rPr>
              <a:t>Takeaway   </a:t>
            </a:r>
            <a:r>
              <a:rPr lang="en-US" sz="1500" dirty="0">
                <a:solidFill>
                  <a:srgbClr val="1B2733"/>
                </a:solidFill>
                <a:latin typeface="Calibri" pitchFamily="34" charset="0"/>
                <a:ea typeface="Calibri" pitchFamily="34" charset="-122"/>
                <a:cs typeface="Calibri" pitchFamily="34" charset="-120"/>
              </a:rPr>
              <a:t>Most students scored 85 or higher, but a few very low scores pull the mean far to the left of the median → left-skewed. Reporting only the mean (65) would understate how well most students did.</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BALANCED</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Zero skewness: symmetric data</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8</a:t>
            </a:r>
            <a:endParaRPr lang="en-US" sz="1000" dirty="0"/>
          </a:p>
        </p:txBody>
      </p:sp>
      <p:sp>
        <p:nvSpPr>
          <p:cNvPr id="9" name="Text 6"/>
          <p:cNvSpPr txBox="1"/>
          <p:nvPr/>
        </p:nvSpPr>
        <p:spPr>
          <a:xfrm>
            <a:off x="548640" y="1554480"/>
            <a:ext cx="5212080" cy="2834640"/>
          </a:xfrm>
          <a:prstGeom prst="rect">
            <a:avLst/>
          </a:prstGeom>
          <a:noFill/>
          <a:ln/>
        </p:spPr>
        <p:txBody>
          <a:bodyPr wrap="square" lIns="0" tIns="0" rIns="0" bIns="0" rtlCol="0" anchor="t"/>
          <a:lstStyle/>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If the distribution is approximately symmetric, the two sides mirror each other.</a:t>
            </a:r>
            <a:endParaRPr lang="en-US" sz="1700" dirty="0"/>
          </a:p>
          <a:p>
            <a:pPr marL="203200" indent="-203200">
              <a:spcAft>
                <a:spcPts val="1400"/>
              </a:spcAft>
              <a:buSzPct val="100000"/>
              <a:buChar char="•"/>
            </a:pPr>
            <a:r>
              <a:rPr lang="en-US" sz="1700" b="1" dirty="0">
                <a:solidFill>
                  <a:srgbClr val="2D6A9F"/>
                </a:solidFill>
                <a:latin typeface="Calibri" pitchFamily="34" charset="0"/>
                <a:ea typeface="Calibri" pitchFamily="34" charset="-122"/>
                <a:cs typeface="Calibri" pitchFamily="34" charset="-120"/>
              </a:rPr>
              <a:t>Mean ≈ Median ≈ Mode</a:t>
            </a:r>
            <a:endParaRPr lang="en-US" sz="1700" dirty="0"/>
          </a:p>
          <a:p>
            <a:pPr marL="203200" indent="-203200">
              <a:spcAft>
                <a:spcPts val="1400"/>
              </a:spcAft>
              <a:buSzPct val="100000"/>
              <a:buChar char="•"/>
            </a:pPr>
            <a:r>
              <a:rPr lang="en-US" sz="1700" b="1" dirty="0">
                <a:solidFill>
                  <a:srgbClr val="2D6A9F"/>
                </a:solidFill>
                <a:latin typeface="Calibri" pitchFamily="34" charset="0"/>
                <a:ea typeface="Calibri" pitchFamily="34" charset="-122"/>
                <a:cs typeface="Calibri" pitchFamily="34" charset="-120"/>
              </a:rPr>
              <a:t>Skewness ≈ 0</a:t>
            </a:r>
            <a:endParaRPr lang="en-US" sz="1700" dirty="0"/>
          </a:p>
          <a:p>
            <a:pPr marL="203200" indent="-203200">
              <a:spcAft>
                <a:spcPts val="1400"/>
              </a:spcAft>
              <a:buSzPct val="100000"/>
              <a:buChar char="•"/>
            </a:pPr>
            <a:r>
              <a:rPr lang="en-US" sz="1700" dirty="0">
                <a:solidFill>
                  <a:srgbClr val="1B2733"/>
                </a:solidFill>
                <a:latin typeface="Calibri" pitchFamily="34" charset="0"/>
                <a:ea typeface="Calibri" pitchFamily="34" charset="-122"/>
                <a:cs typeface="Calibri" pitchFamily="34" charset="-120"/>
              </a:rPr>
              <a:t>The normal distribution is the classic symmetric example (e.g. adult heights).</a:t>
            </a:r>
            <a:endParaRPr lang="en-US" sz="1700" dirty="0"/>
          </a:p>
        </p:txBody>
      </p:sp>
      <p:sp>
        <p:nvSpPr>
          <p:cNvPr id="10" name="Shape 7"/>
          <p:cNvSpPr/>
          <p:nvPr/>
        </p:nvSpPr>
        <p:spPr>
          <a:xfrm>
            <a:off x="548640" y="4434840"/>
            <a:ext cx="5212080" cy="1645920"/>
          </a:xfrm>
          <a:prstGeom prst="roundRect">
            <a:avLst>
              <a:gd name="adj" fmla="val 4444"/>
            </a:avLst>
          </a:prstGeom>
          <a:solidFill>
            <a:srgbClr val="FBF0D9"/>
          </a:solidFill>
          <a:ln w="12700">
            <a:solidFill>
              <a:srgbClr val="FBF0D9"/>
            </a:solidFill>
            <a:prstDash val="solid"/>
          </a:ln>
        </p:spPr>
      </p:sp>
      <p:sp>
        <p:nvSpPr>
          <p:cNvPr id="11" name="Text 8"/>
          <p:cNvSpPr txBox="1"/>
          <p:nvPr/>
        </p:nvSpPr>
        <p:spPr>
          <a:xfrm>
            <a:off x="822960" y="4434840"/>
            <a:ext cx="4663440" cy="1645920"/>
          </a:xfrm>
          <a:prstGeom prst="rect">
            <a:avLst/>
          </a:prstGeom>
          <a:noFill/>
          <a:ln/>
        </p:spPr>
        <p:txBody>
          <a:bodyPr wrap="square" lIns="0" tIns="0" rIns="0" bIns="0" rtlCol="0" anchor="ctr"/>
          <a:lstStyle/>
          <a:p>
            <a:pPr marL="0" indent="0">
              <a:buNone/>
            </a:pPr>
            <a:r>
              <a:rPr lang="en-US" sz="1500" b="1" dirty="0">
                <a:solidFill>
                  <a:srgbClr val="9A6B00"/>
                </a:solidFill>
                <a:latin typeface="Calibri" pitchFamily="34" charset="0"/>
                <a:ea typeface="Calibri" pitchFamily="34" charset="-122"/>
                <a:cs typeface="Calibri" pitchFamily="34" charset="-120"/>
              </a:rPr>
              <a:t>Careful: </a:t>
            </a:r>
            <a:r>
              <a:rPr lang="en-US" sz="1500" dirty="0">
                <a:solidFill>
                  <a:srgbClr val="1B2733"/>
                </a:solidFill>
                <a:latin typeface="Calibri" pitchFamily="34" charset="0"/>
                <a:ea typeface="Calibri" pitchFamily="34" charset="-122"/>
                <a:cs typeface="Calibri" pitchFamily="34" charset="-120"/>
              </a:rPr>
              <a:t>symmetric does not mean normal. A symmetric distribution can still have two peaks or heavy tails — skewness only measures lopsidedness.</a:t>
            </a:r>
            <a:endParaRPr lang="en-US" sz="1500" dirty="0"/>
          </a:p>
        </p:txBody>
      </p:sp>
      <p:sp>
        <p:nvSpPr>
          <p:cNvPr id="12" name="Shape 9"/>
          <p:cNvSpPr/>
          <p:nvPr/>
        </p:nvSpPr>
        <p:spPr>
          <a:xfrm>
            <a:off x="6035040" y="1508760"/>
            <a:ext cx="5605272" cy="2880360"/>
          </a:xfrm>
          <a:prstGeom prst="roundRect">
            <a:avLst>
              <a:gd name="adj" fmla="val 2540"/>
            </a:avLst>
          </a:prstGeom>
          <a:solidFill>
            <a:srgbClr val="F1F5FA"/>
          </a:solidFill>
          <a:ln w="12700">
            <a:solidFill>
              <a:srgbClr val="F1F5FA"/>
            </a:solidFill>
            <a:prstDash val="solid"/>
          </a:ln>
        </p:spPr>
      </p:sp>
      <p:sp>
        <p:nvSpPr>
          <p:cNvPr id="13" name="Text 10"/>
          <p:cNvSpPr txBox="1"/>
          <p:nvPr/>
        </p:nvSpPr>
        <p:spPr>
          <a:xfrm>
            <a:off x="6263640" y="1572768"/>
            <a:ext cx="5120640" cy="274320"/>
          </a:xfrm>
          <a:prstGeom prst="rect">
            <a:avLst/>
          </a:prstGeom>
          <a:noFill/>
          <a:ln/>
        </p:spPr>
        <p:txBody>
          <a:bodyPr wrap="square" lIns="0" tIns="0" rIns="0" bIns="0" rtlCol="0" anchor="ctr"/>
          <a:lstStyle/>
          <a:p>
            <a:pPr marL="0" indent="0">
              <a:buNone/>
            </a:pPr>
            <a:r>
              <a:rPr lang="en-US" sz="1300" b="1" dirty="0">
                <a:solidFill>
                  <a:srgbClr val="16263F"/>
                </a:solidFill>
                <a:latin typeface="Calibri" pitchFamily="34" charset="0"/>
                <a:ea typeface="Calibri" pitchFamily="34" charset="-122"/>
                <a:cs typeface="Calibri" pitchFamily="34" charset="-120"/>
              </a:rPr>
              <a:t>Symmetric distribution</a:t>
            </a:r>
            <a:endParaRPr lang="en-US" sz="1300" dirty="0"/>
          </a:p>
        </p:txBody>
      </p:sp>
      <p:graphicFrame>
        <p:nvGraphicFramePr>
          <p:cNvPr id="14" name="Chart 0"/>
          <p:cNvGraphicFramePr/>
          <p:nvPr/>
        </p:nvGraphicFramePr>
        <p:xfrm>
          <a:off x="6172200" y="1874520"/>
          <a:ext cx="5330952" cy="242316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1"/>
          <p:cNvSpPr/>
          <p:nvPr/>
        </p:nvSpPr>
        <p:spPr>
          <a:xfrm>
            <a:off x="6035040" y="4572000"/>
            <a:ext cx="5605272" cy="1508760"/>
          </a:xfrm>
          <a:prstGeom prst="roundRect">
            <a:avLst>
              <a:gd name="adj" fmla="val 4848"/>
            </a:avLst>
          </a:prstGeom>
          <a:solidFill>
            <a:srgbClr val="F1F5FA"/>
          </a:solidFill>
          <a:ln w="12700">
            <a:solidFill>
              <a:srgbClr val="F1F5FA"/>
            </a:solidFill>
            <a:prstDash val="solid"/>
          </a:ln>
        </p:spPr>
      </p:sp>
      <p:sp>
        <p:nvSpPr>
          <p:cNvPr id="16" name="Text 12"/>
          <p:cNvSpPr txBox="1"/>
          <p:nvPr/>
        </p:nvSpPr>
        <p:spPr>
          <a:xfrm>
            <a:off x="6263640" y="4663440"/>
            <a:ext cx="5148072" cy="274320"/>
          </a:xfrm>
          <a:prstGeom prst="rect">
            <a:avLst/>
          </a:prstGeom>
          <a:noFill/>
          <a:ln/>
        </p:spPr>
        <p:txBody>
          <a:bodyPr wrap="square" lIns="0" tIns="0" rIns="0" bIns="0" rtlCol="0" anchor="ctr"/>
          <a:lstStyle/>
          <a:p>
            <a:pPr marL="0" indent="0">
              <a:buNone/>
            </a:pPr>
            <a:r>
              <a:rPr lang="en-US" sz="1200" b="1" dirty="0">
                <a:solidFill>
                  <a:srgbClr val="5C6B7A"/>
                </a:solidFill>
                <a:latin typeface="Calibri" pitchFamily="34" charset="0"/>
                <a:ea typeface="Calibri" pitchFamily="34" charset="-122"/>
                <a:cs typeface="Calibri" pitchFamily="34" charset="-120"/>
              </a:rPr>
              <a:t>All three sit at the centre</a:t>
            </a:r>
            <a:endParaRPr lang="en-US" sz="1200" dirty="0"/>
          </a:p>
        </p:txBody>
      </p:sp>
      <p:sp>
        <p:nvSpPr>
          <p:cNvPr id="17" name="Shape 13"/>
          <p:cNvSpPr/>
          <p:nvPr/>
        </p:nvSpPr>
        <p:spPr>
          <a:xfrm>
            <a:off x="6355080" y="5401818"/>
            <a:ext cx="4965192" cy="0"/>
          </a:xfrm>
          <a:prstGeom prst="line">
            <a:avLst/>
          </a:prstGeom>
          <a:noFill/>
          <a:ln w="25400">
            <a:solidFill>
              <a:srgbClr val="5C6B7A"/>
            </a:solidFill>
            <a:prstDash val="solid"/>
            <a:tailEnd type="triangle"/>
          </a:ln>
        </p:spPr>
      </p:sp>
      <p:sp>
        <p:nvSpPr>
          <p:cNvPr id="18" name="Shape 14"/>
          <p:cNvSpPr/>
          <p:nvPr/>
        </p:nvSpPr>
        <p:spPr>
          <a:xfrm>
            <a:off x="8718804" y="5282946"/>
            <a:ext cx="237744" cy="237744"/>
          </a:xfrm>
          <a:prstGeom prst="ellipse">
            <a:avLst/>
          </a:prstGeom>
          <a:solidFill>
            <a:srgbClr val="2D6A9F"/>
          </a:solidFill>
          <a:ln w="19050">
            <a:solidFill>
              <a:srgbClr val="FFFFFF"/>
            </a:solidFill>
            <a:prstDash val="solid"/>
          </a:ln>
        </p:spPr>
      </p:sp>
      <p:sp>
        <p:nvSpPr>
          <p:cNvPr id="19" name="Text 15"/>
          <p:cNvSpPr txBox="1"/>
          <p:nvPr/>
        </p:nvSpPr>
        <p:spPr>
          <a:xfrm>
            <a:off x="8014716" y="5584698"/>
            <a:ext cx="1645920" cy="274320"/>
          </a:xfrm>
          <a:prstGeom prst="rect">
            <a:avLst/>
          </a:prstGeom>
          <a:noFill/>
          <a:ln/>
        </p:spPr>
        <p:txBody>
          <a:bodyPr wrap="square" lIns="0" tIns="0" rIns="0" bIns="0" rtlCol="0" anchor="ctr"/>
          <a:lstStyle/>
          <a:p>
            <a:pPr marL="0" indent="0" algn="ctr">
              <a:buNone/>
            </a:pPr>
            <a:r>
              <a:rPr lang="en-US" sz="1300" b="1" dirty="0">
                <a:solidFill>
                  <a:srgbClr val="1B2733"/>
                </a:solidFill>
                <a:latin typeface="Calibri" pitchFamily="34" charset="0"/>
                <a:ea typeface="Calibri" pitchFamily="34" charset="-122"/>
                <a:cs typeface="Calibri" pitchFamily="34" charset="-120"/>
              </a:rPr>
              <a:t>Mean ≈ Median ≈ Mode</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THE MATHS</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Skewness: the formula</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9</a:t>
            </a:r>
            <a:endParaRPr lang="en-US" sz="1000" dirty="0"/>
          </a:p>
        </p:txBody>
      </p:sp>
      <p:sp>
        <p:nvSpPr>
          <p:cNvPr id="9" name="Shape 6"/>
          <p:cNvSpPr/>
          <p:nvPr/>
        </p:nvSpPr>
        <p:spPr>
          <a:xfrm>
            <a:off x="548640" y="1508760"/>
            <a:ext cx="11094415" cy="1965960"/>
          </a:xfrm>
          <a:prstGeom prst="roundRect">
            <a:avLst>
              <a:gd name="adj" fmla="val 3721"/>
            </a:avLst>
          </a:prstGeom>
          <a:solidFill>
            <a:srgbClr val="16263F"/>
          </a:solidFill>
          <a:ln w="12700">
            <a:solidFill>
              <a:srgbClr val="16263F"/>
            </a:solidFill>
            <a:prstDash val="solid"/>
          </a:ln>
        </p:spPr>
      </p:sp>
      <p:sp>
        <p:nvSpPr>
          <p:cNvPr id="10" name="Text 7"/>
          <p:cNvSpPr txBox="1"/>
          <p:nvPr/>
        </p:nvSpPr>
        <p:spPr>
          <a:xfrm>
            <a:off x="548640" y="1600200"/>
            <a:ext cx="11094415" cy="1188720"/>
          </a:xfrm>
          <a:prstGeom prst="rect">
            <a:avLst/>
          </a:prstGeom>
          <a:noFill/>
          <a:ln/>
        </p:spPr>
        <p:txBody>
          <a:bodyPr wrap="square" lIns="0" tIns="0" rIns="0" bIns="0" rtlCol="0" anchor="ctr"/>
          <a:lstStyle/>
          <a:p>
            <a:pPr marL="0" indent="0" algn="ctr">
              <a:buNone/>
            </a:pPr>
            <a:r>
              <a:rPr lang="en-US" sz="4400" b="1" dirty="0">
                <a:solidFill>
                  <a:srgbClr val="F4B942"/>
                </a:solidFill>
                <a:latin typeface="Cambria" pitchFamily="34" charset="0"/>
                <a:ea typeface="Cambria" pitchFamily="34" charset="-122"/>
                <a:cs typeface="Cambria" pitchFamily="34" charset="-120"/>
              </a:rPr>
              <a:t>Skewness  =  E[(X − μ)³]  /  σ³</a:t>
            </a:r>
            <a:endParaRPr lang="en-US" sz="4400" dirty="0"/>
          </a:p>
        </p:txBody>
      </p:sp>
      <p:sp>
        <p:nvSpPr>
          <p:cNvPr id="11" name="Text 8"/>
          <p:cNvSpPr txBox="1"/>
          <p:nvPr/>
        </p:nvSpPr>
        <p:spPr>
          <a:xfrm>
            <a:off x="548640" y="2788920"/>
            <a:ext cx="11094415" cy="457200"/>
          </a:xfrm>
          <a:prstGeom prst="rect">
            <a:avLst/>
          </a:prstGeom>
          <a:noFill/>
          <a:ln/>
        </p:spPr>
        <p:txBody>
          <a:bodyPr wrap="square" lIns="0" tIns="0" rIns="0" bIns="0" rtlCol="0" anchor="ctr"/>
          <a:lstStyle/>
          <a:p>
            <a:pPr marL="0" indent="0" algn="ctr">
              <a:buNone/>
            </a:pPr>
            <a:r>
              <a:rPr lang="en-US" sz="1500" i="1" dirty="0">
                <a:solidFill>
                  <a:srgbClr val="DCE7F2"/>
                </a:solidFill>
                <a:latin typeface="Calibri" pitchFamily="34" charset="0"/>
                <a:ea typeface="Calibri" pitchFamily="34" charset="-122"/>
                <a:cs typeface="Calibri" pitchFamily="34" charset="-120"/>
              </a:rPr>
              <a:t>population skewness — the average cubed deviation from the mean, scaled by σ³</a:t>
            </a:r>
            <a:endParaRPr lang="en-US" sz="1500" dirty="0"/>
          </a:p>
        </p:txBody>
      </p:sp>
      <p:sp>
        <p:nvSpPr>
          <p:cNvPr id="12" name="Shape 9"/>
          <p:cNvSpPr/>
          <p:nvPr/>
        </p:nvSpPr>
        <p:spPr>
          <a:xfrm>
            <a:off x="548640" y="3703320"/>
            <a:ext cx="2636444" cy="1600200"/>
          </a:xfrm>
          <a:prstGeom prst="roundRect">
            <a:avLst>
              <a:gd name="adj" fmla="val 4571"/>
            </a:avLst>
          </a:prstGeom>
          <a:solidFill>
            <a:srgbClr val="F1F5FA"/>
          </a:solidFill>
          <a:ln w="12700">
            <a:solidFill>
              <a:srgbClr val="F1F5FA"/>
            </a:solidFill>
            <a:prstDash val="solid"/>
          </a:ln>
        </p:spPr>
      </p:sp>
      <p:sp>
        <p:nvSpPr>
          <p:cNvPr id="13" name="Text 10"/>
          <p:cNvSpPr txBox="1"/>
          <p:nvPr/>
        </p:nvSpPr>
        <p:spPr>
          <a:xfrm>
            <a:off x="731520" y="3794760"/>
            <a:ext cx="822960" cy="640080"/>
          </a:xfrm>
          <a:prstGeom prst="rect">
            <a:avLst/>
          </a:prstGeom>
          <a:noFill/>
          <a:ln/>
        </p:spPr>
        <p:txBody>
          <a:bodyPr wrap="square" lIns="0" tIns="0" rIns="0" bIns="0" rtlCol="0" anchor="ctr"/>
          <a:lstStyle/>
          <a:p>
            <a:pPr marL="0" indent="0">
              <a:buNone/>
            </a:pPr>
            <a:r>
              <a:rPr lang="en-US" sz="3400" b="1" dirty="0">
                <a:solidFill>
                  <a:srgbClr val="2D6A9F"/>
                </a:solidFill>
                <a:latin typeface="Cambria" pitchFamily="34" charset="0"/>
                <a:ea typeface="Cambria" pitchFamily="34" charset="-122"/>
                <a:cs typeface="Cambria" pitchFamily="34" charset="-120"/>
              </a:rPr>
              <a:t>X</a:t>
            </a:r>
            <a:endParaRPr lang="en-US" sz="3400" dirty="0"/>
          </a:p>
        </p:txBody>
      </p:sp>
      <p:sp>
        <p:nvSpPr>
          <p:cNvPr id="14" name="Text 11"/>
          <p:cNvSpPr txBox="1"/>
          <p:nvPr/>
        </p:nvSpPr>
        <p:spPr>
          <a:xfrm>
            <a:off x="731520" y="4480560"/>
            <a:ext cx="2270684" cy="320040"/>
          </a:xfrm>
          <a:prstGeom prst="rect">
            <a:avLst/>
          </a:prstGeom>
          <a:noFill/>
          <a:ln/>
        </p:spPr>
        <p:txBody>
          <a:bodyPr wrap="square" lIns="0" tIns="0" rIns="0" bIns="0" rtlCol="0" anchor="ctr"/>
          <a:lstStyle/>
          <a:p>
            <a:pPr marL="0" indent="0">
              <a:buNone/>
            </a:pPr>
            <a:r>
              <a:rPr lang="en-US" sz="1500" b="1" dirty="0">
                <a:solidFill>
                  <a:srgbClr val="16263F"/>
                </a:solidFill>
                <a:latin typeface="Calibri" pitchFamily="34" charset="0"/>
                <a:ea typeface="Calibri" pitchFamily="34" charset="-122"/>
                <a:cs typeface="Calibri" pitchFamily="34" charset="-120"/>
              </a:rPr>
              <a:t>individual observation</a:t>
            </a:r>
            <a:endParaRPr lang="en-US" sz="1500" dirty="0"/>
          </a:p>
        </p:txBody>
      </p:sp>
      <p:sp>
        <p:nvSpPr>
          <p:cNvPr id="15" name="Text 12"/>
          <p:cNvSpPr txBox="1"/>
          <p:nvPr/>
        </p:nvSpPr>
        <p:spPr>
          <a:xfrm>
            <a:off x="731520" y="4818888"/>
            <a:ext cx="2270684" cy="365760"/>
          </a:xfrm>
          <a:prstGeom prst="rect">
            <a:avLst/>
          </a:prstGeom>
          <a:noFill/>
          <a:ln/>
        </p:spPr>
        <p:txBody>
          <a:bodyPr wrap="square" lIns="0" tIns="0" rIns="0" bIns="0" rtlCol="0" anchor="ctr"/>
          <a:lstStyle/>
          <a:p>
            <a:pPr marL="0" indent="0">
              <a:buNone/>
            </a:pPr>
            <a:r>
              <a:rPr lang="en-US" sz="1300" dirty="0">
                <a:solidFill>
                  <a:srgbClr val="5C6B7A"/>
                </a:solidFill>
                <a:latin typeface="Calibri" pitchFamily="34" charset="0"/>
                <a:ea typeface="Calibri" pitchFamily="34" charset="-122"/>
                <a:cs typeface="Calibri" pitchFamily="34" charset="-120"/>
              </a:rPr>
              <a:t>one data value</a:t>
            </a:r>
            <a:endParaRPr lang="en-US" sz="1300" dirty="0"/>
          </a:p>
        </p:txBody>
      </p:sp>
      <p:sp>
        <p:nvSpPr>
          <p:cNvPr id="16" name="Shape 13"/>
          <p:cNvSpPr/>
          <p:nvPr/>
        </p:nvSpPr>
        <p:spPr>
          <a:xfrm>
            <a:off x="3367964" y="3703320"/>
            <a:ext cx="2636444" cy="1600200"/>
          </a:xfrm>
          <a:prstGeom prst="roundRect">
            <a:avLst>
              <a:gd name="adj" fmla="val 4571"/>
            </a:avLst>
          </a:prstGeom>
          <a:solidFill>
            <a:srgbClr val="F1F5FA"/>
          </a:solidFill>
          <a:ln w="12700">
            <a:solidFill>
              <a:srgbClr val="F1F5FA"/>
            </a:solidFill>
            <a:prstDash val="solid"/>
          </a:ln>
        </p:spPr>
      </p:sp>
      <p:sp>
        <p:nvSpPr>
          <p:cNvPr id="17" name="Text 14"/>
          <p:cNvSpPr txBox="1"/>
          <p:nvPr/>
        </p:nvSpPr>
        <p:spPr>
          <a:xfrm>
            <a:off x="3550844" y="3794760"/>
            <a:ext cx="822960" cy="640080"/>
          </a:xfrm>
          <a:prstGeom prst="rect">
            <a:avLst/>
          </a:prstGeom>
          <a:noFill/>
          <a:ln/>
        </p:spPr>
        <p:txBody>
          <a:bodyPr wrap="square" lIns="0" tIns="0" rIns="0" bIns="0" rtlCol="0" anchor="ctr"/>
          <a:lstStyle/>
          <a:p>
            <a:pPr marL="0" indent="0">
              <a:buNone/>
            </a:pPr>
            <a:r>
              <a:rPr lang="en-US" sz="3400" b="1" dirty="0">
                <a:solidFill>
                  <a:srgbClr val="2D6A9F"/>
                </a:solidFill>
                <a:latin typeface="Cambria" pitchFamily="34" charset="0"/>
                <a:ea typeface="Cambria" pitchFamily="34" charset="-122"/>
                <a:cs typeface="Cambria" pitchFamily="34" charset="-120"/>
              </a:rPr>
              <a:t>μ</a:t>
            </a:r>
            <a:endParaRPr lang="en-US" sz="3400" dirty="0"/>
          </a:p>
        </p:txBody>
      </p:sp>
      <p:sp>
        <p:nvSpPr>
          <p:cNvPr id="18" name="Text 15"/>
          <p:cNvSpPr txBox="1"/>
          <p:nvPr/>
        </p:nvSpPr>
        <p:spPr>
          <a:xfrm>
            <a:off x="3550844" y="4480560"/>
            <a:ext cx="2270684" cy="320040"/>
          </a:xfrm>
          <a:prstGeom prst="rect">
            <a:avLst/>
          </a:prstGeom>
          <a:noFill/>
          <a:ln/>
        </p:spPr>
        <p:txBody>
          <a:bodyPr wrap="square" lIns="0" tIns="0" rIns="0" bIns="0" rtlCol="0" anchor="ctr"/>
          <a:lstStyle/>
          <a:p>
            <a:pPr marL="0" indent="0">
              <a:buNone/>
            </a:pPr>
            <a:r>
              <a:rPr lang="en-US" sz="1500" b="1" dirty="0">
                <a:solidFill>
                  <a:srgbClr val="16263F"/>
                </a:solidFill>
                <a:latin typeface="Calibri" pitchFamily="34" charset="0"/>
                <a:ea typeface="Calibri" pitchFamily="34" charset="-122"/>
                <a:cs typeface="Calibri" pitchFamily="34" charset="-120"/>
              </a:rPr>
              <a:t>mean</a:t>
            </a:r>
            <a:endParaRPr lang="en-US" sz="1500" dirty="0"/>
          </a:p>
        </p:txBody>
      </p:sp>
      <p:sp>
        <p:nvSpPr>
          <p:cNvPr id="19" name="Text 16"/>
          <p:cNvSpPr txBox="1"/>
          <p:nvPr/>
        </p:nvSpPr>
        <p:spPr>
          <a:xfrm>
            <a:off x="3550844" y="4818888"/>
            <a:ext cx="2270684" cy="365760"/>
          </a:xfrm>
          <a:prstGeom prst="rect">
            <a:avLst/>
          </a:prstGeom>
          <a:noFill/>
          <a:ln/>
        </p:spPr>
        <p:txBody>
          <a:bodyPr wrap="square" lIns="0" tIns="0" rIns="0" bIns="0" rtlCol="0" anchor="ctr"/>
          <a:lstStyle/>
          <a:p>
            <a:pPr marL="0" indent="0">
              <a:buNone/>
            </a:pPr>
            <a:r>
              <a:rPr lang="en-US" sz="1300" dirty="0">
                <a:solidFill>
                  <a:srgbClr val="5C6B7A"/>
                </a:solidFill>
                <a:latin typeface="Calibri" pitchFamily="34" charset="0"/>
                <a:ea typeface="Calibri" pitchFamily="34" charset="-122"/>
                <a:cs typeface="Calibri" pitchFamily="34" charset="-120"/>
              </a:rPr>
              <a:t>the average of all X</a:t>
            </a:r>
            <a:endParaRPr lang="en-US" sz="1300" dirty="0"/>
          </a:p>
        </p:txBody>
      </p:sp>
      <p:sp>
        <p:nvSpPr>
          <p:cNvPr id="20" name="Shape 17"/>
          <p:cNvSpPr/>
          <p:nvPr/>
        </p:nvSpPr>
        <p:spPr>
          <a:xfrm>
            <a:off x="6187288" y="3703320"/>
            <a:ext cx="2636444" cy="1600200"/>
          </a:xfrm>
          <a:prstGeom prst="roundRect">
            <a:avLst>
              <a:gd name="adj" fmla="val 4571"/>
            </a:avLst>
          </a:prstGeom>
          <a:solidFill>
            <a:srgbClr val="F1F5FA"/>
          </a:solidFill>
          <a:ln w="12700">
            <a:solidFill>
              <a:srgbClr val="F1F5FA"/>
            </a:solidFill>
            <a:prstDash val="solid"/>
          </a:ln>
        </p:spPr>
      </p:sp>
      <p:sp>
        <p:nvSpPr>
          <p:cNvPr id="21" name="Text 18"/>
          <p:cNvSpPr txBox="1"/>
          <p:nvPr/>
        </p:nvSpPr>
        <p:spPr>
          <a:xfrm>
            <a:off x="6370168" y="3794760"/>
            <a:ext cx="822960" cy="640080"/>
          </a:xfrm>
          <a:prstGeom prst="rect">
            <a:avLst/>
          </a:prstGeom>
          <a:noFill/>
          <a:ln/>
        </p:spPr>
        <p:txBody>
          <a:bodyPr wrap="square" lIns="0" tIns="0" rIns="0" bIns="0" rtlCol="0" anchor="ctr"/>
          <a:lstStyle/>
          <a:p>
            <a:pPr marL="0" indent="0">
              <a:buNone/>
            </a:pPr>
            <a:r>
              <a:rPr lang="en-US" sz="3400" b="1" dirty="0">
                <a:solidFill>
                  <a:srgbClr val="2D6A9F"/>
                </a:solidFill>
                <a:latin typeface="Cambria" pitchFamily="34" charset="0"/>
                <a:ea typeface="Cambria" pitchFamily="34" charset="-122"/>
                <a:cs typeface="Cambria" pitchFamily="34" charset="-120"/>
              </a:rPr>
              <a:t>σ</a:t>
            </a:r>
            <a:endParaRPr lang="en-US" sz="3400" dirty="0"/>
          </a:p>
        </p:txBody>
      </p:sp>
      <p:sp>
        <p:nvSpPr>
          <p:cNvPr id="22" name="Text 19"/>
          <p:cNvSpPr txBox="1"/>
          <p:nvPr/>
        </p:nvSpPr>
        <p:spPr>
          <a:xfrm>
            <a:off x="6370168" y="4480560"/>
            <a:ext cx="2270684" cy="320040"/>
          </a:xfrm>
          <a:prstGeom prst="rect">
            <a:avLst/>
          </a:prstGeom>
          <a:noFill/>
          <a:ln/>
        </p:spPr>
        <p:txBody>
          <a:bodyPr wrap="square" lIns="0" tIns="0" rIns="0" bIns="0" rtlCol="0" anchor="ctr"/>
          <a:lstStyle/>
          <a:p>
            <a:pPr marL="0" indent="0">
              <a:buNone/>
            </a:pPr>
            <a:r>
              <a:rPr lang="en-US" sz="1500" b="1" dirty="0">
                <a:solidFill>
                  <a:srgbClr val="16263F"/>
                </a:solidFill>
                <a:latin typeface="Calibri" pitchFamily="34" charset="0"/>
                <a:ea typeface="Calibri" pitchFamily="34" charset="-122"/>
                <a:cs typeface="Calibri" pitchFamily="34" charset="-120"/>
              </a:rPr>
              <a:t>standard deviation</a:t>
            </a:r>
            <a:endParaRPr lang="en-US" sz="1500" dirty="0"/>
          </a:p>
        </p:txBody>
      </p:sp>
      <p:sp>
        <p:nvSpPr>
          <p:cNvPr id="23" name="Text 20"/>
          <p:cNvSpPr txBox="1"/>
          <p:nvPr/>
        </p:nvSpPr>
        <p:spPr>
          <a:xfrm>
            <a:off x="6370168" y="4818888"/>
            <a:ext cx="2270684" cy="365760"/>
          </a:xfrm>
          <a:prstGeom prst="rect">
            <a:avLst/>
          </a:prstGeom>
          <a:noFill/>
          <a:ln/>
        </p:spPr>
        <p:txBody>
          <a:bodyPr wrap="square" lIns="0" tIns="0" rIns="0" bIns="0" rtlCol="0" anchor="ctr"/>
          <a:lstStyle/>
          <a:p>
            <a:pPr marL="0" indent="0">
              <a:buNone/>
            </a:pPr>
            <a:r>
              <a:rPr lang="en-US" sz="1300" dirty="0">
                <a:solidFill>
                  <a:srgbClr val="5C6B7A"/>
                </a:solidFill>
                <a:latin typeface="Calibri" pitchFamily="34" charset="0"/>
                <a:ea typeface="Calibri" pitchFamily="34" charset="-122"/>
                <a:cs typeface="Calibri" pitchFamily="34" charset="-120"/>
              </a:rPr>
              <a:t>the typical spread</a:t>
            </a:r>
            <a:endParaRPr lang="en-US" sz="1300" dirty="0"/>
          </a:p>
        </p:txBody>
      </p:sp>
      <p:sp>
        <p:nvSpPr>
          <p:cNvPr id="24" name="Shape 21"/>
          <p:cNvSpPr/>
          <p:nvPr/>
        </p:nvSpPr>
        <p:spPr>
          <a:xfrm>
            <a:off x="9006611" y="3703320"/>
            <a:ext cx="2636444" cy="1600200"/>
          </a:xfrm>
          <a:prstGeom prst="roundRect">
            <a:avLst>
              <a:gd name="adj" fmla="val 4571"/>
            </a:avLst>
          </a:prstGeom>
          <a:solidFill>
            <a:srgbClr val="F1F5FA"/>
          </a:solidFill>
          <a:ln w="12700">
            <a:solidFill>
              <a:srgbClr val="F1F5FA"/>
            </a:solidFill>
            <a:prstDash val="solid"/>
          </a:ln>
        </p:spPr>
      </p:sp>
      <p:sp>
        <p:nvSpPr>
          <p:cNvPr id="25" name="Text 22"/>
          <p:cNvSpPr txBox="1"/>
          <p:nvPr/>
        </p:nvSpPr>
        <p:spPr>
          <a:xfrm>
            <a:off x="9189491" y="3794760"/>
            <a:ext cx="822960" cy="640080"/>
          </a:xfrm>
          <a:prstGeom prst="rect">
            <a:avLst/>
          </a:prstGeom>
          <a:noFill/>
          <a:ln/>
        </p:spPr>
        <p:txBody>
          <a:bodyPr wrap="square" lIns="0" tIns="0" rIns="0" bIns="0" rtlCol="0" anchor="ctr"/>
          <a:lstStyle/>
          <a:p>
            <a:pPr marL="0" indent="0">
              <a:buNone/>
            </a:pPr>
            <a:r>
              <a:rPr lang="en-US" sz="3400" b="1" dirty="0">
                <a:solidFill>
                  <a:srgbClr val="2D6A9F"/>
                </a:solidFill>
                <a:latin typeface="Cambria" pitchFamily="34" charset="0"/>
                <a:ea typeface="Cambria" pitchFamily="34" charset="-122"/>
                <a:cs typeface="Cambria" pitchFamily="34" charset="-120"/>
              </a:rPr>
              <a:t>E</a:t>
            </a:r>
            <a:endParaRPr lang="en-US" sz="3400" dirty="0"/>
          </a:p>
        </p:txBody>
      </p:sp>
      <p:sp>
        <p:nvSpPr>
          <p:cNvPr id="26" name="Text 23"/>
          <p:cNvSpPr txBox="1"/>
          <p:nvPr/>
        </p:nvSpPr>
        <p:spPr>
          <a:xfrm>
            <a:off x="9189491" y="4480560"/>
            <a:ext cx="2270684" cy="320040"/>
          </a:xfrm>
          <a:prstGeom prst="rect">
            <a:avLst/>
          </a:prstGeom>
          <a:noFill/>
          <a:ln/>
        </p:spPr>
        <p:txBody>
          <a:bodyPr wrap="square" lIns="0" tIns="0" rIns="0" bIns="0" rtlCol="0" anchor="ctr"/>
          <a:lstStyle/>
          <a:p>
            <a:pPr marL="0" indent="0">
              <a:buNone/>
            </a:pPr>
            <a:r>
              <a:rPr lang="en-US" sz="1500" b="1" dirty="0">
                <a:solidFill>
                  <a:srgbClr val="16263F"/>
                </a:solidFill>
                <a:latin typeface="Calibri" pitchFamily="34" charset="0"/>
                <a:ea typeface="Calibri" pitchFamily="34" charset="-122"/>
                <a:cs typeface="Calibri" pitchFamily="34" charset="-120"/>
              </a:rPr>
              <a:t>expected value</a:t>
            </a:r>
            <a:endParaRPr lang="en-US" sz="1500" dirty="0"/>
          </a:p>
        </p:txBody>
      </p:sp>
      <p:sp>
        <p:nvSpPr>
          <p:cNvPr id="27" name="Text 24"/>
          <p:cNvSpPr txBox="1"/>
          <p:nvPr/>
        </p:nvSpPr>
        <p:spPr>
          <a:xfrm>
            <a:off x="9189491" y="4818888"/>
            <a:ext cx="2270684" cy="365760"/>
          </a:xfrm>
          <a:prstGeom prst="rect">
            <a:avLst/>
          </a:prstGeom>
          <a:noFill/>
          <a:ln/>
        </p:spPr>
        <p:txBody>
          <a:bodyPr wrap="square" lIns="0" tIns="0" rIns="0" bIns="0" rtlCol="0" anchor="ctr"/>
          <a:lstStyle/>
          <a:p>
            <a:pPr marL="0" indent="0">
              <a:buNone/>
            </a:pPr>
            <a:r>
              <a:rPr lang="en-US" sz="1300" dirty="0">
                <a:solidFill>
                  <a:srgbClr val="5C6B7A"/>
                </a:solidFill>
                <a:latin typeface="Calibri" pitchFamily="34" charset="0"/>
                <a:ea typeface="Calibri" pitchFamily="34" charset="-122"/>
                <a:cs typeface="Calibri" pitchFamily="34" charset="-120"/>
              </a:rPr>
              <a:t>the average over all outcomes</a:t>
            </a:r>
            <a:endParaRPr lang="en-US" sz="1300" dirty="0"/>
          </a:p>
        </p:txBody>
      </p:sp>
      <p:sp>
        <p:nvSpPr>
          <p:cNvPr id="28" name="Text 25"/>
          <p:cNvSpPr txBox="1"/>
          <p:nvPr/>
        </p:nvSpPr>
        <p:spPr>
          <a:xfrm>
            <a:off x="548640" y="5623560"/>
            <a:ext cx="11094415" cy="411480"/>
          </a:xfrm>
          <a:prstGeom prst="rect">
            <a:avLst/>
          </a:prstGeom>
          <a:noFill/>
          <a:ln/>
        </p:spPr>
        <p:txBody>
          <a:bodyPr wrap="square" lIns="0" tIns="0" rIns="0" bIns="0" rtlCol="0" anchor="ctr"/>
          <a:lstStyle/>
          <a:p>
            <a:pPr marL="0" indent="0">
              <a:buNone/>
            </a:pPr>
            <a:r>
              <a:rPr lang="en-US" sz="1500" i="1" dirty="0">
                <a:solidFill>
                  <a:srgbClr val="2D6A9F"/>
                </a:solidFill>
                <a:latin typeface="Calibri" pitchFamily="34" charset="0"/>
                <a:ea typeface="Calibri" pitchFamily="34" charset="-122"/>
                <a:cs typeface="Calibri" pitchFamily="34" charset="-120"/>
              </a:rPr>
              <a:t>Compare with variance, E[(X − μ)²]: same recipe, but the power is 2 instead of 3.</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WHY IT WORKS</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Why the third power?</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10</a:t>
            </a:r>
            <a:endParaRPr lang="en-US" sz="1000" dirty="0"/>
          </a:p>
        </p:txBody>
      </p:sp>
      <p:sp>
        <p:nvSpPr>
          <p:cNvPr id="9" name="Shape 6"/>
          <p:cNvSpPr/>
          <p:nvPr/>
        </p:nvSpPr>
        <p:spPr>
          <a:xfrm>
            <a:off x="548640" y="1508760"/>
            <a:ext cx="3576218" cy="2194560"/>
          </a:xfrm>
          <a:prstGeom prst="roundRect">
            <a:avLst>
              <a:gd name="adj" fmla="val 3333"/>
            </a:avLst>
          </a:prstGeom>
          <a:solidFill>
            <a:srgbClr val="F1F5FA"/>
          </a:solidFill>
          <a:ln w="12700">
            <a:solidFill>
              <a:srgbClr val="F1F5FA"/>
            </a:solidFill>
            <a:prstDash val="solid"/>
          </a:ln>
        </p:spPr>
      </p:sp>
      <p:sp>
        <p:nvSpPr>
          <p:cNvPr id="10" name="Shape 7"/>
          <p:cNvSpPr/>
          <p:nvPr/>
        </p:nvSpPr>
        <p:spPr>
          <a:xfrm>
            <a:off x="777240" y="1691640"/>
            <a:ext cx="502920" cy="502920"/>
          </a:xfrm>
          <a:prstGeom prst="ellipse">
            <a:avLst/>
          </a:prstGeom>
          <a:solidFill>
            <a:srgbClr val="16263F"/>
          </a:solidFill>
          <a:ln w="12700">
            <a:solidFill>
              <a:srgbClr val="16263F"/>
            </a:solidFill>
            <a:prstDash val="solid"/>
          </a:ln>
        </p:spPr>
      </p:sp>
      <p:sp>
        <p:nvSpPr>
          <p:cNvPr id="11" name="Text 8"/>
          <p:cNvSpPr txBox="1"/>
          <p:nvPr/>
        </p:nvSpPr>
        <p:spPr>
          <a:xfrm>
            <a:off x="777240" y="1691640"/>
            <a:ext cx="502920" cy="502920"/>
          </a:xfrm>
          <a:prstGeom prst="rect">
            <a:avLst/>
          </a:prstGeom>
          <a:noFill/>
          <a:ln/>
        </p:spPr>
        <p:txBody>
          <a:bodyPr wrap="square" lIns="0" tIns="0" rIns="0" bIns="0" rtlCol="0" anchor="ctr"/>
          <a:lstStyle/>
          <a:p>
            <a:pPr marL="0" indent="0" algn="ctr">
              <a:buNone/>
            </a:pPr>
            <a:r>
              <a:rPr lang="en-US" sz="1800" b="1" dirty="0">
                <a:solidFill>
                  <a:srgbClr val="F4B942"/>
                </a:solidFill>
                <a:latin typeface="Cambria" pitchFamily="34" charset="0"/>
                <a:ea typeface="Cambria" pitchFamily="34" charset="-122"/>
                <a:cs typeface="Cambria" pitchFamily="34" charset="-120"/>
              </a:rPr>
              <a:t>1</a:t>
            </a:r>
            <a:endParaRPr lang="en-US" sz="1800" dirty="0"/>
          </a:p>
        </p:txBody>
      </p:sp>
      <p:sp>
        <p:nvSpPr>
          <p:cNvPr id="12" name="Text 9"/>
          <p:cNvSpPr txBox="1"/>
          <p:nvPr/>
        </p:nvSpPr>
        <p:spPr>
          <a:xfrm>
            <a:off x="1417320" y="1691640"/>
            <a:ext cx="2524658" cy="50292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Keeps the direction</a:t>
            </a:r>
            <a:endParaRPr lang="en-US" sz="1600" dirty="0"/>
          </a:p>
        </p:txBody>
      </p:sp>
      <p:sp>
        <p:nvSpPr>
          <p:cNvPr id="13" name="Text 10"/>
          <p:cNvSpPr txBox="1"/>
          <p:nvPr/>
        </p:nvSpPr>
        <p:spPr>
          <a:xfrm>
            <a:off x="777240" y="2331720"/>
            <a:ext cx="3119018" cy="141732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Positive deviations give positive contributions; negative deviations give negative ones. Squaring would make every deviation positive and hide the direction.</a:t>
            </a:r>
            <a:endParaRPr lang="en-US" sz="1400" dirty="0"/>
          </a:p>
        </p:txBody>
      </p:sp>
      <p:sp>
        <p:nvSpPr>
          <p:cNvPr id="14" name="Shape 11"/>
          <p:cNvSpPr/>
          <p:nvPr/>
        </p:nvSpPr>
        <p:spPr>
          <a:xfrm>
            <a:off x="4307738" y="1508760"/>
            <a:ext cx="3576218" cy="2194560"/>
          </a:xfrm>
          <a:prstGeom prst="roundRect">
            <a:avLst>
              <a:gd name="adj" fmla="val 3333"/>
            </a:avLst>
          </a:prstGeom>
          <a:solidFill>
            <a:srgbClr val="F1F5FA"/>
          </a:solidFill>
          <a:ln w="12700">
            <a:solidFill>
              <a:srgbClr val="F1F5FA"/>
            </a:solidFill>
            <a:prstDash val="solid"/>
          </a:ln>
        </p:spPr>
      </p:sp>
      <p:sp>
        <p:nvSpPr>
          <p:cNvPr id="15" name="Shape 12"/>
          <p:cNvSpPr/>
          <p:nvPr/>
        </p:nvSpPr>
        <p:spPr>
          <a:xfrm>
            <a:off x="4536338" y="1691640"/>
            <a:ext cx="502920" cy="502920"/>
          </a:xfrm>
          <a:prstGeom prst="ellipse">
            <a:avLst/>
          </a:prstGeom>
          <a:solidFill>
            <a:srgbClr val="16263F"/>
          </a:solidFill>
          <a:ln w="12700">
            <a:solidFill>
              <a:srgbClr val="16263F"/>
            </a:solidFill>
            <a:prstDash val="solid"/>
          </a:ln>
        </p:spPr>
      </p:sp>
      <p:sp>
        <p:nvSpPr>
          <p:cNvPr id="16" name="Text 13"/>
          <p:cNvSpPr txBox="1"/>
          <p:nvPr/>
        </p:nvSpPr>
        <p:spPr>
          <a:xfrm>
            <a:off x="4536338" y="1691640"/>
            <a:ext cx="502920" cy="502920"/>
          </a:xfrm>
          <a:prstGeom prst="rect">
            <a:avLst/>
          </a:prstGeom>
          <a:noFill/>
          <a:ln/>
        </p:spPr>
        <p:txBody>
          <a:bodyPr wrap="square" lIns="0" tIns="0" rIns="0" bIns="0" rtlCol="0" anchor="ctr"/>
          <a:lstStyle/>
          <a:p>
            <a:pPr marL="0" indent="0" algn="ctr">
              <a:buNone/>
            </a:pPr>
            <a:r>
              <a:rPr lang="en-US" sz="1800" b="1" dirty="0">
                <a:solidFill>
                  <a:srgbClr val="F4B942"/>
                </a:solidFill>
                <a:latin typeface="Cambria" pitchFamily="34" charset="0"/>
                <a:ea typeface="Cambria" pitchFamily="34" charset="-122"/>
                <a:cs typeface="Cambria" pitchFamily="34" charset="-120"/>
              </a:rPr>
              <a:t>2</a:t>
            </a:r>
            <a:endParaRPr lang="en-US" sz="1800" dirty="0"/>
          </a:p>
        </p:txBody>
      </p:sp>
      <p:sp>
        <p:nvSpPr>
          <p:cNvPr id="17" name="Text 14"/>
          <p:cNvSpPr txBox="1"/>
          <p:nvPr/>
        </p:nvSpPr>
        <p:spPr>
          <a:xfrm>
            <a:off x="5176418" y="1691640"/>
            <a:ext cx="2524658" cy="50292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Big deviations dominate</a:t>
            </a:r>
            <a:endParaRPr lang="en-US" sz="1600" dirty="0"/>
          </a:p>
        </p:txBody>
      </p:sp>
      <p:sp>
        <p:nvSpPr>
          <p:cNvPr id="18" name="Text 15"/>
          <p:cNvSpPr txBox="1"/>
          <p:nvPr/>
        </p:nvSpPr>
        <p:spPr>
          <a:xfrm>
            <a:off x="4536338" y="2331720"/>
            <a:ext cx="3119018" cy="141732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Cubing amplifies values far from the mean, so a long tail shows up strongly in the result.</a:t>
            </a:r>
            <a:endParaRPr lang="en-US" sz="1400" dirty="0"/>
          </a:p>
        </p:txBody>
      </p:sp>
      <p:sp>
        <p:nvSpPr>
          <p:cNvPr id="19" name="Shape 16"/>
          <p:cNvSpPr/>
          <p:nvPr/>
        </p:nvSpPr>
        <p:spPr>
          <a:xfrm>
            <a:off x="8066837" y="1508760"/>
            <a:ext cx="3576218" cy="2194560"/>
          </a:xfrm>
          <a:prstGeom prst="roundRect">
            <a:avLst>
              <a:gd name="adj" fmla="val 3333"/>
            </a:avLst>
          </a:prstGeom>
          <a:solidFill>
            <a:srgbClr val="F1F5FA"/>
          </a:solidFill>
          <a:ln w="12700">
            <a:solidFill>
              <a:srgbClr val="F1F5FA"/>
            </a:solidFill>
            <a:prstDash val="solid"/>
          </a:ln>
        </p:spPr>
      </p:sp>
      <p:sp>
        <p:nvSpPr>
          <p:cNvPr id="20" name="Shape 17"/>
          <p:cNvSpPr/>
          <p:nvPr/>
        </p:nvSpPr>
        <p:spPr>
          <a:xfrm>
            <a:off x="8295437" y="1691640"/>
            <a:ext cx="502920" cy="502920"/>
          </a:xfrm>
          <a:prstGeom prst="ellipse">
            <a:avLst/>
          </a:prstGeom>
          <a:solidFill>
            <a:srgbClr val="16263F"/>
          </a:solidFill>
          <a:ln w="12700">
            <a:solidFill>
              <a:srgbClr val="16263F"/>
            </a:solidFill>
            <a:prstDash val="solid"/>
          </a:ln>
        </p:spPr>
      </p:sp>
      <p:sp>
        <p:nvSpPr>
          <p:cNvPr id="21" name="Text 18"/>
          <p:cNvSpPr txBox="1"/>
          <p:nvPr/>
        </p:nvSpPr>
        <p:spPr>
          <a:xfrm>
            <a:off x="8295437" y="1691640"/>
            <a:ext cx="502920" cy="502920"/>
          </a:xfrm>
          <a:prstGeom prst="rect">
            <a:avLst/>
          </a:prstGeom>
          <a:noFill/>
          <a:ln/>
        </p:spPr>
        <p:txBody>
          <a:bodyPr wrap="square" lIns="0" tIns="0" rIns="0" bIns="0" rtlCol="0" anchor="ctr"/>
          <a:lstStyle/>
          <a:p>
            <a:pPr marL="0" indent="0" algn="ctr">
              <a:buNone/>
            </a:pPr>
            <a:r>
              <a:rPr lang="en-US" sz="1800" b="1" dirty="0">
                <a:solidFill>
                  <a:srgbClr val="F4B942"/>
                </a:solidFill>
                <a:latin typeface="Cambria" pitchFamily="34" charset="0"/>
                <a:ea typeface="Cambria" pitchFamily="34" charset="-122"/>
                <a:cs typeface="Cambria" pitchFamily="34" charset="-120"/>
              </a:rPr>
              <a:t>3</a:t>
            </a:r>
            <a:endParaRPr lang="en-US" sz="1800" dirty="0"/>
          </a:p>
        </p:txBody>
      </p:sp>
      <p:sp>
        <p:nvSpPr>
          <p:cNvPr id="22" name="Text 19"/>
          <p:cNvSpPr txBox="1"/>
          <p:nvPr/>
        </p:nvSpPr>
        <p:spPr>
          <a:xfrm>
            <a:off x="8935517" y="1691640"/>
            <a:ext cx="2524658" cy="50292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Dividing by σ³ removes units</a:t>
            </a:r>
            <a:endParaRPr lang="en-US" sz="1600" dirty="0"/>
          </a:p>
        </p:txBody>
      </p:sp>
      <p:sp>
        <p:nvSpPr>
          <p:cNvPr id="23" name="Text 20"/>
          <p:cNvSpPr txBox="1"/>
          <p:nvPr/>
        </p:nvSpPr>
        <p:spPr>
          <a:xfrm>
            <a:off x="8295437" y="2331720"/>
            <a:ext cx="3119018" cy="1417320"/>
          </a:xfrm>
          <a:prstGeom prst="rect">
            <a:avLst/>
          </a:prstGeom>
          <a:noFill/>
          <a:ln/>
        </p:spPr>
        <p:txBody>
          <a:bodyPr wrap="square" lIns="0" tIns="0" rIns="0" bIns="0" rtlCol="0" anchor="t"/>
          <a:lstStyle/>
          <a:p>
            <a:pPr marL="0" indent="0">
              <a:buNone/>
            </a:pPr>
            <a:r>
              <a:rPr lang="en-US" sz="1400" dirty="0">
                <a:solidFill>
                  <a:srgbClr val="1B2733"/>
                </a:solidFill>
                <a:latin typeface="Calibri" pitchFamily="34" charset="0"/>
                <a:ea typeface="Calibri" pitchFamily="34" charset="-122"/>
                <a:cs typeface="Calibri" pitchFamily="34" charset="-120"/>
              </a:rPr>
              <a:t>Skewness becomes a pure number, so ₹ salaries and cm heights can be compared.</a:t>
            </a:r>
            <a:endParaRPr lang="en-US" sz="1400" dirty="0"/>
          </a:p>
        </p:txBody>
      </p:sp>
      <p:sp>
        <p:nvSpPr>
          <p:cNvPr id="24" name="Text 21"/>
          <p:cNvSpPr txBox="1"/>
          <p:nvPr/>
        </p:nvSpPr>
        <p:spPr>
          <a:xfrm>
            <a:off x="548640" y="4023360"/>
            <a:ext cx="11094415" cy="320040"/>
          </a:xfrm>
          <a:prstGeom prst="rect">
            <a:avLst/>
          </a:prstGeom>
          <a:noFill/>
          <a:ln/>
        </p:spPr>
        <p:txBody>
          <a:bodyPr wrap="square" lIns="0" tIns="0" rIns="0" bIns="0" rtlCol="0" anchor="ctr"/>
          <a:lstStyle/>
          <a:p>
            <a:pPr marL="0" indent="0">
              <a:buNone/>
            </a:pPr>
            <a:r>
              <a:rPr lang="en-US" sz="1400" b="1" dirty="0">
                <a:solidFill>
                  <a:srgbClr val="16263F"/>
                </a:solidFill>
                <a:latin typeface="Calibri" pitchFamily="34" charset="0"/>
                <a:ea typeface="Calibri" pitchFamily="34" charset="-122"/>
                <a:cs typeface="Calibri" pitchFamily="34" charset="-120"/>
              </a:rPr>
              <a:t>Mini worked example (both datasets have mean 0)</a:t>
            </a:r>
            <a:endParaRPr lang="en-US" sz="1400" dirty="0"/>
          </a:p>
        </p:txBody>
      </p:sp>
      <p:graphicFrame>
        <p:nvGraphicFramePr>
          <p:cNvPr id="8" name="Table 0"/>
          <p:cNvGraphicFramePr>
            <a:graphicFrameLocks noGrp="1"/>
          </p:cNvGraphicFramePr>
          <p:nvPr/>
        </p:nvGraphicFramePr>
        <p:xfrm>
          <a:off x="548640" y="4389120"/>
          <a:ext cx="11094415" cy="1417320"/>
        </p:xfrm>
        <a:graphic>
          <a:graphicData uri="http://schemas.openxmlformats.org/drawingml/2006/table">
            <a:tbl>
              <a:tblPr/>
              <a:tblGrid>
                <a:gridCol w="2926080">
                  <a:extLst>
                    <a:ext uri="{9D8B030D-6E8A-4147-A177-3AD203B41FA5}">
                      <a16:colId xmlns:a16="http://schemas.microsoft.com/office/drawing/2014/main" val="20000"/>
                    </a:ext>
                  </a:extLst>
                </a:gridCol>
                <a:gridCol w="4754880">
                  <a:extLst>
                    <a:ext uri="{9D8B030D-6E8A-4147-A177-3AD203B41FA5}">
                      <a16:colId xmlns:a16="http://schemas.microsoft.com/office/drawing/2014/main" val="20001"/>
                    </a:ext>
                  </a:extLst>
                </a:gridCol>
                <a:gridCol w="3413455">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Cubed deviations</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Skewness</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16263F"/>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rgbClr val="1B2733"/>
                          </a:solidFill>
                          <a:latin typeface="Calibri" pitchFamily="34" charset="0"/>
                          <a:ea typeface="Calibri" pitchFamily="34" charset="-122"/>
                          <a:cs typeface="Calibri" pitchFamily="34" charset="-120"/>
                        </a:rPr>
                        <a:t>−2, 0, +2</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400" dirty="0">
                          <a:solidFill>
                            <a:srgbClr val="1B2733"/>
                          </a:solidFill>
                          <a:latin typeface="Calibri" pitchFamily="34" charset="0"/>
                          <a:ea typeface="Calibri" pitchFamily="34" charset="-122"/>
                          <a:cs typeface="Calibri" pitchFamily="34" charset="-120"/>
                        </a:rPr>
                        <a:t>−8, 0, +8  →  they cancel</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400" b="1" dirty="0">
                          <a:solidFill>
                            <a:srgbClr val="2D6A9F"/>
                          </a:solidFill>
                          <a:latin typeface="Calibri" pitchFamily="34" charset="0"/>
                          <a:ea typeface="Calibri" pitchFamily="34" charset="-122"/>
                          <a:cs typeface="Calibri" pitchFamily="34" charset="-120"/>
                        </a:rPr>
                        <a:t>0  (symmetric)</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rgbClr val="1B2733"/>
                          </a:solidFill>
                          <a:latin typeface="Calibri" pitchFamily="34" charset="0"/>
                          <a:ea typeface="Calibri" pitchFamily="34" charset="-122"/>
                          <a:cs typeface="Calibri" pitchFamily="34" charset="-120"/>
                        </a:rPr>
                        <a:t>−1, −1, +2</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400" dirty="0">
                          <a:solidFill>
                            <a:srgbClr val="1B2733"/>
                          </a:solidFill>
                          <a:latin typeface="Calibri" pitchFamily="34" charset="0"/>
                          <a:ea typeface="Calibri" pitchFamily="34" charset="-122"/>
                          <a:cs typeface="Calibri" pitchFamily="34" charset="-120"/>
                        </a:rPr>
                        <a:t>−1, −1, +8  →  total +6</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tc>
                  <a:txBody>
                    <a:bodyPr/>
                    <a:lstStyle/>
                    <a:p>
                      <a:pPr marL="0" indent="0">
                        <a:buNone/>
                      </a:pPr>
                      <a:r>
                        <a:rPr lang="en-US" sz="1400" b="1" dirty="0">
                          <a:solidFill>
                            <a:srgbClr val="9A6B00"/>
                          </a:solidFill>
                          <a:latin typeface="Calibri" pitchFamily="34" charset="0"/>
                          <a:ea typeface="Calibri" pitchFamily="34" charset="-122"/>
                          <a:cs typeface="Calibri" pitchFamily="34" charset="-120"/>
                        </a:rPr>
                        <a:t>+0.71  (right tail)</a:t>
                      </a:r>
                      <a:endParaRPr lang="en-US" sz="1400" dirty="0">
                        <a:latin typeface="Calibri" charset="0"/>
                        <a:ea typeface="Calibri" charset="0"/>
                        <a:cs typeface="Calibri" charset="0"/>
                      </a:endParaRPr>
                    </a:p>
                  </a:txBody>
                  <a:tcPr anchor="ctr">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F1F5FA"/>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INTERPRETING THE RESULT</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Reading the skewness value</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11</a:t>
            </a:r>
            <a:endParaRPr lang="en-US" sz="1000" dirty="0"/>
          </a:p>
        </p:txBody>
      </p:sp>
      <p:sp>
        <p:nvSpPr>
          <p:cNvPr id="9" name="Shape 6"/>
          <p:cNvSpPr/>
          <p:nvPr/>
        </p:nvSpPr>
        <p:spPr>
          <a:xfrm>
            <a:off x="822960" y="2788920"/>
            <a:ext cx="2628900" cy="822960"/>
          </a:xfrm>
          <a:prstGeom prst="rect">
            <a:avLst/>
          </a:prstGeom>
          <a:solidFill>
            <a:srgbClr val="7FCBC7"/>
          </a:solidFill>
          <a:ln w="25400">
            <a:solidFill>
              <a:srgbClr val="FFFFFF"/>
            </a:solidFill>
            <a:prstDash val="solid"/>
          </a:ln>
        </p:spPr>
      </p:sp>
      <p:sp>
        <p:nvSpPr>
          <p:cNvPr id="10" name="Text 7"/>
          <p:cNvSpPr txBox="1"/>
          <p:nvPr/>
        </p:nvSpPr>
        <p:spPr>
          <a:xfrm>
            <a:off x="822960" y="2788920"/>
            <a:ext cx="2628900" cy="822960"/>
          </a:xfrm>
          <a:prstGeom prst="rect">
            <a:avLst/>
          </a:prstGeom>
          <a:noFill/>
          <a:ln/>
        </p:spPr>
        <p:txBody>
          <a:bodyPr wrap="square" lIns="0" tIns="0" rIns="0" bIns="0" rtlCol="0" anchor="ctr"/>
          <a:lstStyle/>
          <a:p>
            <a:pPr marL="0" indent="0" algn="ctr">
              <a:buNone/>
            </a:pPr>
            <a:r>
              <a:rPr lang="en-US" sz="1200" b="1" dirty="0">
                <a:solidFill>
                  <a:srgbClr val="1B2733"/>
                </a:solidFill>
                <a:latin typeface="Calibri" pitchFamily="34" charset="0"/>
                <a:ea typeface="Calibri" pitchFamily="34" charset="-122"/>
                <a:cs typeface="Calibri" pitchFamily="34" charset="-120"/>
              </a:rPr>
              <a:t>Highly</a:t>
            </a:r>
            <a:endParaRPr lang="en-US" sz="1200" dirty="0"/>
          </a:p>
          <a:p>
            <a:pPr marL="0" indent="0" algn="ctr">
              <a:buNone/>
            </a:pPr>
            <a:r>
              <a:rPr lang="en-US" sz="1200" b="1" dirty="0">
                <a:solidFill>
                  <a:srgbClr val="1B2733"/>
                </a:solidFill>
                <a:latin typeface="Calibri" pitchFamily="34" charset="0"/>
                <a:ea typeface="Calibri" pitchFamily="34" charset="-122"/>
                <a:cs typeface="Calibri" pitchFamily="34" charset="-120"/>
              </a:rPr>
              <a:t>left-skewed</a:t>
            </a:r>
            <a:endParaRPr lang="en-US" sz="1200" dirty="0"/>
          </a:p>
        </p:txBody>
      </p:sp>
      <p:sp>
        <p:nvSpPr>
          <p:cNvPr id="11" name="Shape 8"/>
          <p:cNvSpPr/>
          <p:nvPr/>
        </p:nvSpPr>
        <p:spPr>
          <a:xfrm>
            <a:off x="3451860" y="2788920"/>
            <a:ext cx="1314450" cy="822960"/>
          </a:xfrm>
          <a:prstGeom prst="rect">
            <a:avLst/>
          </a:prstGeom>
          <a:solidFill>
            <a:srgbClr val="BFE5E3"/>
          </a:solidFill>
          <a:ln w="25400">
            <a:solidFill>
              <a:srgbClr val="FFFFFF"/>
            </a:solidFill>
            <a:prstDash val="solid"/>
          </a:ln>
        </p:spPr>
      </p:sp>
      <p:sp>
        <p:nvSpPr>
          <p:cNvPr id="12" name="Text 9"/>
          <p:cNvSpPr txBox="1"/>
          <p:nvPr/>
        </p:nvSpPr>
        <p:spPr>
          <a:xfrm>
            <a:off x="3451860" y="2788920"/>
            <a:ext cx="1314450" cy="822960"/>
          </a:xfrm>
          <a:prstGeom prst="rect">
            <a:avLst/>
          </a:prstGeom>
          <a:noFill/>
          <a:ln/>
        </p:spPr>
        <p:txBody>
          <a:bodyPr wrap="square" lIns="0" tIns="0" rIns="0" bIns="0" rtlCol="0" anchor="ctr"/>
          <a:lstStyle/>
          <a:p>
            <a:pPr marL="0" indent="0" algn="ctr">
              <a:buNone/>
            </a:pPr>
            <a:r>
              <a:rPr lang="en-US" sz="1200" b="1" dirty="0">
                <a:solidFill>
                  <a:srgbClr val="1B2733"/>
                </a:solidFill>
                <a:latin typeface="Calibri" pitchFamily="34" charset="0"/>
                <a:ea typeface="Calibri" pitchFamily="34" charset="-122"/>
                <a:cs typeface="Calibri" pitchFamily="34" charset="-120"/>
              </a:rPr>
              <a:t>Moderately</a:t>
            </a:r>
            <a:endParaRPr lang="en-US" sz="1200" dirty="0"/>
          </a:p>
          <a:p>
            <a:pPr marL="0" indent="0" algn="ctr">
              <a:buNone/>
            </a:pPr>
            <a:r>
              <a:rPr lang="en-US" sz="1200" b="1" dirty="0">
                <a:solidFill>
                  <a:srgbClr val="1B2733"/>
                </a:solidFill>
                <a:latin typeface="Calibri" pitchFamily="34" charset="0"/>
                <a:ea typeface="Calibri" pitchFamily="34" charset="-122"/>
                <a:cs typeface="Calibri" pitchFamily="34" charset="-120"/>
              </a:rPr>
              <a:t>left</a:t>
            </a:r>
            <a:endParaRPr lang="en-US" sz="1200" dirty="0"/>
          </a:p>
        </p:txBody>
      </p:sp>
      <p:sp>
        <p:nvSpPr>
          <p:cNvPr id="13" name="Shape 10"/>
          <p:cNvSpPr/>
          <p:nvPr/>
        </p:nvSpPr>
        <p:spPr>
          <a:xfrm>
            <a:off x="4766310" y="2788920"/>
            <a:ext cx="2628900" cy="822960"/>
          </a:xfrm>
          <a:prstGeom prst="rect">
            <a:avLst/>
          </a:prstGeom>
          <a:solidFill>
            <a:srgbClr val="DCE7F2"/>
          </a:solidFill>
          <a:ln w="25400">
            <a:solidFill>
              <a:srgbClr val="FFFFFF"/>
            </a:solidFill>
            <a:prstDash val="solid"/>
          </a:ln>
        </p:spPr>
      </p:sp>
      <p:sp>
        <p:nvSpPr>
          <p:cNvPr id="14" name="Text 11"/>
          <p:cNvSpPr txBox="1"/>
          <p:nvPr/>
        </p:nvSpPr>
        <p:spPr>
          <a:xfrm>
            <a:off x="4766310" y="2788920"/>
            <a:ext cx="2628900" cy="822960"/>
          </a:xfrm>
          <a:prstGeom prst="rect">
            <a:avLst/>
          </a:prstGeom>
          <a:noFill/>
          <a:ln/>
        </p:spPr>
        <p:txBody>
          <a:bodyPr wrap="square" lIns="0" tIns="0" rIns="0" bIns="0" rtlCol="0" anchor="ctr"/>
          <a:lstStyle/>
          <a:p>
            <a:pPr marL="0" indent="0" algn="ctr">
              <a:buNone/>
            </a:pPr>
            <a:r>
              <a:rPr lang="en-US" sz="1200" b="1" dirty="0">
                <a:solidFill>
                  <a:srgbClr val="1B2733"/>
                </a:solidFill>
                <a:latin typeface="Calibri" pitchFamily="34" charset="0"/>
                <a:ea typeface="Calibri" pitchFamily="34" charset="-122"/>
                <a:cs typeface="Calibri" pitchFamily="34" charset="-120"/>
              </a:rPr>
              <a:t>Approximately</a:t>
            </a:r>
            <a:endParaRPr lang="en-US" sz="1200" dirty="0"/>
          </a:p>
          <a:p>
            <a:pPr marL="0" indent="0" algn="ctr">
              <a:buNone/>
            </a:pPr>
            <a:r>
              <a:rPr lang="en-US" sz="1200" b="1" dirty="0">
                <a:solidFill>
                  <a:srgbClr val="1B2733"/>
                </a:solidFill>
                <a:latin typeface="Calibri" pitchFamily="34" charset="0"/>
                <a:ea typeface="Calibri" pitchFamily="34" charset="-122"/>
                <a:cs typeface="Calibri" pitchFamily="34" charset="-120"/>
              </a:rPr>
              <a:t>symmetric</a:t>
            </a:r>
            <a:endParaRPr lang="en-US" sz="1200" dirty="0"/>
          </a:p>
        </p:txBody>
      </p:sp>
      <p:sp>
        <p:nvSpPr>
          <p:cNvPr id="15" name="Shape 12"/>
          <p:cNvSpPr/>
          <p:nvPr/>
        </p:nvSpPr>
        <p:spPr>
          <a:xfrm>
            <a:off x="7395210" y="2788920"/>
            <a:ext cx="1314450" cy="822960"/>
          </a:xfrm>
          <a:prstGeom prst="rect">
            <a:avLst/>
          </a:prstGeom>
          <a:solidFill>
            <a:srgbClr val="FBE3B0"/>
          </a:solidFill>
          <a:ln w="25400">
            <a:solidFill>
              <a:srgbClr val="FFFFFF"/>
            </a:solidFill>
            <a:prstDash val="solid"/>
          </a:ln>
        </p:spPr>
      </p:sp>
      <p:sp>
        <p:nvSpPr>
          <p:cNvPr id="16" name="Text 13"/>
          <p:cNvSpPr txBox="1"/>
          <p:nvPr/>
        </p:nvSpPr>
        <p:spPr>
          <a:xfrm>
            <a:off x="7395210" y="2788920"/>
            <a:ext cx="1314450" cy="822960"/>
          </a:xfrm>
          <a:prstGeom prst="rect">
            <a:avLst/>
          </a:prstGeom>
          <a:noFill/>
          <a:ln/>
        </p:spPr>
        <p:txBody>
          <a:bodyPr wrap="square" lIns="0" tIns="0" rIns="0" bIns="0" rtlCol="0" anchor="ctr"/>
          <a:lstStyle/>
          <a:p>
            <a:pPr marL="0" indent="0" algn="ctr">
              <a:buNone/>
            </a:pPr>
            <a:r>
              <a:rPr lang="en-US" sz="1200" b="1" dirty="0">
                <a:solidFill>
                  <a:srgbClr val="1B2733"/>
                </a:solidFill>
                <a:latin typeface="Calibri" pitchFamily="34" charset="0"/>
                <a:ea typeface="Calibri" pitchFamily="34" charset="-122"/>
                <a:cs typeface="Calibri" pitchFamily="34" charset="-120"/>
              </a:rPr>
              <a:t>Moderately</a:t>
            </a:r>
            <a:endParaRPr lang="en-US" sz="1200" dirty="0"/>
          </a:p>
          <a:p>
            <a:pPr marL="0" indent="0" algn="ctr">
              <a:buNone/>
            </a:pPr>
            <a:r>
              <a:rPr lang="en-US" sz="1200" b="1" dirty="0">
                <a:solidFill>
                  <a:srgbClr val="1B2733"/>
                </a:solidFill>
                <a:latin typeface="Calibri" pitchFamily="34" charset="0"/>
                <a:ea typeface="Calibri" pitchFamily="34" charset="-122"/>
                <a:cs typeface="Calibri" pitchFamily="34" charset="-120"/>
              </a:rPr>
              <a:t>right</a:t>
            </a:r>
            <a:endParaRPr lang="en-US" sz="1200" dirty="0"/>
          </a:p>
        </p:txBody>
      </p:sp>
      <p:sp>
        <p:nvSpPr>
          <p:cNvPr id="17" name="Shape 14"/>
          <p:cNvSpPr/>
          <p:nvPr/>
        </p:nvSpPr>
        <p:spPr>
          <a:xfrm>
            <a:off x="8709660" y="2788920"/>
            <a:ext cx="2628900" cy="822960"/>
          </a:xfrm>
          <a:prstGeom prst="rect">
            <a:avLst/>
          </a:prstGeom>
          <a:solidFill>
            <a:srgbClr val="F4B942"/>
          </a:solidFill>
          <a:ln w="25400">
            <a:solidFill>
              <a:srgbClr val="FFFFFF"/>
            </a:solidFill>
            <a:prstDash val="solid"/>
          </a:ln>
        </p:spPr>
      </p:sp>
      <p:sp>
        <p:nvSpPr>
          <p:cNvPr id="18" name="Text 15"/>
          <p:cNvSpPr txBox="1"/>
          <p:nvPr/>
        </p:nvSpPr>
        <p:spPr>
          <a:xfrm>
            <a:off x="8709660" y="2788920"/>
            <a:ext cx="2628900" cy="822960"/>
          </a:xfrm>
          <a:prstGeom prst="rect">
            <a:avLst/>
          </a:prstGeom>
          <a:noFill/>
          <a:ln/>
        </p:spPr>
        <p:txBody>
          <a:bodyPr wrap="square" lIns="0" tIns="0" rIns="0" bIns="0" rtlCol="0" anchor="ctr"/>
          <a:lstStyle/>
          <a:p>
            <a:pPr marL="0" indent="0" algn="ctr">
              <a:buNone/>
            </a:pPr>
            <a:r>
              <a:rPr lang="en-US" sz="1200" b="1" dirty="0">
                <a:solidFill>
                  <a:srgbClr val="1B2733"/>
                </a:solidFill>
                <a:latin typeface="Calibri" pitchFamily="34" charset="0"/>
                <a:ea typeface="Calibri" pitchFamily="34" charset="-122"/>
                <a:cs typeface="Calibri" pitchFamily="34" charset="-120"/>
              </a:rPr>
              <a:t>Highly</a:t>
            </a:r>
            <a:endParaRPr lang="en-US" sz="1200" dirty="0"/>
          </a:p>
          <a:p>
            <a:pPr marL="0" indent="0" algn="ctr">
              <a:buNone/>
            </a:pPr>
            <a:r>
              <a:rPr lang="en-US" sz="1200" b="1" dirty="0">
                <a:solidFill>
                  <a:srgbClr val="1B2733"/>
                </a:solidFill>
                <a:latin typeface="Calibri" pitchFamily="34" charset="0"/>
                <a:ea typeface="Calibri" pitchFamily="34" charset="-122"/>
                <a:cs typeface="Calibri" pitchFamily="34" charset="-120"/>
              </a:rPr>
              <a:t>right-skewed</a:t>
            </a:r>
            <a:endParaRPr lang="en-US" sz="1200" dirty="0"/>
          </a:p>
        </p:txBody>
      </p:sp>
      <p:sp>
        <p:nvSpPr>
          <p:cNvPr id="19" name="Text 16"/>
          <p:cNvSpPr txBox="1"/>
          <p:nvPr/>
        </p:nvSpPr>
        <p:spPr>
          <a:xfrm>
            <a:off x="45720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−2</a:t>
            </a:r>
            <a:endParaRPr lang="en-US" sz="1300" dirty="0"/>
          </a:p>
        </p:txBody>
      </p:sp>
      <p:sp>
        <p:nvSpPr>
          <p:cNvPr id="20" name="Text 17"/>
          <p:cNvSpPr txBox="1"/>
          <p:nvPr/>
        </p:nvSpPr>
        <p:spPr>
          <a:xfrm>
            <a:off x="308610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440055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−0.5</a:t>
            </a:r>
            <a:endParaRPr lang="en-US" sz="1300" dirty="0"/>
          </a:p>
        </p:txBody>
      </p:sp>
      <p:sp>
        <p:nvSpPr>
          <p:cNvPr id="22" name="Text 19"/>
          <p:cNvSpPr txBox="1"/>
          <p:nvPr/>
        </p:nvSpPr>
        <p:spPr>
          <a:xfrm>
            <a:off x="571500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0</a:t>
            </a:r>
            <a:endParaRPr lang="en-US" sz="1300" dirty="0"/>
          </a:p>
        </p:txBody>
      </p:sp>
      <p:sp>
        <p:nvSpPr>
          <p:cNvPr id="23" name="Text 20"/>
          <p:cNvSpPr txBox="1"/>
          <p:nvPr/>
        </p:nvSpPr>
        <p:spPr>
          <a:xfrm>
            <a:off x="702945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+0.5</a:t>
            </a:r>
            <a:endParaRPr lang="en-US" sz="1300" dirty="0"/>
          </a:p>
        </p:txBody>
      </p:sp>
      <p:sp>
        <p:nvSpPr>
          <p:cNvPr id="24" name="Text 21"/>
          <p:cNvSpPr txBox="1"/>
          <p:nvPr/>
        </p:nvSpPr>
        <p:spPr>
          <a:xfrm>
            <a:off x="834390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+1</a:t>
            </a:r>
            <a:endParaRPr lang="en-US" sz="1300" dirty="0"/>
          </a:p>
        </p:txBody>
      </p:sp>
      <p:sp>
        <p:nvSpPr>
          <p:cNvPr id="25" name="Text 22"/>
          <p:cNvSpPr txBox="1"/>
          <p:nvPr/>
        </p:nvSpPr>
        <p:spPr>
          <a:xfrm>
            <a:off x="10972800" y="3685032"/>
            <a:ext cx="731520" cy="274320"/>
          </a:xfrm>
          <a:prstGeom prst="rect">
            <a:avLst/>
          </a:prstGeom>
          <a:noFill/>
          <a:ln/>
        </p:spPr>
        <p:txBody>
          <a:bodyPr wrap="square" lIns="0" tIns="0" rIns="0" bIns="0" rtlCol="0" anchor="ctr"/>
          <a:lstStyle/>
          <a:p>
            <a:pPr marL="0" indent="0" algn="ctr">
              <a:buNone/>
            </a:pPr>
            <a:r>
              <a:rPr lang="en-US" sz="1300" dirty="0">
                <a:solidFill>
                  <a:srgbClr val="5C6B7A"/>
                </a:solidFill>
                <a:latin typeface="Calibri" pitchFamily="34" charset="0"/>
                <a:ea typeface="Calibri" pitchFamily="34" charset="-122"/>
                <a:cs typeface="Calibri" pitchFamily="34" charset="-120"/>
              </a:rPr>
              <a:t>+2</a:t>
            </a:r>
            <a:endParaRPr lang="en-US" sz="1300" dirty="0"/>
          </a:p>
        </p:txBody>
      </p:sp>
      <p:sp>
        <p:nvSpPr>
          <p:cNvPr id="26" name="Text 23"/>
          <p:cNvSpPr txBox="1"/>
          <p:nvPr/>
        </p:nvSpPr>
        <p:spPr>
          <a:xfrm>
            <a:off x="3378708" y="1600200"/>
            <a:ext cx="1828800" cy="685800"/>
          </a:xfrm>
          <a:prstGeom prst="rect">
            <a:avLst/>
          </a:prstGeom>
          <a:noFill/>
          <a:ln/>
        </p:spPr>
        <p:txBody>
          <a:bodyPr wrap="square" lIns="0" tIns="0" rIns="0" bIns="0" rtlCol="0" anchor="b"/>
          <a:lstStyle/>
          <a:p>
            <a:pPr marL="0" indent="0" algn="ctr">
              <a:buNone/>
            </a:pPr>
            <a:r>
              <a:rPr lang="en-US" sz="1500" b="1" dirty="0">
                <a:solidFill>
                  <a:srgbClr val="2A9D95"/>
                </a:solidFill>
                <a:latin typeface="Calibri" pitchFamily="34" charset="0"/>
                <a:ea typeface="Calibri" pitchFamily="34" charset="-122"/>
                <a:cs typeface="Calibri" pitchFamily="34" charset="-120"/>
              </a:rPr>
              <a:t>Exam scores</a:t>
            </a:r>
            <a:endParaRPr lang="en-US" sz="1500" dirty="0"/>
          </a:p>
          <a:p>
            <a:pPr marL="0" indent="0" algn="ctr">
              <a:buNone/>
            </a:pPr>
            <a:r>
              <a:rPr lang="en-US" sz="1500" b="1" dirty="0">
                <a:solidFill>
                  <a:srgbClr val="2A9D95"/>
                </a:solidFill>
                <a:latin typeface="Calibri" pitchFamily="34" charset="0"/>
                <a:ea typeface="Calibri" pitchFamily="34" charset="-122"/>
                <a:cs typeface="Calibri" pitchFamily="34" charset="-120"/>
              </a:rPr>
              <a:t>−0.68</a:t>
            </a:r>
            <a:endParaRPr lang="en-US" sz="1500" dirty="0"/>
          </a:p>
        </p:txBody>
      </p:sp>
      <p:sp>
        <p:nvSpPr>
          <p:cNvPr id="27" name="Shape 24"/>
          <p:cNvSpPr/>
          <p:nvPr/>
        </p:nvSpPr>
        <p:spPr>
          <a:xfrm>
            <a:off x="4293108" y="2331720"/>
            <a:ext cx="0" cy="457200"/>
          </a:xfrm>
          <a:prstGeom prst="line">
            <a:avLst/>
          </a:prstGeom>
          <a:noFill/>
          <a:ln w="31750">
            <a:solidFill>
              <a:srgbClr val="16263F"/>
            </a:solidFill>
            <a:prstDash val="solid"/>
            <a:tailEnd type="triangle"/>
          </a:ln>
        </p:spPr>
      </p:sp>
      <p:sp>
        <p:nvSpPr>
          <p:cNvPr id="28" name="Text 25"/>
          <p:cNvSpPr txBox="1"/>
          <p:nvPr/>
        </p:nvSpPr>
        <p:spPr>
          <a:xfrm>
            <a:off x="9872091" y="1600200"/>
            <a:ext cx="1828800" cy="685800"/>
          </a:xfrm>
          <a:prstGeom prst="rect">
            <a:avLst/>
          </a:prstGeom>
          <a:noFill/>
          <a:ln/>
        </p:spPr>
        <p:txBody>
          <a:bodyPr wrap="square" lIns="0" tIns="0" rIns="0" bIns="0" rtlCol="0" anchor="b"/>
          <a:lstStyle/>
          <a:p>
            <a:pPr marL="0" indent="0" algn="ctr">
              <a:buNone/>
            </a:pPr>
            <a:r>
              <a:rPr lang="en-US" sz="1500" b="1" dirty="0">
                <a:solidFill>
                  <a:srgbClr val="9A6B00"/>
                </a:solidFill>
                <a:latin typeface="Calibri" pitchFamily="34" charset="0"/>
                <a:ea typeface="Calibri" pitchFamily="34" charset="-122"/>
                <a:cs typeface="Calibri" pitchFamily="34" charset="-120"/>
              </a:rPr>
              <a:t>Salaries</a:t>
            </a:r>
            <a:endParaRPr lang="en-US" sz="1500" dirty="0"/>
          </a:p>
          <a:p>
            <a:pPr marL="0" indent="0" algn="ctr">
              <a:buNone/>
            </a:pPr>
            <a:r>
              <a:rPr lang="en-US" sz="1500" b="1" dirty="0">
                <a:solidFill>
                  <a:srgbClr val="9A6B00"/>
                </a:solidFill>
                <a:latin typeface="Calibri" pitchFamily="34" charset="0"/>
                <a:ea typeface="Calibri" pitchFamily="34" charset="-122"/>
                <a:cs typeface="Calibri" pitchFamily="34" charset="-120"/>
              </a:rPr>
              <a:t>+1.79</a:t>
            </a:r>
            <a:endParaRPr lang="en-US" sz="1500" dirty="0"/>
          </a:p>
        </p:txBody>
      </p:sp>
      <p:sp>
        <p:nvSpPr>
          <p:cNvPr id="29" name="Shape 26"/>
          <p:cNvSpPr/>
          <p:nvPr/>
        </p:nvSpPr>
        <p:spPr>
          <a:xfrm>
            <a:off x="10786491" y="2331720"/>
            <a:ext cx="0" cy="457200"/>
          </a:xfrm>
          <a:prstGeom prst="line">
            <a:avLst/>
          </a:prstGeom>
          <a:noFill/>
          <a:ln w="31750">
            <a:solidFill>
              <a:srgbClr val="16263F"/>
            </a:solidFill>
            <a:prstDash val="solid"/>
            <a:tailEnd type="triangle"/>
          </a:ln>
        </p:spPr>
      </p:sp>
      <p:sp>
        <p:nvSpPr>
          <p:cNvPr id="30" name="Text 27"/>
          <p:cNvSpPr txBox="1"/>
          <p:nvPr/>
        </p:nvSpPr>
        <p:spPr>
          <a:xfrm>
            <a:off x="822960" y="4069080"/>
            <a:ext cx="5486400" cy="274320"/>
          </a:xfrm>
          <a:prstGeom prst="rect">
            <a:avLst/>
          </a:prstGeom>
          <a:noFill/>
          <a:ln/>
        </p:spPr>
        <p:txBody>
          <a:bodyPr wrap="square" lIns="0" tIns="0" rIns="0" bIns="0" rtlCol="0" anchor="ctr"/>
          <a:lstStyle/>
          <a:p>
            <a:pPr marL="0" indent="0">
              <a:buNone/>
            </a:pPr>
            <a:r>
              <a:rPr lang="en-US" sz="1200" i="1" dirty="0">
                <a:solidFill>
                  <a:srgbClr val="5C6B7A"/>
                </a:solidFill>
                <a:latin typeface="Calibri" pitchFamily="34" charset="0"/>
                <a:ea typeface="Calibri" pitchFamily="34" charset="-122"/>
                <a:cs typeface="Calibri" pitchFamily="34" charset="-120"/>
              </a:rPr>
              <a:t>Skewness value (rule-of-thumb zones)</a:t>
            </a:r>
            <a:endParaRPr lang="en-US" sz="1200" dirty="0"/>
          </a:p>
        </p:txBody>
      </p:sp>
      <p:sp>
        <p:nvSpPr>
          <p:cNvPr id="31" name="Shape 28"/>
          <p:cNvSpPr/>
          <p:nvPr/>
        </p:nvSpPr>
        <p:spPr>
          <a:xfrm>
            <a:off x="548640" y="4526280"/>
            <a:ext cx="5440680" cy="1554480"/>
          </a:xfrm>
          <a:prstGeom prst="roundRect">
            <a:avLst>
              <a:gd name="adj" fmla="val 4706"/>
            </a:avLst>
          </a:prstGeom>
          <a:solidFill>
            <a:srgbClr val="F1F5FA"/>
          </a:solidFill>
          <a:ln w="12700">
            <a:solidFill>
              <a:srgbClr val="F1F5FA"/>
            </a:solidFill>
            <a:prstDash val="solid"/>
          </a:ln>
        </p:spPr>
      </p:sp>
      <p:sp>
        <p:nvSpPr>
          <p:cNvPr id="32" name="Text 29"/>
          <p:cNvSpPr txBox="1"/>
          <p:nvPr/>
        </p:nvSpPr>
        <p:spPr>
          <a:xfrm>
            <a:off x="822960" y="4526280"/>
            <a:ext cx="4892040" cy="1554480"/>
          </a:xfrm>
          <a:prstGeom prst="rect">
            <a:avLst/>
          </a:prstGeom>
          <a:noFill/>
          <a:ln/>
        </p:spPr>
        <p:txBody>
          <a:bodyPr wrap="square" lIns="0" tIns="0" rIns="0" bIns="0" rtlCol="0" anchor="ctr"/>
          <a:lstStyle/>
          <a:p>
            <a:pPr marL="0" indent="0">
              <a:buNone/>
            </a:pPr>
            <a:r>
              <a:rPr lang="en-US" sz="1500" b="1" dirty="0">
                <a:solidFill>
                  <a:srgbClr val="16263F"/>
                </a:solidFill>
                <a:latin typeface="Calibri" pitchFamily="34" charset="0"/>
                <a:ea typeface="Calibri" pitchFamily="34" charset="-122"/>
                <a:cs typeface="Calibri" pitchFamily="34" charset="-120"/>
              </a:rPr>
              <a:t>Sign = direction. </a:t>
            </a:r>
            <a:r>
              <a:rPr lang="en-US" sz="1500" dirty="0">
                <a:solidFill>
                  <a:srgbClr val="1B2733"/>
                </a:solidFill>
                <a:latin typeface="Calibri" pitchFamily="34" charset="0"/>
                <a:ea typeface="Calibri" pitchFamily="34" charset="-122"/>
                <a:cs typeface="Calibri" pitchFamily="34" charset="-120"/>
              </a:rPr>
              <a:t>Positive → tail on the right. Negative → tail on the left. Near 0 → balanced.</a:t>
            </a:r>
            <a:endParaRPr lang="en-US" sz="1500" dirty="0"/>
          </a:p>
        </p:txBody>
      </p:sp>
      <p:sp>
        <p:nvSpPr>
          <p:cNvPr id="33" name="Shape 30"/>
          <p:cNvSpPr/>
          <p:nvPr/>
        </p:nvSpPr>
        <p:spPr>
          <a:xfrm>
            <a:off x="6199632" y="4526280"/>
            <a:ext cx="5440680" cy="1554480"/>
          </a:xfrm>
          <a:prstGeom prst="roundRect">
            <a:avLst>
              <a:gd name="adj" fmla="val 4706"/>
            </a:avLst>
          </a:prstGeom>
          <a:solidFill>
            <a:srgbClr val="FBF0D9"/>
          </a:solidFill>
          <a:ln w="12700">
            <a:solidFill>
              <a:srgbClr val="FBF0D9"/>
            </a:solidFill>
            <a:prstDash val="solid"/>
          </a:ln>
        </p:spPr>
      </p:sp>
      <p:sp>
        <p:nvSpPr>
          <p:cNvPr id="34" name="Text 31"/>
          <p:cNvSpPr txBox="1"/>
          <p:nvPr/>
        </p:nvSpPr>
        <p:spPr>
          <a:xfrm>
            <a:off x="6473952" y="4526280"/>
            <a:ext cx="4892040" cy="1554480"/>
          </a:xfrm>
          <a:prstGeom prst="rect">
            <a:avLst/>
          </a:prstGeom>
          <a:noFill/>
          <a:ln/>
        </p:spPr>
        <p:txBody>
          <a:bodyPr wrap="square" lIns="0" tIns="0" rIns="0" bIns="0" rtlCol="0" anchor="ctr"/>
          <a:lstStyle/>
          <a:p>
            <a:pPr marL="0" indent="0">
              <a:buNone/>
            </a:pPr>
            <a:r>
              <a:rPr lang="en-US" sz="1500" b="1" dirty="0">
                <a:solidFill>
                  <a:srgbClr val="9A6B00"/>
                </a:solidFill>
                <a:latin typeface="Calibri" pitchFamily="34" charset="0"/>
                <a:ea typeface="Calibri" pitchFamily="34" charset="-122"/>
                <a:cs typeface="Calibri" pitchFamily="34" charset="-120"/>
              </a:rPr>
              <a:t>Size = strength. </a:t>
            </a:r>
            <a:r>
              <a:rPr lang="en-US" sz="1500" dirty="0">
                <a:solidFill>
                  <a:srgbClr val="1B2733"/>
                </a:solidFill>
                <a:latin typeface="Calibri" pitchFamily="34" charset="0"/>
                <a:ea typeface="Calibri" pitchFamily="34" charset="-122"/>
                <a:cs typeface="Calibri" pitchFamily="34" charset="-120"/>
              </a:rPr>
              <a:t>The ±0.5 and ±1 cut-offs are a common rule of thumb, not a law — always look at a histogram too.</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48640" y="411480"/>
            <a:ext cx="685800" cy="685800"/>
          </a:xfrm>
          <a:prstGeom prst="ellipse">
            <a:avLst/>
          </a:prstGeom>
          <a:solidFill>
            <a:srgbClr val="16263F"/>
          </a:solidFill>
          <a:ln w="12700">
            <a:solidFill>
              <a:srgbClr val="16263F"/>
            </a:solidFill>
            <a:prstDash val="solid"/>
          </a:ln>
        </p:spPr>
      </p:sp>
      <p:sp>
        <p:nvSpPr>
          <p:cNvPr id="3" name="Text 1"/>
          <p:cNvSpPr txBox="1"/>
          <p:nvPr/>
        </p:nvSpPr>
        <p:spPr>
          <a:xfrm>
            <a:off x="548640" y="411480"/>
            <a:ext cx="685800" cy="685800"/>
          </a:xfrm>
          <a:prstGeom prst="rect">
            <a:avLst/>
          </a:prstGeom>
          <a:noFill/>
          <a:ln/>
        </p:spPr>
        <p:txBody>
          <a:bodyPr wrap="square" lIns="0" tIns="0" rIns="0" bIns="0" rtlCol="0" anchor="ctr"/>
          <a:lstStyle/>
          <a:p>
            <a:pPr marL="0" indent="0" algn="ctr">
              <a:buNone/>
            </a:pPr>
            <a:r>
              <a:rPr lang="en-US" sz="2000" b="1" dirty="0">
                <a:solidFill>
                  <a:srgbClr val="F4B942"/>
                </a:solidFill>
                <a:latin typeface="Cambria" pitchFamily="34" charset="0"/>
                <a:ea typeface="Cambria" pitchFamily="34" charset="-122"/>
                <a:cs typeface="Cambria" pitchFamily="34" charset="-120"/>
              </a:rPr>
              <a:t>γ₁</a:t>
            </a:r>
            <a:endParaRPr lang="en-US" sz="2000" dirty="0"/>
          </a:p>
        </p:txBody>
      </p:sp>
      <p:sp>
        <p:nvSpPr>
          <p:cNvPr id="4" name="Text 2"/>
          <p:cNvSpPr txBox="1"/>
          <p:nvPr/>
        </p:nvSpPr>
        <p:spPr>
          <a:xfrm>
            <a:off x="1417320" y="384048"/>
            <a:ext cx="9144000" cy="274320"/>
          </a:xfrm>
          <a:prstGeom prst="rect">
            <a:avLst/>
          </a:prstGeom>
          <a:noFill/>
          <a:ln/>
        </p:spPr>
        <p:txBody>
          <a:bodyPr wrap="square" lIns="0" tIns="0" rIns="0" bIns="0" rtlCol="0" anchor="ctr"/>
          <a:lstStyle/>
          <a:p>
            <a:pPr marL="0" indent="0">
              <a:buNone/>
            </a:pPr>
            <a:r>
              <a:rPr lang="en-US" sz="1100" b="1" kern="0" spc="400" dirty="0">
                <a:solidFill>
                  <a:srgbClr val="2D6A9F"/>
                </a:solidFill>
                <a:latin typeface="Calibri" pitchFamily="34" charset="0"/>
                <a:ea typeface="Calibri" pitchFamily="34" charset="-122"/>
                <a:cs typeface="Calibri" pitchFamily="34" charset="-120"/>
              </a:rPr>
              <a:t>IN PRACTICE</a:t>
            </a:r>
            <a:endParaRPr lang="en-US" sz="1100" dirty="0"/>
          </a:p>
        </p:txBody>
      </p:sp>
      <p:sp>
        <p:nvSpPr>
          <p:cNvPr id="5" name="Text 3"/>
          <p:cNvSpPr txBox="1"/>
          <p:nvPr/>
        </p:nvSpPr>
        <p:spPr>
          <a:xfrm>
            <a:off x="1417320" y="658368"/>
            <a:ext cx="10058400" cy="548640"/>
          </a:xfrm>
          <a:prstGeom prst="rect">
            <a:avLst/>
          </a:prstGeom>
          <a:noFill/>
          <a:ln/>
        </p:spPr>
        <p:txBody>
          <a:bodyPr wrap="square" lIns="0" tIns="0" rIns="0" bIns="0" rtlCol="0" anchor="ctr"/>
          <a:lstStyle/>
          <a:p>
            <a:pPr marL="0" indent="0">
              <a:buNone/>
            </a:pPr>
            <a:r>
              <a:rPr lang="en-US" sz="3000" b="1" dirty="0">
                <a:solidFill>
                  <a:srgbClr val="16263F"/>
                </a:solidFill>
                <a:latin typeface="Cambria" pitchFamily="34" charset="0"/>
                <a:ea typeface="Cambria" pitchFamily="34" charset="-122"/>
                <a:cs typeface="Cambria" pitchFamily="34" charset="-120"/>
              </a:rPr>
              <a:t>Skewness in data science</a:t>
            </a:r>
            <a:endParaRPr lang="en-US" sz="3000" dirty="0"/>
          </a:p>
        </p:txBody>
      </p:sp>
      <p:sp>
        <p:nvSpPr>
          <p:cNvPr id="6" name="Text 4"/>
          <p:cNvSpPr txBox="1"/>
          <p:nvPr/>
        </p:nvSpPr>
        <p:spPr>
          <a:xfrm>
            <a:off x="548640" y="6419088"/>
            <a:ext cx="6400800" cy="256032"/>
          </a:xfrm>
          <a:prstGeom prst="rect">
            <a:avLst/>
          </a:prstGeom>
          <a:noFill/>
          <a:ln/>
        </p:spPr>
        <p:txBody>
          <a:bodyPr wrap="square" lIns="0" tIns="0" rIns="0" bIns="0" rtlCol="0" anchor="ctr"/>
          <a:lstStyle/>
          <a:p>
            <a:pPr marL="0" indent="0">
              <a:buNone/>
            </a:pPr>
            <a:r>
              <a:rPr lang="en-US" sz="1000" dirty="0">
                <a:solidFill>
                  <a:srgbClr val="5C6B7A"/>
                </a:solidFill>
                <a:latin typeface="Calibri" pitchFamily="34" charset="0"/>
                <a:ea typeface="Calibri" pitchFamily="34" charset="-122"/>
                <a:cs typeface="Calibri" pitchFamily="34" charset="-120"/>
              </a:rPr>
              <a:t>Probability &amp; Statistics · Skewness</a:t>
            </a:r>
            <a:endParaRPr lang="en-US" sz="1000" dirty="0"/>
          </a:p>
        </p:txBody>
      </p:sp>
      <p:sp>
        <p:nvSpPr>
          <p:cNvPr id="7" name="Text 5"/>
          <p:cNvSpPr txBox="1"/>
          <p:nvPr/>
        </p:nvSpPr>
        <p:spPr>
          <a:xfrm>
            <a:off x="11091672" y="6419088"/>
            <a:ext cx="548640" cy="256032"/>
          </a:xfrm>
          <a:prstGeom prst="rect">
            <a:avLst/>
          </a:prstGeom>
          <a:noFill/>
          <a:ln/>
        </p:spPr>
        <p:txBody>
          <a:bodyPr wrap="square" lIns="0" tIns="0" rIns="0" bIns="0" rtlCol="0" anchor="ctr"/>
          <a:lstStyle/>
          <a:p>
            <a:pPr marL="0" indent="0" algn="r">
              <a:buNone/>
            </a:pPr>
            <a:r>
              <a:rPr lang="en-US" sz="1000" dirty="0">
                <a:solidFill>
                  <a:srgbClr val="5C6B7A"/>
                </a:solidFill>
                <a:latin typeface="Calibri" pitchFamily="34" charset="0"/>
                <a:ea typeface="Calibri" pitchFamily="34" charset="-122"/>
                <a:cs typeface="Calibri" pitchFamily="34" charset="-120"/>
              </a:rPr>
              <a:t>12</a:t>
            </a:r>
            <a:endParaRPr lang="en-US" sz="1000" dirty="0"/>
          </a:p>
        </p:txBody>
      </p:sp>
      <p:sp>
        <p:nvSpPr>
          <p:cNvPr id="9" name="Shape 6"/>
          <p:cNvSpPr/>
          <p:nvPr/>
        </p:nvSpPr>
        <p:spPr>
          <a:xfrm>
            <a:off x="548640" y="1508760"/>
            <a:ext cx="5486400" cy="1005840"/>
          </a:xfrm>
          <a:prstGeom prst="roundRect">
            <a:avLst>
              <a:gd name="adj" fmla="val 7273"/>
            </a:avLst>
          </a:prstGeom>
          <a:solidFill>
            <a:srgbClr val="F1F5FA"/>
          </a:solidFill>
          <a:ln w="12700">
            <a:solidFill>
              <a:srgbClr val="F1F5FA"/>
            </a:solidFill>
            <a:prstDash val="solid"/>
          </a:ln>
        </p:spPr>
      </p:sp>
      <p:sp>
        <p:nvSpPr>
          <p:cNvPr id="10" name="Text 7"/>
          <p:cNvSpPr txBox="1"/>
          <p:nvPr/>
        </p:nvSpPr>
        <p:spPr>
          <a:xfrm>
            <a:off x="822960" y="1508760"/>
            <a:ext cx="4937760" cy="100584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Mean can mislead</a:t>
            </a:r>
            <a:endParaRPr lang="en-US" sz="1600" dirty="0"/>
          </a:p>
          <a:p>
            <a:pPr marL="0" indent="0">
              <a:buNone/>
            </a:pPr>
            <a:r>
              <a:rPr lang="en-US" sz="1300" dirty="0">
                <a:solidFill>
                  <a:srgbClr val="1B2733"/>
                </a:solidFill>
                <a:latin typeface="Calibri" pitchFamily="34" charset="0"/>
                <a:ea typeface="Calibri" pitchFamily="34" charset="-122"/>
                <a:cs typeface="Calibri" pitchFamily="34" charset="-120"/>
              </a:rPr>
              <a:t>Report the median (or median + IQR) for skewed features.</a:t>
            </a:r>
            <a:endParaRPr lang="en-US" sz="1600" dirty="0"/>
          </a:p>
        </p:txBody>
      </p:sp>
      <p:sp>
        <p:nvSpPr>
          <p:cNvPr id="11" name="Shape 8"/>
          <p:cNvSpPr/>
          <p:nvPr/>
        </p:nvSpPr>
        <p:spPr>
          <a:xfrm>
            <a:off x="548640" y="2651760"/>
            <a:ext cx="5486400" cy="1005840"/>
          </a:xfrm>
          <a:prstGeom prst="roundRect">
            <a:avLst>
              <a:gd name="adj" fmla="val 7273"/>
            </a:avLst>
          </a:prstGeom>
          <a:solidFill>
            <a:srgbClr val="F1F5FA"/>
          </a:solidFill>
          <a:ln w="12700">
            <a:solidFill>
              <a:srgbClr val="F1F5FA"/>
            </a:solidFill>
            <a:prstDash val="solid"/>
          </a:ln>
        </p:spPr>
      </p:sp>
      <p:sp>
        <p:nvSpPr>
          <p:cNvPr id="12" name="Text 9"/>
          <p:cNvSpPr txBox="1"/>
          <p:nvPr/>
        </p:nvSpPr>
        <p:spPr>
          <a:xfrm>
            <a:off x="822960" y="2651760"/>
            <a:ext cx="4937760" cy="100584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Spot outliers</a:t>
            </a:r>
            <a:endParaRPr lang="en-US" sz="1600" dirty="0"/>
          </a:p>
          <a:p>
            <a:pPr marL="0" indent="0">
              <a:buNone/>
            </a:pPr>
            <a:r>
              <a:rPr lang="en-US" sz="1300" dirty="0">
                <a:solidFill>
                  <a:srgbClr val="1B2733"/>
                </a:solidFill>
                <a:latin typeface="Calibri" pitchFamily="34" charset="0"/>
                <a:ea typeface="Calibri" pitchFamily="34" charset="-122"/>
                <a:cs typeface="Calibri" pitchFamily="34" charset="-120"/>
              </a:rPr>
              <a:t>A long tail often hides extreme values worth checking.</a:t>
            </a:r>
            <a:endParaRPr lang="en-US" sz="1600" dirty="0"/>
          </a:p>
        </p:txBody>
      </p:sp>
      <p:sp>
        <p:nvSpPr>
          <p:cNvPr id="13" name="Shape 10"/>
          <p:cNvSpPr/>
          <p:nvPr/>
        </p:nvSpPr>
        <p:spPr>
          <a:xfrm>
            <a:off x="548640" y="3794760"/>
            <a:ext cx="5486400" cy="1005840"/>
          </a:xfrm>
          <a:prstGeom prst="roundRect">
            <a:avLst>
              <a:gd name="adj" fmla="val 7273"/>
            </a:avLst>
          </a:prstGeom>
          <a:solidFill>
            <a:srgbClr val="F1F5FA"/>
          </a:solidFill>
          <a:ln w="12700">
            <a:solidFill>
              <a:srgbClr val="F1F5FA"/>
            </a:solidFill>
            <a:prstDash val="solid"/>
          </a:ln>
        </p:spPr>
      </p:sp>
      <p:sp>
        <p:nvSpPr>
          <p:cNvPr id="14" name="Text 11"/>
          <p:cNvSpPr txBox="1"/>
          <p:nvPr/>
        </p:nvSpPr>
        <p:spPr>
          <a:xfrm>
            <a:off x="822960" y="3794760"/>
            <a:ext cx="4937760" cy="100584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Model assumptions</a:t>
            </a:r>
            <a:endParaRPr lang="en-US" sz="1600" dirty="0"/>
          </a:p>
          <a:p>
            <a:pPr marL="0" indent="0">
              <a:buNone/>
            </a:pPr>
            <a:r>
              <a:rPr lang="en-US" sz="1300" dirty="0">
                <a:solidFill>
                  <a:srgbClr val="1B2733"/>
                </a:solidFill>
                <a:latin typeface="Calibri" pitchFamily="34" charset="0"/>
                <a:ea typeface="Calibri" pitchFamily="34" charset="-122"/>
                <a:cs typeface="Calibri" pitchFamily="34" charset="-120"/>
              </a:rPr>
              <a:t>Linear models and many tests work best with roughly symmetric features or residuals.</a:t>
            </a:r>
            <a:endParaRPr lang="en-US" sz="1600" dirty="0"/>
          </a:p>
        </p:txBody>
      </p:sp>
      <p:sp>
        <p:nvSpPr>
          <p:cNvPr id="15" name="Shape 12"/>
          <p:cNvSpPr/>
          <p:nvPr/>
        </p:nvSpPr>
        <p:spPr>
          <a:xfrm>
            <a:off x="548640" y="4937760"/>
            <a:ext cx="5486400" cy="1005840"/>
          </a:xfrm>
          <a:prstGeom prst="roundRect">
            <a:avLst>
              <a:gd name="adj" fmla="val 7273"/>
            </a:avLst>
          </a:prstGeom>
          <a:solidFill>
            <a:srgbClr val="F1F5FA"/>
          </a:solidFill>
          <a:ln w="12700">
            <a:solidFill>
              <a:srgbClr val="F1F5FA"/>
            </a:solidFill>
            <a:prstDash val="solid"/>
          </a:ln>
        </p:spPr>
      </p:sp>
      <p:sp>
        <p:nvSpPr>
          <p:cNvPr id="16" name="Text 13"/>
          <p:cNvSpPr txBox="1"/>
          <p:nvPr/>
        </p:nvSpPr>
        <p:spPr>
          <a:xfrm>
            <a:off x="822960" y="4937760"/>
            <a:ext cx="4937760" cy="1005840"/>
          </a:xfrm>
          <a:prstGeom prst="rect">
            <a:avLst/>
          </a:prstGeom>
          <a:noFill/>
          <a:ln/>
        </p:spPr>
        <p:txBody>
          <a:bodyPr wrap="square" lIns="0" tIns="0" rIns="0" bIns="0" rtlCol="0" anchor="ctr"/>
          <a:lstStyle/>
          <a:p>
            <a:pPr marL="0" indent="0">
              <a:buNone/>
            </a:pPr>
            <a:r>
              <a:rPr lang="en-US" sz="1600" b="1" dirty="0">
                <a:solidFill>
                  <a:srgbClr val="16263F"/>
                </a:solidFill>
                <a:latin typeface="Cambria" pitchFamily="34" charset="0"/>
                <a:ea typeface="Cambria" pitchFamily="34" charset="-122"/>
                <a:cs typeface="Cambria" pitchFamily="34" charset="-120"/>
              </a:rPr>
              <a:t>Fix right skew</a:t>
            </a:r>
            <a:endParaRPr lang="en-US" sz="1600" dirty="0"/>
          </a:p>
          <a:p>
            <a:pPr marL="0" indent="0">
              <a:buNone/>
            </a:pPr>
            <a:r>
              <a:rPr lang="en-US" sz="1300" dirty="0">
                <a:solidFill>
                  <a:srgbClr val="1B2733"/>
                </a:solidFill>
                <a:latin typeface="Calibri" pitchFamily="34" charset="0"/>
                <a:ea typeface="Calibri" pitchFamily="34" charset="-122"/>
                <a:cs typeface="Calibri" pitchFamily="34" charset="-120"/>
              </a:rPr>
              <a:t>Log, square-root or Box-Cox transforms pull in a long right tail.</a:t>
            </a:r>
            <a:endParaRPr lang="en-US" sz="1600" dirty="0"/>
          </a:p>
        </p:txBody>
      </p:sp>
      <p:sp>
        <p:nvSpPr>
          <p:cNvPr id="17" name="Shape 14"/>
          <p:cNvSpPr/>
          <p:nvPr/>
        </p:nvSpPr>
        <p:spPr>
          <a:xfrm>
            <a:off x="6309360" y="1508760"/>
            <a:ext cx="5330952" cy="4114800"/>
          </a:xfrm>
          <a:prstGeom prst="roundRect">
            <a:avLst>
              <a:gd name="adj" fmla="val 1778"/>
            </a:avLst>
          </a:prstGeom>
          <a:solidFill>
            <a:srgbClr val="0F1B2E"/>
          </a:solidFill>
          <a:ln w="12700">
            <a:solidFill>
              <a:srgbClr val="0F1B2E"/>
            </a:solidFill>
            <a:prstDash val="solid"/>
          </a:ln>
        </p:spPr>
      </p:sp>
      <p:sp>
        <p:nvSpPr>
          <p:cNvPr id="18" name="Shape 15"/>
          <p:cNvSpPr/>
          <p:nvPr/>
        </p:nvSpPr>
        <p:spPr>
          <a:xfrm>
            <a:off x="6537960" y="1691640"/>
            <a:ext cx="128016" cy="128016"/>
          </a:xfrm>
          <a:prstGeom prst="ellipse">
            <a:avLst/>
          </a:prstGeom>
          <a:solidFill>
            <a:srgbClr val="FF5F57"/>
          </a:solidFill>
          <a:ln w="12700">
            <a:solidFill>
              <a:srgbClr val="FF5F57"/>
            </a:solidFill>
            <a:prstDash val="solid"/>
          </a:ln>
        </p:spPr>
      </p:sp>
      <p:sp>
        <p:nvSpPr>
          <p:cNvPr id="19" name="Shape 16"/>
          <p:cNvSpPr/>
          <p:nvPr/>
        </p:nvSpPr>
        <p:spPr>
          <a:xfrm>
            <a:off x="6766560" y="1691640"/>
            <a:ext cx="128016" cy="128016"/>
          </a:xfrm>
          <a:prstGeom prst="ellipse">
            <a:avLst/>
          </a:prstGeom>
          <a:solidFill>
            <a:srgbClr val="FEBC2E"/>
          </a:solidFill>
          <a:ln w="12700">
            <a:solidFill>
              <a:srgbClr val="FEBC2E"/>
            </a:solidFill>
            <a:prstDash val="solid"/>
          </a:ln>
        </p:spPr>
      </p:sp>
      <p:sp>
        <p:nvSpPr>
          <p:cNvPr id="20" name="Shape 17"/>
          <p:cNvSpPr/>
          <p:nvPr/>
        </p:nvSpPr>
        <p:spPr>
          <a:xfrm>
            <a:off x="6995160" y="1691640"/>
            <a:ext cx="128016" cy="128016"/>
          </a:xfrm>
          <a:prstGeom prst="ellipse">
            <a:avLst/>
          </a:prstGeom>
          <a:solidFill>
            <a:srgbClr val="28C840"/>
          </a:solidFill>
          <a:ln w="12700">
            <a:solidFill>
              <a:srgbClr val="28C840"/>
            </a:solidFill>
            <a:prstDash val="solid"/>
          </a:ln>
        </p:spPr>
      </p:sp>
      <p:sp>
        <p:nvSpPr>
          <p:cNvPr id="21" name="Text 18"/>
          <p:cNvSpPr txBox="1"/>
          <p:nvPr/>
        </p:nvSpPr>
        <p:spPr>
          <a:xfrm>
            <a:off x="7360920" y="1627632"/>
            <a:ext cx="2743200" cy="256032"/>
          </a:xfrm>
          <a:prstGeom prst="rect">
            <a:avLst/>
          </a:prstGeom>
          <a:noFill/>
          <a:ln/>
        </p:spPr>
        <p:txBody>
          <a:bodyPr wrap="square" lIns="0" tIns="0" rIns="0" bIns="0" rtlCol="0" anchor="ctr"/>
          <a:lstStyle/>
          <a:p>
            <a:pPr marL="0" indent="0">
              <a:buNone/>
            </a:pPr>
            <a:r>
              <a:rPr lang="en-US" sz="1100" dirty="0">
                <a:solidFill>
                  <a:srgbClr val="8A99AD"/>
                </a:solidFill>
                <a:latin typeface="Courier New" pitchFamily="34" charset="0"/>
                <a:ea typeface="Courier New" pitchFamily="34" charset="-122"/>
                <a:cs typeface="Courier New" pitchFamily="34" charset="-120"/>
              </a:rPr>
              <a:t>skewness.py</a:t>
            </a:r>
            <a:endParaRPr lang="en-US" sz="1100" dirty="0"/>
          </a:p>
        </p:txBody>
      </p:sp>
      <p:sp>
        <p:nvSpPr>
          <p:cNvPr id="22" name="Text 19"/>
          <p:cNvSpPr txBox="1"/>
          <p:nvPr/>
        </p:nvSpPr>
        <p:spPr>
          <a:xfrm>
            <a:off x="6537960" y="2103120"/>
            <a:ext cx="4937760" cy="3383280"/>
          </a:xfrm>
          <a:prstGeom prst="rect">
            <a:avLst/>
          </a:prstGeom>
          <a:noFill/>
          <a:ln/>
        </p:spPr>
        <p:txBody>
          <a:bodyPr wrap="square" lIns="0" tIns="0" rIns="0" bIns="0" rtlCol="0" anchor="t"/>
          <a:lstStyle/>
          <a:p>
            <a:pPr marL="0" indent="0">
              <a:spcAft>
                <a:spcPts val="400"/>
              </a:spcAft>
              <a:buNone/>
            </a:pPr>
            <a:r>
              <a:rPr lang="en-US" sz="1200" dirty="0">
                <a:solidFill>
                  <a:srgbClr val="F4B942"/>
                </a:solidFill>
                <a:latin typeface="Courier New" pitchFamily="34" charset="0"/>
                <a:ea typeface="Courier New" pitchFamily="34" charset="-122"/>
                <a:cs typeface="Courier New" pitchFamily="34" charset="-120"/>
              </a:rPr>
              <a:t>import numpy as np, pandas as pd</a:t>
            </a:r>
            <a:endParaRPr lang="en-US" sz="1200" dirty="0"/>
          </a:p>
          <a:p>
            <a:pPr marL="0" indent="0">
              <a:spcAft>
                <a:spcPts val="400"/>
              </a:spcAft>
              <a:buNone/>
            </a:pPr>
            <a:r>
              <a:rPr lang="en-US" sz="1200" dirty="0">
                <a:solidFill>
                  <a:srgbClr val="F4B942"/>
                </a:solidFill>
                <a:latin typeface="Courier New" pitchFamily="34" charset="0"/>
                <a:ea typeface="Courier New" pitchFamily="34" charset="-122"/>
                <a:cs typeface="Courier New" pitchFamily="34" charset="-120"/>
              </a:rPr>
              <a:t>from scipy.stats import skew</a:t>
            </a:r>
            <a:endParaRPr lang="en-US" sz="1200" dirty="0"/>
          </a:p>
          <a:p>
            <a:pPr marL="0" indent="0">
              <a:spcAft>
                <a:spcPts val="400"/>
              </a:spcAft>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spcAft>
                <a:spcPts val="400"/>
              </a:spcAft>
              <a:buNone/>
            </a:pPr>
            <a:r>
              <a:rPr lang="en-US" sz="1200" dirty="0">
                <a:solidFill>
                  <a:srgbClr val="FFFFFF"/>
                </a:solidFill>
                <a:latin typeface="Courier New" pitchFamily="34" charset="0"/>
                <a:ea typeface="Courier New" pitchFamily="34" charset="-122"/>
                <a:cs typeface="Courier New" pitchFamily="34" charset="-120"/>
              </a:rPr>
              <a:t>salary = np.array([20000, 22000, 23000,</a:t>
            </a:r>
            <a:endParaRPr lang="en-US" sz="1200" dirty="0"/>
          </a:p>
          <a:p>
            <a:pPr marL="0" indent="0">
              <a:spcAft>
                <a:spcPts val="400"/>
              </a:spcAft>
              <a:buNone/>
            </a:pPr>
            <a:r>
              <a:rPr lang="en-US" sz="1200" dirty="0">
                <a:solidFill>
                  <a:srgbClr val="FFFFFF"/>
                </a:solidFill>
                <a:latin typeface="Courier New" pitchFamily="34" charset="0"/>
                <a:ea typeface="Courier New" pitchFamily="34" charset="-122"/>
                <a:cs typeface="Courier New" pitchFamily="34" charset="-120"/>
              </a:rPr>
              <a:t>                   24000, 25000, 200000])</a:t>
            </a:r>
            <a:endParaRPr lang="en-US" sz="1200" dirty="0"/>
          </a:p>
          <a:p>
            <a:pPr marL="0" indent="0">
              <a:spcAft>
                <a:spcPts val="400"/>
              </a:spcAft>
              <a:buNone/>
            </a:pPr>
            <a:r>
              <a:rPr lang="en-US" sz="1200" dirty="0">
                <a:solidFill>
                  <a:srgbClr val="FFFFFF"/>
                </a:solidFill>
                <a:latin typeface="Courier New" pitchFamily="34" charset="0"/>
                <a:ea typeface="Courier New" pitchFamily="34" charset="-122"/>
                <a:cs typeface="Courier New" pitchFamily="34" charset="-120"/>
              </a:rPr>
              <a:t> </a:t>
            </a:r>
            <a:endParaRPr lang="en-US" sz="1200" dirty="0"/>
          </a:p>
          <a:p>
            <a:pPr marL="0" indent="0">
              <a:spcAft>
                <a:spcPts val="400"/>
              </a:spcAft>
              <a:buNone/>
            </a:pPr>
            <a:r>
              <a:rPr lang="en-US" sz="1200" dirty="0">
                <a:solidFill>
                  <a:srgbClr val="DCE7F2"/>
                </a:solidFill>
                <a:latin typeface="Courier New" pitchFamily="34" charset="0"/>
                <a:ea typeface="Courier New" pitchFamily="34" charset="-122"/>
                <a:cs typeface="Courier New" pitchFamily="34" charset="-120"/>
              </a:rPr>
              <a:t>skew(salary)             # 1.79 population</a:t>
            </a:r>
            <a:endParaRPr lang="en-US" sz="1200" dirty="0"/>
          </a:p>
          <a:p>
            <a:pPr marL="0" indent="0">
              <a:spcAft>
                <a:spcPts val="400"/>
              </a:spcAft>
              <a:buNone/>
            </a:pPr>
            <a:r>
              <a:rPr lang="en-US" sz="1200" dirty="0">
                <a:solidFill>
                  <a:srgbClr val="DCE7F2"/>
                </a:solidFill>
                <a:latin typeface="Courier New" pitchFamily="34" charset="0"/>
                <a:ea typeface="Courier New" pitchFamily="34" charset="-122"/>
                <a:cs typeface="Courier New" pitchFamily="34" charset="-120"/>
              </a:rPr>
              <a:t>pd.Series(salary).skew() # 2.45 sample-adj.</a:t>
            </a:r>
            <a:endParaRPr lang="en-US" sz="1200" dirty="0"/>
          </a:p>
          <a:p>
            <a:pPr marL="0" indent="0">
              <a:spcAft>
                <a:spcPts val="400"/>
              </a:spcAft>
              <a:buNone/>
            </a:pPr>
            <a:r>
              <a:rPr lang="en-US" sz="1200" dirty="0">
                <a:solidFill>
                  <a:srgbClr val="DCE7F2"/>
                </a:solidFill>
                <a:latin typeface="Courier New" pitchFamily="34" charset="0"/>
                <a:ea typeface="Courier New" pitchFamily="34" charset="-122"/>
                <a:cs typeface="Courier New" pitchFamily="34" charset="-120"/>
              </a:rPr>
              <a:t>np.log1p(salary)         # tames right skew</a:t>
            </a:r>
            <a:endParaRPr lang="en-US" sz="1200" dirty="0"/>
          </a:p>
          <a:p>
            <a:pPr marL="0" indent="0">
              <a:spcAft>
                <a:spcPts val="400"/>
              </a:spcAft>
              <a:buNone/>
            </a:pPr>
            <a:r>
              <a:rPr lang="en-US" sz="1200" dirty="0">
                <a:solidFill>
                  <a:srgbClr val="DCE7F2"/>
                </a:solidFill>
                <a:latin typeface="Courier New" pitchFamily="34" charset="0"/>
                <a:ea typeface="Courier New" pitchFamily="34" charset="-122"/>
                <a:cs typeface="Courier New" pitchFamily="34" charset="-120"/>
              </a:rPr>
              <a:t>df.skew(numeric_only=True)  # every column</a:t>
            </a:r>
            <a:endParaRPr lang="en-US" sz="1200" dirty="0"/>
          </a:p>
        </p:txBody>
      </p:sp>
      <p:sp>
        <p:nvSpPr>
          <p:cNvPr id="23" name="Text 20"/>
          <p:cNvSpPr txBox="1"/>
          <p:nvPr/>
        </p:nvSpPr>
        <p:spPr>
          <a:xfrm>
            <a:off x="6309360" y="5715000"/>
            <a:ext cx="5330952" cy="457200"/>
          </a:xfrm>
          <a:prstGeom prst="rect">
            <a:avLst/>
          </a:prstGeom>
          <a:noFill/>
          <a:ln/>
        </p:spPr>
        <p:txBody>
          <a:bodyPr wrap="square" lIns="0" tIns="0" rIns="0" bIns="0" rtlCol="0" anchor="ctr"/>
          <a:lstStyle/>
          <a:p>
            <a:pPr marL="0" indent="0">
              <a:buNone/>
            </a:pPr>
            <a:r>
              <a:rPr lang="en-US" sz="1300" i="1" dirty="0">
                <a:solidFill>
                  <a:srgbClr val="2D6A9F"/>
                </a:solidFill>
                <a:latin typeface="Calibri" pitchFamily="34" charset="0"/>
                <a:ea typeface="Calibri" pitchFamily="34" charset="-122"/>
                <a:cs typeface="Calibri" pitchFamily="34" charset="-120"/>
              </a:rPr>
              <a:t>scipy and pandas use slightly different formulas, so the values differ — but the sign is the same.</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scatter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HOW VARIABLES RELATE</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Correlation &amp; covariance</a:t>
            </a:r>
            <a:endParaRPr lang="en-US" sz="2700" dirty="0"/>
          </a:p>
        </p:txBody>
      </p:sp>
      <p:sp>
        <p:nvSpPr>
          <p:cNvPr id="6" name="Shape 3"/>
          <p:cNvSpPr/>
          <p:nvPr/>
        </p:nvSpPr>
        <p:spPr>
          <a:xfrm>
            <a:off x="566928" y="1709928"/>
            <a:ext cx="146304" cy="146304"/>
          </a:xfrm>
          <a:prstGeom prst="ellipse">
            <a:avLst/>
          </a:prstGeom>
          <a:solidFill>
            <a:srgbClr val="F4B942"/>
          </a:solidFill>
          <a:ln/>
        </p:spPr>
      </p:sp>
      <p:sp>
        <p:nvSpPr>
          <p:cNvPr id="7" name="Text 4"/>
          <p:cNvSpPr/>
          <p:nvPr/>
        </p:nvSpPr>
        <p:spPr>
          <a:xfrm>
            <a:off x="841248" y="1600200"/>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Covariance  </a:t>
            </a:r>
            <a:r>
              <a:rPr lang="en-US" sz="1200" dirty="0">
                <a:solidFill>
                  <a:srgbClr val="1B2733"/>
                </a:solidFill>
                <a:latin typeface="Calibri" pitchFamily="34" charset="0"/>
                <a:ea typeface="Calibri" pitchFamily="34" charset="-122"/>
                <a:cs typeface="Calibri" pitchFamily="34" charset="-120"/>
              </a:rPr>
              <a:t>— do two variables move together? (units-dependent)</a:t>
            </a:r>
            <a:endParaRPr lang="en-US" sz="1350" dirty="0"/>
          </a:p>
        </p:txBody>
      </p:sp>
      <p:sp>
        <p:nvSpPr>
          <p:cNvPr id="8" name="Shape 5"/>
          <p:cNvSpPr/>
          <p:nvPr/>
        </p:nvSpPr>
        <p:spPr>
          <a:xfrm>
            <a:off x="566928" y="2350008"/>
            <a:ext cx="146304" cy="146304"/>
          </a:xfrm>
          <a:prstGeom prst="ellipse">
            <a:avLst/>
          </a:prstGeom>
          <a:solidFill>
            <a:srgbClr val="F4B942"/>
          </a:solidFill>
          <a:ln/>
        </p:spPr>
      </p:sp>
      <p:sp>
        <p:nvSpPr>
          <p:cNvPr id="9" name="Text 6"/>
          <p:cNvSpPr/>
          <p:nvPr/>
        </p:nvSpPr>
        <p:spPr>
          <a:xfrm>
            <a:off x="841248" y="2240280"/>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Correlation  r  </a:t>
            </a:r>
            <a:r>
              <a:rPr lang="en-US" sz="1200" dirty="0">
                <a:solidFill>
                  <a:srgbClr val="1B2733"/>
                </a:solidFill>
                <a:latin typeface="Calibri" pitchFamily="34" charset="0"/>
                <a:ea typeface="Calibri" pitchFamily="34" charset="-122"/>
                <a:cs typeface="Calibri" pitchFamily="34" charset="-120"/>
              </a:rPr>
              <a:t>— covariance scaled to −1 … +1 (unitless)</a:t>
            </a:r>
            <a:endParaRPr lang="en-US" sz="1350" dirty="0"/>
          </a:p>
        </p:txBody>
      </p:sp>
      <p:sp>
        <p:nvSpPr>
          <p:cNvPr id="10" name="Shape 7"/>
          <p:cNvSpPr/>
          <p:nvPr/>
        </p:nvSpPr>
        <p:spPr>
          <a:xfrm>
            <a:off x="566928" y="2990088"/>
            <a:ext cx="146304" cy="146304"/>
          </a:xfrm>
          <a:prstGeom prst="ellipse">
            <a:avLst/>
          </a:prstGeom>
          <a:solidFill>
            <a:srgbClr val="F4B942"/>
          </a:solidFill>
          <a:ln/>
        </p:spPr>
      </p:sp>
      <p:sp>
        <p:nvSpPr>
          <p:cNvPr id="11" name="Text 8"/>
          <p:cNvSpPr/>
          <p:nvPr/>
        </p:nvSpPr>
        <p:spPr>
          <a:xfrm>
            <a:off x="841248" y="2880360"/>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+1 / −1 / 0  </a:t>
            </a:r>
            <a:r>
              <a:rPr lang="en-US" sz="1200" dirty="0">
                <a:solidFill>
                  <a:srgbClr val="1B2733"/>
                </a:solidFill>
                <a:latin typeface="Calibri" pitchFamily="34" charset="0"/>
                <a:ea typeface="Calibri" pitchFamily="34" charset="-122"/>
                <a:cs typeface="Calibri" pitchFamily="34" charset="-120"/>
              </a:rPr>
              <a:t>— perfect positive / perfect negative / no linear link</a:t>
            </a:r>
            <a:endParaRPr lang="en-US" sz="1350" dirty="0"/>
          </a:p>
        </p:txBody>
      </p:sp>
      <p:sp>
        <p:nvSpPr>
          <p:cNvPr id="12" name="Shape 9"/>
          <p:cNvSpPr/>
          <p:nvPr/>
        </p:nvSpPr>
        <p:spPr>
          <a:xfrm>
            <a:off x="566928" y="3630168"/>
            <a:ext cx="146304" cy="146304"/>
          </a:xfrm>
          <a:prstGeom prst="ellipse">
            <a:avLst/>
          </a:prstGeom>
          <a:solidFill>
            <a:srgbClr val="F4B942"/>
          </a:solidFill>
          <a:ln/>
        </p:spPr>
      </p:sp>
      <p:sp>
        <p:nvSpPr>
          <p:cNvPr id="13" name="Text 10"/>
          <p:cNvSpPr/>
          <p:nvPr/>
        </p:nvSpPr>
        <p:spPr>
          <a:xfrm>
            <a:off x="841248" y="3520440"/>
            <a:ext cx="5120640" cy="548640"/>
          </a:xfrm>
          <a:prstGeom prst="rect">
            <a:avLst/>
          </a:prstGeom>
          <a:noFill/>
          <a:ln/>
        </p:spPr>
        <p:txBody>
          <a:bodyPr wrap="square" lIns="0" tIns="0" rIns="0" bIns="0" rtlCol="0" anchor="t"/>
          <a:lstStyle/>
          <a:p>
            <a:pPr marL="0" indent="0" algn="l">
              <a:lnSpc>
                <a:spcPct val="103000"/>
              </a:lnSpc>
              <a:buNone/>
            </a:pPr>
            <a:r>
              <a:rPr lang="en-US" sz="1350" b="1" dirty="0">
                <a:solidFill>
                  <a:srgbClr val="16263F"/>
                </a:solidFill>
                <a:latin typeface="Calibri" pitchFamily="34" charset="0"/>
                <a:ea typeface="Calibri" pitchFamily="34" charset="-122"/>
                <a:cs typeface="Calibri" pitchFamily="34" charset="-120"/>
              </a:rPr>
              <a:t>Caution  </a:t>
            </a:r>
            <a:r>
              <a:rPr lang="en-US" sz="1200" dirty="0">
                <a:solidFill>
                  <a:srgbClr val="1B2733"/>
                </a:solidFill>
                <a:latin typeface="Calibri" pitchFamily="34" charset="0"/>
                <a:ea typeface="Calibri" pitchFamily="34" charset="-122"/>
                <a:cs typeface="Calibri" pitchFamily="34" charset="-120"/>
              </a:rPr>
              <a:t>— correlation is not causation; it only sees linear links</a:t>
            </a:r>
            <a:endParaRPr lang="en-US" sz="1350" dirty="0"/>
          </a:p>
        </p:txBody>
      </p:sp>
      <p:sp>
        <p:nvSpPr>
          <p:cNvPr id="14" name="Text 11"/>
          <p:cNvSpPr/>
          <p:nvPr/>
        </p:nvSpPr>
        <p:spPr>
          <a:xfrm>
            <a:off x="6355080" y="1572768"/>
            <a:ext cx="5120640" cy="310896"/>
          </a:xfrm>
          <a:prstGeom prst="rect">
            <a:avLst/>
          </a:prstGeom>
          <a:noFill/>
          <a:ln/>
        </p:spPr>
        <p:txBody>
          <a:bodyPr wrap="square" lIns="0" tIns="0" rIns="0" bIns="0" rtlCol="0" anchor="ctr"/>
          <a:lstStyle/>
          <a:p>
            <a:pPr marL="0" indent="0" algn="l">
              <a:buNone/>
            </a:pPr>
            <a:r>
              <a:rPr lang="en-US" sz="1250" b="1" dirty="0">
                <a:solidFill>
                  <a:srgbClr val="16263F"/>
                </a:solidFill>
                <a:latin typeface="Calibri" pitchFamily="34" charset="0"/>
                <a:ea typeface="Calibri" pitchFamily="34" charset="-122"/>
                <a:cs typeface="Calibri" pitchFamily="34" charset="-120"/>
              </a:rPr>
              <a:t>Positive correlation (r ≈ 0.99)</a:t>
            </a:r>
            <a:endParaRPr lang="en-US" sz="1250" dirty="0"/>
          </a:p>
        </p:txBody>
      </p:sp>
      <p:graphicFrame>
        <p:nvGraphicFramePr>
          <p:cNvPr id="15" name="Chart 0"/>
          <p:cNvGraphicFramePr/>
          <p:nvPr/>
        </p:nvGraphicFramePr>
        <p:xfrm>
          <a:off x="6217920" y="1920240"/>
          <a:ext cx="544068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6" name="Shape 12"/>
          <p:cNvSpPr/>
          <p:nvPr/>
        </p:nvSpPr>
        <p:spPr>
          <a:xfrm>
            <a:off x="548640" y="5138928"/>
            <a:ext cx="11091672" cy="566928"/>
          </a:xfrm>
          <a:prstGeom prst="roundRect">
            <a:avLst>
              <a:gd name="adj" fmla="val 11290"/>
            </a:avLst>
          </a:prstGeom>
          <a:solidFill>
            <a:srgbClr val="FBF1D8"/>
          </a:solidFill>
          <a:ln/>
        </p:spPr>
      </p:sp>
      <p:sp>
        <p:nvSpPr>
          <p:cNvPr id="17" name="Shape 13"/>
          <p:cNvSpPr/>
          <p:nvPr/>
        </p:nvSpPr>
        <p:spPr>
          <a:xfrm>
            <a:off x="694944" y="5257800"/>
            <a:ext cx="329184" cy="329184"/>
          </a:xfrm>
          <a:prstGeom prst="ellipse">
            <a:avLst/>
          </a:prstGeom>
          <a:solidFill>
            <a:srgbClr val="F4B942"/>
          </a:solidFill>
          <a:ln/>
        </p:spPr>
      </p:sp>
      <p:pic>
        <p:nvPicPr>
          <p:cNvPr id="18" name="Image 1" descr="ic_flask_navy.png"/>
          <p:cNvPicPr>
            <a:picLocks noChangeAspect="1"/>
          </p:cNvPicPr>
          <p:nvPr/>
        </p:nvPicPr>
        <p:blipFill>
          <a:blip r:embed="rId5"/>
          <a:stretch>
            <a:fillRect/>
          </a:stretch>
        </p:blipFill>
        <p:spPr>
          <a:xfrm>
            <a:off x="777240" y="5340096"/>
            <a:ext cx="164592" cy="164592"/>
          </a:xfrm>
          <a:prstGeom prst="rect">
            <a:avLst/>
          </a:prstGeom>
        </p:spPr>
      </p:pic>
      <p:sp>
        <p:nvSpPr>
          <p:cNvPr id="19" name="Text 14"/>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Build a correlation matrix; spot the most and least related features.</a:t>
            </a:r>
            <a:endParaRPr lang="en-US" sz="1100" dirty="0"/>
          </a:p>
        </p:txBody>
      </p:sp>
      <p:sp>
        <p:nvSpPr>
          <p:cNvPr id="20" name="Text 15"/>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21" name="Text 16"/>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9</a:t>
            </a:r>
            <a:endParaRPr lang="en-US" sz="950" dirty="0"/>
          </a:p>
        </p:txBody>
      </p:sp>
      <p:sp>
        <p:nvSpPr>
          <p:cNvPr id="40" name="Worked Example 9"/>
          <p:cNvSpPr/>
          <p:nvPr/>
        </p:nvSpPr>
        <p:spPr>
          <a:xfrm>
            <a:off x="841248" y="4229100"/>
            <a:ext cx="5120640" cy="800000"/>
          </a:xfrm>
          <a:prstGeom prst="rect">
            <a:avLst/>
          </a:prstGeom>
          <a:noFill/>
          <a:ln/>
        </p:spPr>
        <p:txBody>
          <a:bodyPr wrap="square" lIns="0" tIns="0" rIns="0" bIns="0" rtlCol="0" anchor="t"/>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study hours vs. exam score, 5 students: x = [2, 3, 5, 7, 9], y = [50, 55, 65, 75, 85]. r ≈ 0.99 — a strong positive linear relationship.</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clip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PUTTING IT TOGETHER</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Summarizing a dataset in practice</a:t>
            </a:r>
            <a:endParaRPr lang="en-US" sz="2700" dirty="0"/>
          </a:p>
        </p:txBody>
      </p:sp>
      <p:sp>
        <p:nvSpPr>
          <p:cNvPr id="6" name="Shape 3"/>
          <p:cNvSpPr/>
          <p:nvPr/>
        </p:nvSpPr>
        <p:spPr>
          <a:xfrm>
            <a:off x="548640" y="1645920"/>
            <a:ext cx="2615184" cy="960120"/>
          </a:xfrm>
          <a:prstGeom prst="roundRect">
            <a:avLst>
              <a:gd name="adj" fmla="val 7619"/>
            </a:avLst>
          </a:prstGeom>
          <a:solidFill>
            <a:srgbClr val="F2F5F9"/>
          </a:solidFill>
          <a:ln/>
        </p:spPr>
      </p:sp>
      <p:sp>
        <p:nvSpPr>
          <p:cNvPr id="7" name="Text 4"/>
          <p:cNvSpPr/>
          <p:nvPr/>
        </p:nvSpPr>
        <p:spPr>
          <a:xfrm>
            <a:off x="731520" y="1792224"/>
            <a:ext cx="2249424" cy="329184"/>
          </a:xfrm>
          <a:prstGeom prst="rect">
            <a:avLst/>
          </a:prstGeom>
          <a:noFill/>
          <a:ln/>
        </p:spPr>
        <p:txBody>
          <a:bodyPr wrap="square" lIns="0" tIns="0" rIns="0" bIns="0" rtlCol="0" anchor="ctr"/>
          <a:lstStyle/>
          <a:p>
            <a:pPr marL="0" indent="0" algn="l">
              <a:buNone/>
            </a:pPr>
            <a:r>
              <a:rPr lang="en-US" sz="1250" b="1" kern="0" spc="50" dirty="0">
                <a:solidFill>
                  <a:srgbClr val="2D6A9F"/>
                </a:solidFill>
                <a:latin typeface="Calibri" pitchFamily="34" charset="0"/>
                <a:ea typeface="Calibri" pitchFamily="34" charset="-122"/>
                <a:cs typeface="Calibri" pitchFamily="34" charset="-120"/>
              </a:rPr>
              <a:t>PROFILE</a:t>
            </a:r>
            <a:endParaRPr lang="en-US" sz="1250" dirty="0"/>
          </a:p>
        </p:txBody>
      </p:sp>
      <p:sp>
        <p:nvSpPr>
          <p:cNvPr id="8" name="Text 5"/>
          <p:cNvSpPr/>
          <p:nvPr/>
        </p:nvSpPr>
        <p:spPr>
          <a:xfrm>
            <a:off x="731520" y="2157984"/>
            <a:ext cx="2249424" cy="365760"/>
          </a:xfrm>
          <a:prstGeom prst="rect">
            <a:avLst/>
          </a:prstGeom>
          <a:noFill/>
          <a:ln/>
        </p:spPr>
        <p:txBody>
          <a:bodyPr wrap="square" lIns="0" tIns="0" rIns="0" bIns="0" rtlCol="0" anchor="ctr"/>
          <a:lstStyle/>
          <a:p>
            <a:pPr marL="0" indent="0" algn="l">
              <a:buNone/>
            </a:pPr>
            <a:r>
              <a:rPr lang="en-US" sz="1200" dirty="0">
                <a:solidFill>
                  <a:srgbClr val="1B2733"/>
                </a:solidFill>
                <a:latin typeface="Courier New" pitchFamily="34" charset="0"/>
                <a:ea typeface="Courier New" pitchFamily="34" charset="-122"/>
                <a:cs typeface="Courier New" pitchFamily="34" charset="-120"/>
              </a:rPr>
              <a:t>.info() .dtypes</a:t>
            </a:r>
            <a:endParaRPr lang="en-US" sz="1200" dirty="0"/>
          </a:p>
        </p:txBody>
      </p:sp>
      <p:pic>
        <p:nvPicPr>
          <p:cNvPr id="9" name="Image 1" descr="ic_arrow_gold.png"/>
          <p:cNvPicPr>
            <a:picLocks noChangeAspect="1"/>
          </p:cNvPicPr>
          <p:nvPr/>
        </p:nvPicPr>
        <p:blipFill>
          <a:blip r:embed="rId4"/>
          <a:stretch>
            <a:fillRect/>
          </a:stretch>
        </p:blipFill>
        <p:spPr>
          <a:xfrm>
            <a:off x="3172968" y="2025396"/>
            <a:ext cx="164592" cy="164592"/>
          </a:xfrm>
          <a:prstGeom prst="rect">
            <a:avLst/>
          </a:prstGeom>
        </p:spPr>
      </p:pic>
      <p:sp>
        <p:nvSpPr>
          <p:cNvPr id="10" name="Shape 6"/>
          <p:cNvSpPr/>
          <p:nvPr/>
        </p:nvSpPr>
        <p:spPr>
          <a:xfrm>
            <a:off x="3346704" y="1645920"/>
            <a:ext cx="2615184" cy="960120"/>
          </a:xfrm>
          <a:prstGeom prst="roundRect">
            <a:avLst>
              <a:gd name="adj" fmla="val 7619"/>
            </a:avLst>
          </a:prstGeom>
          <a:solidFill>
            <a:srgbClr val="F2F5F9"/>
          </a:solidFill>
          <a:ln/>
        </p:spPr>
      </p:sp>
      <p:sp>
        <p:nvSpPr>
          <p:cNvPr id="11" name="Text 7"/>
          <p:cNvSpPr/>
          <p:nvPr/>
        </p:nvSpPr>
        <p:spPr>
          <a:xfrm>
            <a:off x="3529584" y="1792224"/>
            <a:ext cx="2249424" cy="329184"/>
          </a:xfrm>
          <a:prstGeom prst="rect">
            <a:avLst/>
          </a:prstGeom>
          <a:noFill/>
          <a:ln/>
        </p:spPr>
        <p:txBody>
          <a:bodyPr wrap="square" lIns="0" tIns="0" rIns="0" bIns="0" rtlCol="0" anchor="ctr"/>
          <a:lstStyle/>
          <a:p>
            <a:pPr marL="0" indent="0" algn="l">
              <a:buNone/>
            </a:pPr>
            <a:r>
              <a:rPr lang="en-US" sz="1250" b="1" kern="0" spc="50" dirty="0">
                <a:solidFill>
                  <a:srgbClr val="2D6A9F"/>
                </a:solidFill>
                <a:latin typeface="Calibri" pitchFamily="34" charset="0"/>
                <a:ea typeface="Calibri" pitchFamily="34" charset="-122"/>
                <a:cs typeface="Calibri" pitchFamily="34" charset="-120"/>
              </a:rPr>
              <a:t>SUMMARISE</a:t>
            </a:r>
            <a:endParaRPr lang="en-US" sz="1250" dirty="0"/>
          </a:p>
        </p:txBody>
      </p:sp>
      <p:sp>
        <p:nvSpPr>
          <p:cNvPr id="12" name="Text 8"/>
          <p:cNvSpPr/>
          <p:nvPr/>
        </p:nvSpPr>
        <p:spPr>
          <a:xfrm>
            <a:off x="3529584" y="2157984"/>
            <a:ext cx="2249424" cy="365760"/>
          </a:xfrm>
          <a:prstGeom prst="rect">
            <a:avLst/>
          </a:prstGeom>
          <a:noFill/>
          <a:ln/>
        </p:spPr>
        <p:txBody>
          <a:bodyPr wrap="square" lIns="0" tIns="0" rIns="0" bIns="0" rtlCol="0" anchor="ctr"/>
          <a:lstStyle/>
          <a:p>
            <a:pPr marL="0" indent="0" algn="l">
              <a:buNone/>
            </a:pPr>
            <a:r>
              <a:rPr lang="en-US" sz="1200" dirty="0">
                <a:solidFill>
                  <a:srgbClr val="1B2733"/>
                </a:solidFill>
                <a:latin typeface="Courier New" pitchFamily="34" charset="0"/>
                <a:ea typeface="Courier New" pitchFamily="34" charset="-122"/>
                <a:cs typeface="Courier New" pitchFamily="34" charset="-120"/>
              </a:rPr>
              <a:t>.describe()</a:t>
            </a:r>
            <a:endParaRPr lang="en-US" sz="1200" dirty="0"/>
          </a:p>
        </p:txBody>
      </p:sp>
      <p:pic>
        <p:nvPicPr>
          <p:cNvPr id="13" name="Image 2" descr="ic_arrow_gold.png"/>
          <p:cNvPicPr>
            <a:picLocks noChangeAspect="1"/>
          </p:cNvPicPr>
          <p:nvPr/>
        </p:nvPicPr>
        <p:blipFill>
          <a:blip r:embed="rId4"/>
          <a:stretch>
            <a:fillRect/>
          </a:stretch>
        </p:blipFill>
        <p:spPr>
          <a:xfrm>
            <a:off x="5971032" y="2025396"/>
            <a:ext cx="164592" cy="164592"/>
          </a:xfrm>
          <a:prstGeom prst="rect">
            <a:avLst/>
          </a:prstGeom>
        </p:spPr>
      </p:pic>
      <p:sp>
        <p:nvSpPr>
          <p:cNvPr id="14" name="Shape 9"/>
          <p:cNvSpPr/>
          <p:nvPr/>
        </p:nvSpPr>
        <p:spPr>
          <a:xfrm>
            <a:off x="6144768" y="1645920"/>
            <a:ext cx="2615184" cy="960120"/>
          </a:xfrm>
          <a:prstGeom prst="roundRect">
            <a:avLst>
              <a:gd name="adj" fmla="val 7619"/>
            </a:avLst>
          </a:prstGeom>
          <a:solidFill>
            <a:srgbClr val="F2F5F9"/>
          </a:solidFill>
          <a:ln/>
        </p:spPr>
      </p:sp>
      <p:sp>
        <p:nvSpPr>
          <p:cNvPr id="15" name="Text 10"/>
          <p:cNvSpPr/>
          <p:nvPr/>
        </p:nvSpPr>
        <p:spPr>
          <a:xfrm>
            <a:off x="6327648" y="1792224"/>
            <a:ext cx="2249424" cy="329184"/>
          </a:xfrm>
          <a:prstGeom prst="rect">
            <a:avLst/>
          </a:prstGeom>
          <a:noFill/>
          <a:ln/>
        </p:spPr>
        <p:txBody>
          <a:bodyPr wrap="square" lIns="0" tIns="0" rIns="0" bIns="0" rtlCol="0" anchor="ctr"/>
          <a:lstStyle/>
          <a:p>
            <a:pPr marL="0" indent="0" algn="l">
              <a:buNone/>
            </a:pPr>
            <a:r>
              <a:rPr lang="en-US" sz="1250" b="1" kern="0" spc="50" dirty="0">
                <a:solidFill>
                  <a:srgbClr val="2D6A9F"/>
                </a:solidFill>
                <a:latin typeface="Calibri" pitchFamily="34" charset="0"/>
                <a:ea typeface="Calibri" pitchFamily="34" charset="-122"/>
                <a:cs typeface="Calibri" pitchFamily="34" charset="-120"/>
              </a:rPr>
              <a:t>SPREAD/ SHAPE</a:t>
            </a:r>
            <a:endParaRPr lang="en-US" sz="1250" dirty="0"/>
          </a:p>
        </p:txBody>
      </p:sp>
      <p:sp>
        <p:nvSpPr>
          <p:cNvPr id="16" name="Text 11"/>
          <p:cNvSpPr/>
          <p:nvPr/>
        </p:nvSpPr>
        <p:spPr>
          <a:xfrm>
            <a:off x="6327648" y="2157984"/>
            <a:ext cx="2249424" cy="365760"/>
          </a:xfrm>
          <a:prstGeom prst="rect">
            <a:avLst/>
          </a:prstGeom>
          <a:noFill/>
          <a:ln/>
        </p:spPr>
        <p:txBody>
          <a:bodyPr wrap="square" lIns="0" tIns="0" rIns="0" bIns="0" rtlCol="0" anchor="ctr"/>
          <a:lstStyle/>
          <a:p>
            <a:pPr marL="0" indent="0" algn="l">
              <a:buNone/>
            </a:pPr>
            <a:r>
              <a:rPr lang="en-US" sz="1200" dirty="0">
                <a:solidFill>
                  <a:srgbClr val="1B2733"/>
                </a:solidFill>
                <a:latin typeface="Courier New" pitchFamily="34" charset="0"/>
                <a:ea typeface="Courier New" pitchFamily="34" charset="-122"/>
                <a:cs typeface="Courier New" pitchFamily="34" charset="-120"/>
              </a:rPr>
              <a:t>.std() .skew()</a:t>
            </a:r>
            <a:endParaRPr lang="en-US" sz="1200" dirty="0"/>
          </a:p>
        </p:txBody>
      </p:sp>
      <p:pic>
        <p:nvPicPr>
          <p:cNvPr id="17" name="Image 3" descr="ic_arrow_gold.png"/>
          <p:cNvPicPr>
            <a:picLocks noChangeAspect="1"/>
          </p:cNvPicPr>
          <p:nvPr/>
        </p:nvPicPr>
        <p:blipFill>
          <a:blip r:embed="rId4"/>
          <a:stretch>
            <a:fillRect/>
          </a:stretch>
        </p:blipFill>
        <p:spPr>
          <a:xfrm>
            <a:off x="8769096" y="2025396"/>
            <a:ext cx="164592" cy="164592"/>
          </a:xfrm>
          <a:prstGeom prst="rect">
            <a:avLst/>
          </a:prstGeom>
        </p:spPr>
      </p:pic>
      <p:sp>
        <p:nvSpPr>
          <p:cNvPr id="18" name="Shape 12"/>
          <p:cNvSpPr/>
          <p:nvPr/>
        </p:nvSpPr>
        <p:spPr>
          <a:xfrm>
            <a:off x="8942832" y="1645920"/>
            <a:ext cx="2615184" cy="960120"/>
          </a:xfrm>
          <a:prstGeom prst="roundRect">
            <a:avLst>
              <a:gd name="adj" fmla="val 7619"/>
            </a:avLst>
          </a:prstGeom>
          <a:solidFill>
            <a:srgbClr val="16263F"/>
          </a:solidFill>
          <a:ln/>
          <a:effectLst>
            <a:outerShdw blurRad="101600" dist="38100" dir="5400000" algn="bl" rotWithShape="0">
              <a:srgbClr val="000000">
                <a:alpha val="14000"/>
              </a:srgbClr>
            </a:outerShdw>
          </a:effectLst>
        </p:spPr>
      </p:sp>
      <p:sp>
        <p:nvSpPr>
          <p:cNvPr id="19" name="Text 13"/>
          <p:cNvSpPr/>
          <p:nvPr/>
        </p:nvSpPr>
        <p:spPr>
          <a:xfrm>
            <a:off x="9125712" y="1792224"/>
            <a:ext cx="2249424" cy="329184"/>
          </a:xfrm>
          <a:prstGeom prst="rect">
            <a:avLst/>
          </a:prstGeom>
          <a:noFill/>
          <a:ln/>
        </p:spPr>
        <p:txBody>
          <a:bodyPr wrap="square" lIns="0" tIns="0" rIns="0" bIns="0" rtlCol="0" anchor="ctr"/>
          <a:lstStyle/>
          <a:p>
            <a:pPr marL="0" indent="0" algn="l">
              <a:buNone/>
            </a:pPr>
            <a:r>
              <a:rPr lang="en-US" sz="1250" b="1" kern="0" spc="50" dirty="0">
                <a:solidFill>
                  <a:srgbClr val="F4B942"/>
                </a:solidFill>
                <a:latin typeface="Calibri" pitchFamily="34" charset="0"/>
                <a:ea typeface="Calibri" pitchFamily="34" charset="-122"/>
                <a:cs typeface="Calibri" pitchFamily="34" charset="-120"/>
              </a:rPr>
              <a:t>RELATE</a:t>
            </a:r>
            <a:endParaRPr lang="en-US" sz="1250" dirty="0"/>
          </a:p>
        </p:txBody>
      </p:sp>
      <p:sp>
        <p:nvSpPr>
          <p:cNvPr id="20" name="Text 14"/>
          <p:cNvSpPr/>
          <p:nvPr/>
        </p:nvSpPr>
        <p:spPr>
          <a:xfrm>
            <a:off x="9125712" y="2157984"/>
            <a:ext cx="2249424" cy="365760"/>
          </a:xfrm>
          <a:prstGeom prst="rect">
            <a:avLst/>
          </a:prstGeom>
          <a:noFill/>
          <a:ln/>
        </p:spPr>
        <p:txBody>
          <a:bodyPr wrap="square" lIns="0" tIns="0" rIns="0" bIns="0" rtlCol="0" anchor="ctr"/>
          <a:lstStyle/>
          <a:p>
            <a:pPr marL="0" indent="0" algn="l">
              <a:buNone/>
            </a:pPr>
            <a:r>
              <a:rPr lang="en-US" sz="1200" dirty="0">
                <a:solidFill>
                  <a:srgbClr val="DCE7F2"/>
                </a:solidFill>
                <a:latin typeface="Courier New" pitchFamily="34" charset="0"/>
                <a:ea typeface="Courier New" pitchFamily="34" charset="-122"/>
                <a:cs typeface="Courier New" pitchFamily="34" charset="-120"/>
              </a:rPr>
              <a:t>.corr()</a:t>
            </a:r>
            <a:endParaRPr lang="en-US" sz="1200" dirty="0"/>
          </a:p>
        </p:txBody>
      </p:sp>
      <p:sp>
        <p:nvSpPr>
          <p:cNvPr id="21" name="Shape 15"/>
          <p:cNvSpPr/>
          <p:nvPr/>
        </p:nvSpPr>
        <p:spPr>
          <a:xfrm>
            <a:off x="548640" y="2834640"/>
            <a:ext cx="6400800" cy="1965960"/>
          </a:xfrm>
          <a:prstGeom prst="roundRect">
            <a:avLst>
              <a:gd name="adj" fmla="val 2791"/>
            </a:avLst>
          </a:prstGeom>
          <a:solidFill>
            <a:srgbClr val="0E1B2E"/>
          </a:solidFill>
          <a:ln/>
          <a:effectLst>
            <a:outerShdw blurRad="101600" dist="38100" dir="5400000" algn="bl" rotWithShape="0">
              <a:srgbClr val="000000">
                <a:alpha val="14000"/>
              </a:srgbClr>
            </a:outerShdw>
          </a:effectLst>
        </p:spPr>
      </p:sp>
      <p:sp>
        <p:nvSpPr>
          <p:cNvPr id="22" name="Shape 16"/>
          <p:cNvSpPr/>
          <p:nvPr/>
        </p:nvSpPr>
        <p:spPr>
          <a:xfrm>
            <a:off x="694944" y="2980944"/>
            <a:ext cx="91440" cy="91440"/>
          </a:xfrm>
          <a:prstGeom prst="ellipse">
            <a:avLst/>
          </a:prstGeom>
          <a:solidFill>
            <a:srgbClr val="FF5F56"/>
          </a:solidFill>
          <a:ln/>
        </p:spPr>
      </p:sp>
      <p:sp>
        <p:nvSpPr>
          <p:cNvPr id="23" name="Shape 17"/>
          <p:cNvSpPr/>
          <p:nvPr/>
        </p:nvSpPr>
        <p:spPr>
          <a:xfrm>
            <a:off x="841248" y="2980944"/>
            <a:ext cx="91440" cy="91440"/>
          </a:xfrm>
          <a:prstGeom prst="ellipse">
            <a:avLst/>
          </a:prstGeom>
          <a:solidFill>
            <a:srgbClr val="FFBD2E"/>
          </a:solidFill>
          <a:ln/>
        </p:spPr>
      </p:sp>
      <p:sp>
        <p:nvSpPr>
          <p:cNvPr id="24" name="Shape 18"/>
          <p:cNvSpPr/>
          <p:nvPr/>
        </p:nvSpPr>
        <p:spPr>
          <a:xfrm>
            <a:off x="987552" y="2980944"/>
            <a:ext cx="91440" cy="91440"/>
          </a:xfrm>
          <a:prstGeom prst="ellipse">
            <a:avLst/>
          </a:prstGeom>
          <a:solidFill>
            <a:srgbClr val="27C93F"/>
          </a:solidFill>
          <a:ln/>
        </p:spPr>
      </p:sp>
      <p:sp>
        <p:nvSpPr>
          <p:cNvPr id="25" name="Text 19"/>
          <p:cNvSpPr/>
          <p:nvPr/>
        </p:nvSpPr>
        <p:spPr>
          <a:xfrm>
            <a:off x="1188720" y="2907792"/>
            <a:ext cx="5577840" cy="237744"/>
          </a:xfrm>
          <a:prstGeom prst="rect">
            <a:avLst/>
          </a:prstGeom>
          <a:noFill/>
          <a:ln/>
        </p:spPr>
        <p:txBody>
          <a:bodyPr wrap="square" lIns="0" tIns="0" rIns="0" bIns="0" rtlCol="0" anchor="ctr"/>
          <a:lstStyle/>
          <a:p>
            <a:pPr marL="0" indent="0" algn="l">
              <a:buNone/>
            </a:pPr>
            <a:r>
              <a:rPr lang="en-US" sz="950" dirty="0">
                <a:solidFill>
                  <a:srgbClr val="8FA6BE"/>
                </a:solidFill>
                <a:latin typeface="Courier New" pitchFamily="34" charset="0"/>
                <a:ea typeface="Courier New" pitchFamily="34" charset="-122"/>
                <a:cs typeface="Courier New" pitchFamily="34" charset="-120"/>
              </a:rPr>
              <a:t>summary.py</a:t>
            </a:r>
            <a:endParaRPr lang="en-US" sz="950" dirty="0"/>
          </a:p>
        </p:txBody>
      </p:sp>
      <p:sp>
        <p:nvSpPr>
          <p:cNvPr id="26" name="Text 20"/>
          <p:cNvSpPr/>
          <p:nvPr/>
        </p:nvSpPr>
        <p:spPr>
          <a:xfrm>
            <a:off x="749808" y="3218688"/>
            <a:ext cx="5998464" cy="1435608"/>
          </a:xfrm>
          <a:prstGeom prst="rect">
            <a:avLst/>
          </a:prstGeom>
          <a:noFill/>
          <a:ln/>
        </p:spPr>
        <p:txBody>
          <a:bodyPr wrap="square" lIns="0" tIns="0" rIns="0" bIns="0" rtlCol="0" anchor="t"/>
          <a:lstStyle/>
          <a:p>
            <a:pPr marL="0" indent="0" algn="l">
              <a:lnSpc>
                <a:spcPct val="112000"/>
              </a:lnSpc>
              <a:buNone/>
            </a:pPr>
            <a:r>
              <a:rPr lang="en-US" sz="1150" dirty="0">
                <a:solidFill>
                  <a:srgbClr val="F4B942"/>
                </a:solidFill>
                <a:latin typeface="Courier New" pitchFamily="34" charset="0"/>
                <a:ea typeface="Courier New" pitchFamily="34" charset="-122"/>
                <a:cs typeface="Courier New" pitchFamily="34" charset="-120"/>
              </a:rPr>
              <a:t>import pandas as pd</a:t>
            </a:r>
            <a:endParaRPr lang="en-US" sz="1150" dirty="0"/>
          </a:p>
          <a:p>
            <a:pPr marL="0" indent="0" algn="l">
              <a:lnSpc>
                <a:spcPct val="112000"/>
              </a:lnSpc>
              <a:buNone/>
            </a:pPr>
            <a:r>
              <a:rPr lang="en-US" sz="1150" dirty="0">
                <a:solidFill>
                  <a:srgbClr val="E6EEF7"/>
                </a:solidFill>
                <a:latin typeface="Courier New" pitchFamily="34" charset="0"/>
                <a:ea typeface="Courier New" pitchFamily="34" charset="-122"/>
                <a:cs typeface="Courier New" pitchFamily="34" charset="-120"/>
              </a:rPr>
              <a:t>df = pd.read_csv('data.csv')</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df.describe()        # count, mean, std, min, quartiles, max</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df['age'].median()   # robust centre</a:t>
            </a:r>
            <a:endParaRPr lang="en-US" sz="1150" dirty="0"/>
          </a:p>
          <a:p>
            <a:pPr marL="0" indent="0" algn="l">
              <a:lnSpc>
                <a:spcPct val="112000"/>
              </a:lnSpc>
              <a:buNone/>
            </a:pPr>
            <a:r>
              <a:rPr lang="en-US" sz="1150" dirty="0">
                <a:solidFill>
                  <a:srgbClr val="7FA8C9"/>
                </a:solidFill>
                <a:latin typeface="Courier New" pitchFamily="34" charset="0"/>
                <a:ea typeface="Courier New" pitchFamily="34" charset="-122"/>
                <a:cs typeface="Courier New" pitchFamily="34" charset="-120"/>
              </a:rPr>
              <a:t>df.corr(numeric_only=True)   # correlation matrix</a:t>
            </a:r>
            <a:endParaRPr lang="en-US" sz="1150" dirty="0"/>
          </a:p>
        </p:txBody>
      </p:sp>
      <p:sp>
        <p:nvSpPr>
          <p:cNvPr id="27" name="Shape 21"/>
          <p:cNvSpPr/>
          <p:nvPr/>
        </p:nvSpPr>
        <p:spPr>
          <a:xfrm>
            <a:off x="7132320" y="2834640"/>
            <a:ext cx="4507992" cy="1965960"/>
          </a:xfrm>
          <a:prstGeom prst="roundRect">
            <a:avLst>
              <a:gd name="adj" fmla="val 3721"/>
            </a:avLst>
          </a:prstGeom>
          <a:solidFill>
            <a:srgbClr val="F2F5F9"/>
          </a:solidFill>
          <a:ln/>
        </p:spPr>
      </p:sp>
      <p:sp>
        <p:nvSpPr>
          <p:cNvPr id="28" name="Text 22"/>
          <p:cNvSpPr/>
          <p:nvPr/>
        </p:nvSpPr>
        <p:spPr>
          <a:xfrm>
            <a:off x="7333488" y="2980944"/>
            <a:ext cx="4114800" cy="310896"/>
          </a:xfrm>
          <a:prstGeom prst="rect">
            <a:avLst/>
          </a:prstGeom>
          <a:noFill/>
          <a:ln/>
        </p:spPr>
        <p:txBody>
          <a:bodyPr wrap="square" lIns="0" tIns="0" rIns="0" bIns="0" rtlCol="0" anchor="ctr"/>
          <a:lstStyle/>
          <a:p>
            <a:pPr marL="0" indent="0" algn="l">
              <a:buNone/>
            </a:pPr>
            <a:r>
              <a:rPr lang="en-US" sz="1300" b="1" dirty="0">
                <a:solidFill>
                  <a:srgbClr val="16263F"/>
                </a:solidFill>
                <a:latin typeface="Calibri" pitchFamily="34" charset="0"/>
                <a:ea typeface="Calibri" pitchFamily="34" charset="-122"/>
                <a:cs typeface="Calibri" pitchFamily="34" charset="-120"/>
              </a:rPr>
              <a:t>.describe() gives it all at once</a:t>
            </a:r>
            <a:endParaRPr lang="en-US" sz="1300" dirty="0"/>
          </a:p>
        </p:txBody>
      </p:sp>
      <p:sp>
        <p:nvSpPr>
          <p:cNvPr id="29" name="Text 23"/>
          <p:cNvSpPr/>
          <p:nvPr/>
        </p:nvSpPr>
        <p:spPr>
          <a:xfrm>
            <a:off x="7333488" y="3328416"/>
            <a:ext cx="4160520" cy="1325880"/>
          </a:xfrm>
          <a:prstGeom prst="rect">
            <a:avLst/>
          </a:prstGeom>
          <a:noFill/>
          <a:ln/>
        </p:spPr>
        <p:txBody>
          <a:bodyPr wrap="square" lIns="0" tIns="0" rIns="0" bIns="0" rtlCol="0" anchor="t"/>
          <a:lstStyle/>
          <a:p>
            <a:pPr marL="0" indent="0" algn="l">
              <a:lnSpc>
                <a:spcPct val="110000"/>
              </a:lnSpc>
              <a:buNone/>
            </a:pPr>
            <a:r>
              <a:rPr lang="en-US" sz="1150" dirty="0">
                <a:solidFill>
                  <a:srgbClr val="2D6A9F"/>
                </a:solidFill>
                <a:latin typeface="Courier New" pitchFamily="34" charset="0"/>
                <a:ea typeface="Courier New" pitchFamily="34" charset="-122"/>
                <a:cs typeface="Courier New" pitchFamily="34" charset="-120"/>
              </a:rPr>
              <a:t>count · mean · std · min · 25% · 50% · 75% · max</a:t>
            </a:r>
            <a:endParaRPr lang="en-US" sz="1150" dirty="0"/>
          </a:p>
          <a:p>
            <a:pPr marL="0" indent="0" algn="l">
              <a:lnSpc>
                <a:spcPct val="110000"/>
              </a:lnSpc>
              <a:buNone/>
            </a:pPr>
            <a:r>
              <a:rPr lang="en-US" sz="1200" dirty="0">
                <a:solidFill>
                  <a:srgbClr val="1B2733"/>
                </a:solidFill>
                <a:latin typeface="Calibri" pitchFamily="34" charset="0"/>
                <a:ea typeface="Calibri" pitchFamily="34" charset="-122"/>
                <a:cs typeface="Calibri" pitchFamily="34" charset="-120"/>
              </a:rPr>
              <a:t>— one call returns centre, spread and shape for every numeric column.</a:t>
            </a:r>
            <a:endParaRPr lang="en-US" sz="1150" dirty="0"/>
          </a:p>
        </p:txBody>
      </p:sp>
      <p:sp>
        <p:nvSpPr>
          <p:cNvPr id="30" name="Shape 24"/>
          <p:cNvSpPr/>
          <p:nvPr/>
        </p:nvSpPr>
        <p:spPr>
          <a:xfrm>
            <a:off x="548640" y="5138928"/>
            <a:ext cx="11091672" cy="566928"/>
          </a:xfrm>
          <a:prstGeom prst="roundRect">
            <a:avLst>
              <a:gd name="adj" fmla="val 11290"/>
            </a:avLst>
          </a:prstGeom>
          <a:solidFill>
            <a:srgbClr val="FBF1D8"/>
          </a:solidFill>
          <a:ln/>
        </p:spPr>
      </p:sp>
      <p:sp>
        <p:nvSpPr>
          <p:cNvPr id="31" name="Shape 25"/>
          <p:cNvSpPr/>
          <p:nvPr/>
        </p:nvSpPr>
        <p:spPr>
          <a:xfrm>
            <a:off x="694944" y="5257800"/>
            <a:ext cx="329184" cy="329184"/>
          </a:xfrm>
          <a:prstGeom prst="ellipse">
            <a:avLst/>
          </a:prstGeom>
          <a:solidFill>
            <a:srgbClr val="F4B942"/>
          </a:solidFill>
          <a:ln/>
        </p:spPr>
      </p:sp>
      <p:pic>
        <p:nvPicPr>
          <p:cNvPr id="32" name="Image 4" descr="ic_flask_navy.png"/>
          <p:cNvPicPr>
            <a:picLocks noChangeAspect="1"/>
          </p:cNvPicPr>
          <p:nvPr/>
        </p:nvPicPr>
        <p:blipFill>
          <a:blip r:embed="rId5"/>
          <a:stretch>
            <a:fillRect/>
          </a:stretch>
        </p:blipFill>
        <p:spPr>
          <a:xfrm>
            <a:off x="777240" y="5340096"/>
            <a:ext cx="164592" cy="164592"/>
          </a:xfrm>
          <a:prstGeom prst="rect">
            <a:avLst/>
          </a:prstGeom>
        </p:spPr>
      </p:pic>
      <p:sp>
        <p:nvSpPr>
          <p:cNvPr id="33" name="Text 26"/>
          <p:cNvSpPr/>
          <p:nvPr/>
        </p:nvSpPr>
        <p:spPr>
          <a:xfrm>
            <a:off x="1115568" y="5138928"/>
            <a:ext cx="10360152" cy="566928"/>
          </a:xfrm>
          <a:prstGeom prst="rect">
            <a:avLst/>
          </a:prstGeom>
          <a:noFill/>
          <a:ln/>
        </p:spPr>
        <p:txBody>
          <a:bodyPr wrap="square" lIns="0" tIns="0" rIns="0" bIns="0" rtlCol="0" anchor="ctr"/>
          <a:lstStyle/>
          <a:p>
            <a:pPr marL="0" indent="0" algn="l">
              <a:buNone/>
            </a:pPr>
            <a:r>
              <a:rPr lang="en-US" sz="1100" b="1" dirty="0">
                <a:solidFill>
                  <a:srgbClr val="9A6B12"/>
                </a:solidFill>
                <a:latin typeface="Calibri" pitchFamily="34" charset="0"/>
                <a:ea typeface="Calibri" pitchFamily="34" charset="-122"/>
                <a:cs typeface="Calibri" pitchFamily="34" charset="-120"/>
              </a:rPr>
              <a:t>IN-CLASS LAB   </a:t>
            </a:r>
            <a:r>
              <a:rPr lang="en-US" sz="1200" dirty="0">
                <a:solidFill>
                  <a:srgbClr val="6B5414"/>
                </a:solidFill>
                <a:latin typeface="Calibri" pitchFamily="34" charset="0"/>
                <a:ea typeface="Calibri" pitchFamily="34" charset="-122"/>
                <a:cs typeface="Calibri" pitchFamily="34" charset="-120"/>
              </a:rPr>
              <a:t>Run a full descriptive-stats report on a provided CSV and write 3 insights.</a:t>
            </a:r>
            <a:endParaRPr lang="en-US" sz="1100" dirty="0"/>
          </a:p>
        </p:txBody>
      </p:sp>
      <p:sp>
        <p:nvSpPr>
          <p:cNvPr id="34" name="Text 27"/>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35" name="Text 28"/>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10</a:t>
            </a:r>
            <a:endParaRPr lang="en-US" sz="950" dirty="0"/>
          </a:p>
        </p:txBody>
      </p:sp>
      <p:sp>
        <p:nvSpPr>
          <p:cNvPr id="40" name="Worked Example 10"/>
          <p:cNvSpPr/>
          <p:nvPr/>
        </p:nvSpPr>
        <p:spPr>
          <a:xfrm>
            <a:off x="548640" y="5800000"/>
            <a:ext cx="11091672" cy="500000"/>
          </a:xfrm>
          <a:prstGeom prst="rect">
            <a:avLst/>
          </a:prstGeom>
          <a:noFill/>
          <a:ln/>
        </p:spPr>
        <p:txBody>
          <a:bodyPr wrap="square" lIns="0" tIns="0" rIns="0" bIns="0" rtlCol="0" anchor="t"/>
          <a:lstStyle/>
          <a:p>
            <a:pPr marL="0" indent="0" algn="l">
              <a:buNone/>
            </a:pPr>
            <a:r>
              <a:rPr lang="en-US" sz="1200" i="1" dirty="0">
                <a:solidFill>
                  <a:srgbClr val="2D6A9F"/>
                </a:solidFill>
                <a:latin typeface="Calibri" pitchFamily="34" charset="0"/>
                <a:ea typeface="Calibri" pitchFamily="34" charset="-122"/>
                <a:cs typeface="Calibri" pitchFamily="34" charset="-120"/>
              </a:rPr>
              <a:t>Worked example — if .describe() shows 'monthly_income' with a max far beyond its 75th percentile, that signals right skew or data-entry outliers worth checking before modeling.</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713232" cy="713232"/>
          </a:xfrm>
          <a:prstGeom prst="ellipse">
            <a:avLst/>
          </a:prstGeom>
          <a:solidFill>
            <a:srgbClr val="16263F"/>
          </a:solidFill>
          <a:ln/>
          <a:effectLst>
            <a:outerShdw blurRad="101600" dist="38100" dir="5400000" algn="bl" rotWithShape="0">
              <a:srgbClr val="000000">
                <a:alpha val="14000"/>
              </a:srgbClr>
            </a:outerShdw>
          </a:effectLst>
        </p:spPr>
      </p:sp>
      <p:pic>
        <p:nvPicPr>
          <p:cNvPr id="3" name="Image 0" descr="ic_bulb_white.png"/>
          <p:cNvPicPr>
            <a:picLocks noChangeAspect="1"/>
          </p:cNvPicPr>
          <p:nvPr/>
        </p:nvPicPr>
        <p:blipFill>
          <a:blip r:embed="rId3"/>
          <a:stretch>
            <a:fillRect/>
          </a:stretch>
        </p:blipFill>
        <p:spPr>
          <a:xfrm>
            <a:off x="726948" y="681228"/>
            <a:ext cx="356616" cy="356616"/>
          </a:xfrm>
          <a:prstGeom prst="rect">
            <a:avLst/>
          </a:prstGeom>
        </p:spPr>
      </p:pic>
      <p:sp>
        <p:nvSpPr>
          <p:cNvPr id="4" name="Text 1"/>
          <p:cNvSpPr/>
          <p:nvPr/>
        </p:nvSpPr>
        <p:spPr>
          <a:xfrm>
            <a:off x="1417320" y="502920"/>
            <a:ext cx="10058400" cy="292608"/>
          </a:xfrm>
          <a:prstGeom prst="rect">
            <a:avLst/>
          </a:prstGeom>
          <a:noFill/>
          <a:ln/>
        </p:spPr>
        <p:txBody>
          <a:bodyPr wrap="square" lIns="0" tIns="0" rIns="0" bIns="0" rtlCol="0" anchor="ctr"/>
          <a:lstStyle/>
          <a:p>
            <a:pPr marL="0" indent="0" algn="l">
              <a:buNone/>
            </a:pPr>
            <a:r>
              <a:rPr lang="en-US" sz="1250" b="1" kern="0" spc="250" dirty="0">
                <a:solidFill>
                  <a:srgbClr val="2D6A9F"/>
                </a:solidFill>
                <a:latin typeface="Calibri" pitchFamily="34" charset="0"/>
                <a:ea typeface="Calibri" pitchFamily="34" charset="-122"/>
                <a:cs typeface="Calibri" pitchFamily="34" charset="-120"/>
              </a:rPr>
              <a:t>WRAP-UP</a:t>
            </a:r>
            <a:endParaRPr lang="en-US" sz="1250" dirty="0"/>
          </a:p>
        </p:txBody>
      </p:sp>
      <p:sp>
        <p:nvSpPr>
          <p:cNvPr id="5" name="Text 2"/>
          <p:cNvSpPr/>
          <p:nvPr/>
        </p:nvSpPr>
        <p:spPr>
          <a:xfrm>
            <a:off x="1417320" y="786384"/>
            <a:ext cx="10424160" cy="566928"/>
          </a:xfrm>
          <a:prstGeom prst="rect">
            <a:avLst/>
          </a:prstGeom>
          <a:noFill/>
          <a:ln/>
        </p:spPr>
        <p:txBody>
          <a:bodyPr wrap="square" lIns="0" tIns="0" rIns="0" bIns="0" rtlCol="0" anchor="ctr"/>
          <a:lstStyle/>
          <a:p>
            <a:pPr marL="0" indent="0" algn="l">
              <a:buNone/>
            </a:pPr>
            <a:r>
              <a:rPr lang="en-US" sz="2700" b="1" dirty="0">
                <a:solidFill>
                  <a:srgbClr val="16263F"/>
                </a:solidFill>
                <a:latin typeface="Century Schoolbook" pitchFamily="34" charset="0"/>
                <a:ea typeface="Century Schoolbook" pitchFamily="34" charset="-122"/>
                <a:cs typeface="Century Schoolbook" pitchFamily="34" charset="-120"/>
              </a:rPr>
              <a:t>Recap, homework &amp; what comes next</a:t>
            </a:r>
            <a:endParaRPr lang="en-US" sz="2700" dirty="0"/>
          </a:p>
        </p:txBody>
      </p:sp>
      <p:sp>
        <p:nvSpPr>
          <p:cNvPr id="6" name="Shape 3"/>
          <p:cNvSpPr/>
          <p:nvPr/>
        </p:nvSpPr>
        <p:spPr>
          <a:xfrm>
            <a:off x="548640" y="1645920"/>
            <a:ext cx="3657600" cy="3383280"/>
          </a:xfrm>
          <a:prstGeom prst="roundRect">
            <a:avLst>
              <a:gd name="adj" fmla="val 2162"/>
            </a:avLst>
          </a:prstGeom>
          <a:solidFill>
            <a:srgbClr val="F2F5F9"/>
          </a:solidFill>
          <a:ln/>
        </p:spPr>
      </p:sp>
      <p:sp>
        <p:nvSpPr>
          <p:cNvPr id="7" name="Text 4"/>
          <p:cNvSpPr/>
          <p:nvPr/>
        </p:nvSpPr>
        <p:spPr>
          <a:xfrm>
            <a:off x="749808" y="1810512"/>
            <a:ext cx="3291840" cy="310896"/>
          </a:xfrm>
          <a:prstGeom prst="rect">
            <a:avLst/>
          </a:prstGeom>
          <a:noFill/>
          <a:ln/>
        </p:spPr>
        <p:txBody>
          <a:bodyPr wrap="square" lIns="0" tIns="0" rIns="0" bIns="0" rtlCol="0" anchor="ctr"/>
          <a:lstStyle/>
          <a:p>
            <a:pPr marL="0" indent="0" algn="l">
              <a:buNone/>
            </a:pPr>
            <a:r>
              <a:rPr lang="en-US" sz="1250" b="1" kern="0" spc="150" dirty="0">
                <a:solidFill>
                  <a:srgbClr val="2D6A9F"/>
                </a:solidFill>
                <a:latin typeface="Calibri" pitchFamily="34" charset="0"/>
                <a:ea typeface="Calibri" pitchFamily="34" charset="-122"/>
                <a:cs typeface="Calibri" pitchFamily="34" charset="-120"/>
              </a:rPr>
              <a:t>KEY TAKEAWAYS</a:t>
            </a:r>
            <a:endParaRPr lang="en-US" sz="1250" dirty="0"/>
          </a:p>
        </p:txBody>
      </p:sp>
      <p:sp>
        <p:nvSpPr>
          <p:cNvPr id="8" name="Text 5"/>
          <p:cNvSpPr/>
          <p:nvPr/>
        </p:nvSpPr>
        <p:spPr>
          <a:xfrm>
            <a:off x="749808" y="2212848"/>
            <a:ext cx="3291840" cy="2743200"/>
          </a:xfrm>
          <a:prstGeom prst="rect">
            <a:avLst/>
          </a:prstGeom>
          <a:noFill/>
          <a:ln/>
        </p:spPr>
        <p:txBody>
          <a:bodyPr wrap="square" lIns="0" tIns="0" rIns="0" bIns="0" rtlCol="0" anchor="t"/>
          <a:lstStyle/>
          <a:p>
            <a:pPr marL="342900" indent="-342900" algn="l">
              <a:lnSpc>
                <a:spcPct val="102000"/>
              </a:lnSpc>
              <a:spcAft>
                <a:spcPts val="1000"/>
              </a:spcAft>
              <a:buSzPct val="100000"/>
              <a:buChar char="•"/>
            </a:pPr>
            <a:r>
              <a:rPr lang="en-US" sz="1300" dirty="0">
                <a:solidFill>
                  <a:srgbClr val="1B2733"/>
                </a:solidFill>
                <a:latin typeface="Calibri" pitchFamily="34" charset="0"/>
                <a:ea typeface="Calibri" pitchFamily="34" charset="-122"/>
                <a:cs typeface="Calibri" pitchFamily="34" charset="-120"/>
              </a:rPr>
              <a:t>Data type decides which stats apply</a:t>
            </a:r>
            <a:endParaRPr lang="en-US" sz="1300" dirty="0"/>
          </a:p>
          <a:p>
            <a:pPr marL="342900" indent="-342900" algn="l">
              <a:lnSpc>
                <a:spcPct val="102000"/>
              </a:lnSpc>
              <a:spcAft>
                <a:spcPts val="1000"/>
              </a:spcAft>
              <a:buSzPct val="100000"/>
              <a:buChar char="•"/>
            </a:pPr>
            <a:r>
              <a:rPr lang="en-US" sz="1300" dirty="0">
                <a:solidFill>
                  <a:srgbClr val="1B2733"/>
                </a:solidFill>
                <a:latin typeface="Calibri" pitchFamily="34" charset="0"/>
                <a:ea typeface="Calibri" pitchFamily="34" charset="-122"/>
                <a:cs typeface="Calibri" pitchFamily="34" charset="-120"/>
              </a:rPr>
              <a:t>Mean/median/mode describe the centre</a:t>
            </a:r>
            <a:endParaRPr lang="en-US" sz="1300" dirty="0"/>
          </a:p>
          <a:p>
            <a:pPr marL="342900" indent="-342900" algn="l">
              <a:lnSpc>
                <a:spcPct val="102000"/>
              </a:lnSpc>
              <a:spcAft>
                <a:spcPts val="1000"/>
              </a:spcAft>
              <a:buSzPct val="100000"/>
              <a:buChar char="•"/>
            </a:pPr>
            <a:r>
              <a:rPr lang="en-US" sz="1300" dirty="0">
                <a:solidFill>
                  <a:srgbClr val="1B2733"/>
                </a:solidFill>
                <a:latin typeface="Calibri" pitchFamily="34" charset="0"/>
                <a:ea typeface="Calibri" pitchFamily="34" charset="-122"/>
                <a:cs typeface="Calibri" pitchFamily="34" charset="-120"/>
              </a:rPr>
              <a:t>Variance, std &amp; IQR describe the spread</a:t>
            </a:r>
            <a:endParaRPr lang="en-US" sz="1300" dirty="0"/>
          </a:p>
          <a:p>
            <a:pPr marL="342900" indent="-342900" algn="l">
              <a:lnSpc>
                <a:spcPct val="102000"/>
              </a:lnSpc>
              <a:spcAft>
                <a:spcPts val="1000"/>
              </a:spcAft>
              <a:buSzPct val="100000"/>
              <a:buChar char="•"/>
            </a:pPr>
            <a:r>
              <a:rPr lang="en-US" sz="1300" dirty="0">
                <a:solidFill>
                  <a:srgbClr val="1B2733"/>
                </a:solidFill>
                <a:latin typeface="Calibri" pitchFamily="34" charset="0"/>
                <a:ea typeface="Calibri" pitchFamily="34" charset="-122"/>
                <a:cs typeface="Calibri" pitchFamily="34" charset="-120"/>
              </a:rPr>
              <a:t>Skew &amp; quartiles describe the shape</a:t>
            </a:r>
            <a:endParaRPr lang="en-US" sz="1300" dirty="0"/>
          </a:p>
          <a:p>
            <a:pPr marL="342900" indent="-342900" algn="l">
              <a:lnSpc>
                <a:spcPct val="102000"/>
              </a:lnSpc>
              <a:spcAft>
                <a:spcPts val="1000"/>
              </a:spcAft>
              <a:buSzPct val="100000"/>
              <a:buChar char="•"/>
            </a:pPr>
            <a:r>
              <a:rPr lang="en-US" sz="1300" dirty="0">
                <a:solidFill>
                  <a:srgbClr val="1B2733"/>
                </a:solidFill>
                <a:latin typeface="Calibri" pitchFamily="34" charset="0"/>
                <a:ea typeface="Calibri" pitchFamily="34" charset="-122"/>
                <a:cs typeface="Calibri" pitchFamily="34" charset="-120"/>
              </a:rPr>
              <a:t>Correlation shows how variables relate</a:t>
            </a:r>
            <a:endParaRPr lang="en-US" sz="1300" dirty="0"/>
          </a:p>
        </p:txBody>
      </p:sp>
      <p:sp>
        <p:nvSpPr>
          <p:cNvPr id="9" name="Shape 6"/>
          <p:cNvSpPr/>
          <p:nvPr/>
        </p:nvSpPr>
        <p:spPr>
          <a:xfrm>
            <a:off x="4370832" y="1645920"/>
            <a:ext cx="3657600" cy="3383280"/>
          </a:xfrm>
          <a:prstGeom prst="roundRect">
            <a:avLst>
              <a:gd name="adj" fmla="val 2162"/>
            </a:avLst>
          </a:prstGeom>
          <a:solidFill>
            <a:srgbClr val="FBF1D8"/>
          </a:solidFill>
          <a:ln/>
        </p:spPr>
      </p:sp>
      <p:sp>
        <p:nvSpPr>
          <p:cNvPr id="10" name="Text 7"/>
          <p:cNvSpPr/>
          <p:nvPr/>
        </p:nvSpPr>
        <p:spPr>
          <a:xfrm>
            <a:off x="4572000" y="1810512"/>
            <a:ext cx="3291840" cy="310896"/>
          </a:xfrm>
          <a:prstGeom prst="rect">
            <a:avLst/>
          </a:prstGeom>
          <a:noFill/>
          <a:ln/>
        </p:spPr>
        <p:txBody>
          <a:bodyPr wrap="square" lIns="0" tIns="0" rIns="0" bIns="0" rtlCol="0" anchor="ctr"/>
          <a:lstStyle/>
          <a:p>
            <a:pPr marL="0" indent="0" algn="l">
              <a:buNone/>
            </a:pPr>
            <a:r>
              <a:rPr lang="en-US" sz="1250" b="1" kern="0" spc="120" dirty="0">
                <a:solidFill>
                  <a:srgbClr val="9A6B12"/>
                </a:solidFill>
                <a:latin typeface="Calibri" pitchFamily="34" charset="0"/>
                <a:ea typeface="Calibri" pitchFamily="34" charset="-122"/>
                <a:cs typeface="Calibri" pitchFamily="34" charset="-120"/>
              </a:rPr>
              <a:t>HOMEWORK / SELF-PACED</a:t>
            </a:r>
            <a:endParaRPr lang="en-US" sz="1250" dirty="0"/>
          </a:p>
        </p:txBody>
      </p:sp>
      <p:sp>
        <p:nvSpPr>
          <p:cNvPr id="11" name="Text 8"/>
          <p:cNvSpPr/>
          <p:nvPr/>
        </p:nvSpPr>
        <p:spPr>
          <a:xfrm>
            <a:off x="4572000" y="2212848"/>
            <a:ext cx="3291840" cy="2743200"/>
          </a:xfrm>
          <a:prstGeom prst="rect">
            <a:avLst/>
          </a:prstGeom>
          <a:noFill/>
          <a:ln/>
        </p:spPr>
        <p:txBody>
          <a:bodyPr wrap="square" lIns="0" tIns="0" rIns="0" bIns="0" rtlCol="0" anchor="t"/>
          <a:lstStyle/>
          <a:p>
            <a:pPr marL="342900" indent="-342900" algn="l">
              <a:lnSpc>
                <a:spcPct val="102000"/>
              </a:lnSpc>
              <a:spcAft>
                <a:spcPts val="900"/>
              </a:spcAft>
              <a:buSzPct val="100000"/>
              <a:buChar char="•"/>
            </a:pPr>
            <a:r>
              <a:rPr lang="en-US" sz="1250" dirty="0">
                <a:solidFill>
                  <a:srgbClr val="5A4A1E"/>
                </a:solidFill>
                <a:latin typeface="Calibri" pitchFamily="34" charset="0"/>
                <a:ea typeface="Calibri" pitchFamily="34" charset="-122"/>
                <a:cs typeface="Calibri" pitchFamily="34" charset="-120"/>
              </a:rPr>
              <a:t>Compute mean / median / mode on a CSV</a:t>
            </a:r>
            <a:endParaRPr lang="en-US" sz="1250" dirty="0"/>
          </a:p>
          <a:p>
            <a:pPr marL="342900" indent="-342900" algn="l">
              <a:lnSpc>
                <a:spcPct val="102000"/>
              </a:lnSpc>
              <a:spcAft>
                <a:spcPts val="900"/>
              </a:spcAft>
              <a:buSzPct val="100000"/>
              <a:buChar char="•"/>
            </a:pPr>
            <a:r>
              <a:rPr lang="en-US" sz="1250" dirty="0">
                <a:solidFill>
                  <a:srgbClr val="5A4A1E"/>
                </a:solidFill>
                <a:latin typeface="Calibri" pitchFamily="34" charset="0"/>
                <a:ea typeface="Calibri" pitchFamily="34" charset="-122"/>
                <a:cs typeface="Calibri" pitchFamily="34" charset="-120"/>
              </a:rPr>
              <a:t>Compute variance, std &amp; IQR for a column</a:t>
            </a:r>
            <a:endParaRPr lang="en-US" sz="1250" dirty="0"/>
          </a:p>
          <a:p>
            <a:pPr marL="342900" indent="-342900" algn="l">
              <a:lnSpc>
                <a:spcPct val="102000"/>
              </a:lnSpc>
              <a:spcAft>
                <a:spcPts val="900"/>
              </a:spcAft>
              <a:buSzPct val="100000"/>
              <a:buChar char="•"/>
            </a:pPr>
            <a:r>
              <a:rPr lang="en-US" sz="1250" dirty="0">
                <a:solidFill>
                  <a:srgbClr val="5A4A1E"/>
                </a:solidFill>
                <a:latin typeface="Calibri" pitchFamily="34" charset="0"/>
                <a:ea typeface="Calibri" pitchFamily="34" charset="-122"/>
                <a:cs typeface="Calibri" pitchFamily="34" charset="-120"/>
              </a:rPr>
              <a:t>Build the five-number summary + box plot</a:t>
            </a:r>
            <a:endParaRPr lang="en-US" sz="1250" dirty="0"/>
          </a:p>
          <a:p>
            <a:pPr marL="342900" indent="-342900" algn="l">
              <a:lnSpc>
                <a:spcPct val="102000"/>
              </a:lnSpc>
              <a:spcAft>
                <a:spcPts val="900"/>
              </a:spcAft>
              <a:buSzPct val="100000"/>
              <a:buChar char="•"/>
            </a:pPr>
            <a:r>
              <a:rPr lang="en-US" sz="1250" dirty="0">
                <a:solidFill>
                  <a:srgbClr val="5A4A1E"/>
                </a:solidFill>
                <a:latin typeface="Calibri" pitchFamily="34" charset="0"/>
                <a:ea typeface="Calibri" pitchFamily="34" charset="-122"/>
                <a:cs typeface="Calibri" pitchFamily="34" charset="-120"/>
              </a:rPr>
              <a:t>Generate a correlation matrix</a:t>
            </a:r>
            <a:endParaRPr lang="en-US" sz="1250" dirty="0"/>
          </a:p>
          <a:p>
            <a:pPr marL="342900" indent="-342900" algn="l">
              <a:lnSpc>
                <a:spcPct val="102000"/>
              </a:lnSpc>
              <a:spcAft>
                <a:spcPts val="900"/>
              </a:spcAft>
              <a:buSzPct val="100000"/>
              <a:buChar char="•"/>
            </a:pPr>
            <a:r>
              <a:rPr lang="en-US" sz="1250" dirty="0">
                <a:solidFill>
                  <a:srgbClr val="5A4A1E"/>
                </a:solidFill>
                <a:latin typeface="Calibri" pitchFamily="34" charset="0"/>
                <a:ea typeface="Calibri" pitchFamily="34" charset="-122"/>
                <a:cs typeface="Calibri" pitchFamily="34" charset="-120"/>
              </a:rPr>
              <a:t>Write 3 insights from .describe()</a:t>
            </a:r>
            <a:endParaRPr lang="en-US" sz="1250" dirty="0"/>
          </a:p>
        </p:txBody>
      </p:sp>
      <p:sp>
        <p:nvSpPr>
          <p:cNvPr id="12" name="Shape 9"/>
          <p:cNvSpPr/>
          <p:nvPr/>
        </p:nvSpPr>
        <p:spPr>
          <a:xfrm>
            <a:off x="8193024" y="1645920"/>
            <a:ext cx="3447288" cy="3383280"/>
          </a:xfrm>
          <a:prstGeom prst="roundRect">
            <a:avLst>
              <a:gd name="adj" fmla="val 2162"/>
            </a:avLst>
          </a:prstGeom>
          <a:solidFill>
            <a:srgbClr val="16263F"/>
          </a:solidFill>
          <a:ln/>
          <a:effectLst>
            <a:outerShdw blurRad="101600" dist="38100" dir="5400000" algn="bl" rotWithShape="0">
              <a:srgbClr val="000000">
                <a:alpha val="14000"/>
              </a:srgbClr>
            </a:outerShdw>
          </a:effectLst>
        </p:spPr>
      </p:sp>
      <p:sp>
        <p:nvSpPr>
          <p:cNvPr id="13" name="Text 10"/>
          <p:cNvSpPr/>
          <p:nvPr/>
        </p:nvSpPr>
        <p:spPr>
          <a:xfrm>
            <a:off x="8394192" y="1810512"/>
            <a:ext cx="3108960" cy="310896"/>
          </a:xfrm>
          <a:prstGeom prst="rect">
            <a:avLst/>
          </a:prstGeom>
          <a:noFill/>
          <a:ln/>
        </p:spPr>
        <p:txBody>
          <a:bodyPr wrap="square" lIns="0" tIns="0" rIns="0" bIns="0" rtlCol="0" anchor="ctr"/>
          <a:lstStyle/>
          <a:p>
            <a:pPr marL="0" indent="0" algn="l">
              <a:buNone/>
            </a:pPr>
            <a:r>
              <a:rPr lang="en-US" sz="1250" b="1" kern="0" spc="100" dirty="0">
                <a:solidFill>
                  <a:srgbClr val="F4B942"/>
                </a:solidFill>
                <a:latin typeface="Calibri" pitchFamily="34" charset="0"/>
                <a:ea typeface="Calibri" pitchFamily="34" charset="-122"/>
                <a:cs typeface="Calibri" pitchFamily="34" charset="-120"/>
              </a:rPr>
              <a:t>UP NEXT — PART 2 (DAY 3)</a:t>
            </a:r>
            <a:endParaRPr lang="en-US" sz="1250" dirty="0"/>
          </a:p>
        </p:txBody>
      </p:sp>
      <p:sp>
        <p:nvSpPr>
          <p:cNvPr id="14" name="Shape 11"/>
          <p:cNvSpPr/>
          <p:nvPr/>
        </p:nvSpPr>
        <p:spPr>
          <a:xfrm>
            <a:off x="8394192" y="2286000"/>
            <a:ext cx="457200" cy="457200"/>
          </a:xfrm>
          <a:prstGeom prst="ellipse">
            <a:avLst/>
          </a:prstGeom>
          <a:solidFill>
            <a:srgbClr val="F4B942"/>
          </a:solidFill>
          <a:ln/>
        </p:spPr>
      </p:sp>
      <p:pic>
        <p:nvPicPr>
          <p:cNvPr id="15" name="Image 1" descr="ic_dice_navy.png"/>
          <p:cNvPicPr>
            <a:picLocks noChangeAspect="1"/>
          </p:cNvPicPr>
          <p:nvPr/>
        </p:nvPicPr>
        <p:blipFill>
          <a:blip r:embed="rId4"/>
          <a:stretch>
            <a:fillRect/>
          </a:stretch>
        </p:blipFill>
        <p:spPr>
          <a:xfrm>
            <a:off x="8513064" y="2404872"/>
            <a:ext cx="219456" cy="219456"/>
          </a:xfrm>
          <a:prstGeom prst="rect">
            <a:avLst/>
          </a:prstGeom>
        </p:spPr>
      </p:pic>
      <p:sp>
        <p:nvSpPr>
          <p:cNvPr id="16" name="Text 12"/>
          <p:cNvSpPr/>
          <p:nvPr/>
        </p:nvSpPr>
        <p:spPr>
          <a:xfrm>
            <a:off x="8979408" y="2212848"/>
            <a:ext cx="2560320" cy="868680"/>
          </a:xfrm>
          <a:prstGeom prst="rect">
            <a:avLst/>
          </a:prstGeom>
          <a:noFill/>
          <a:ln/>
        </p:spPr>
        <p:txBody>
          <a:bodyPr wrap="square" lIns="0" tIns="0" rIns="0" bIns="0" rtlCol="0" anchor="ctr"/>
          <a:lstStyle/>
          <a:p>
            <a:pPr marL="0" indent="0" algn="l">
              <a:lnSpc>
                <a:spcPct val="102000"/>
              </a:lnSpc>
              <a:buNone/>
            </a:pPr>
            <a:r>
              <a:rPr lang="en-US" sz="1150" dirty="0">
                <a:solidFill>
                  <a:srgbClr val="DCE7F2"/>
                </a:solidFill>
                <a:latin typeface="Calibri" pitchFamily="34" charset="0"/>
                <a:ea typeface="Calibri" pitchFamily="34" charset="-122"/>
                <a:cs typeface="Calibri" pitchFamily="34" charset="-120"/>
              </a:rPr>
              <a:t>Probability theory &amp; axioms; conditional probability</a:t>
            </a:r>
            <a:endParaRPr lang="en-US" sz="1150" dirty="0"/>
          </a:p>
        </p:txBody>
      </p:sp>
      <p:sp>
        <p:nvSpPr>
          <p:cNvPr id="17" name="Shape 13"/>
          <p:cNvSpPr/>
          <p:nvPr/>
        </p:nvSpPr>
        <p:spPr>
          <a:xfrm>
            <a:off x="8394192" y="3182112"/>
            <a:ext cx="457200" cy="457200"/>
          </a:xfrm>
          <a:prstGeom prst="ellipse">
            <a:avLst/>
          </a:prstGeom>
          <a:solidFill>
            <a:srgbClr val="F4B942"/>
          </a:solidFill>
          <a:ln/>
        </p:spPr>
      </p:sp>
      <p:pic>
        <p:nvPicPr>
          <p:cNvPr id="18" name="Image 2" descr="ic_dice_navy.png"/>
          <p:cNvPicPr>
            <a:picLocks noChangeAspect="1"/>
          </p:cNvPicPr>
          <p:nvPr/>
        </p:nvPicPr>
        <p:blipFill>
          <a:blip r:embed="rId4"/>
          <a:stretch>
            <a:fillRect/>
          </a:stretch>
        </p:blipFill>
        <p:spPr>
          <a:xfrm>
            <a:off x="8513064" y="3300984"/>
            <a:ext cx="219456" cy="219456"/>
          </a:xfrm>
          <a:prstGeom prst="rect">
            <a:avLst/>
          </a:prstGeom>
        </p:spPr>
      </p:pic>
      <p:sp>
        <p:nvSpPr>
          <p:cNvPr id="19" name="Text 14"/>
          <p:cNvSpPr/>
          <p:nvPr/>
        </p:nvSpPr>
        <p:spPr>
          <a:xfrm>
            <a:off x="8979408" y="3108960"/>
            <a:ext cx="2560320" cy="868680"/>
          </a:xfrm>
          <a:prstGeom prst="rect">
            <a:avLst/>
          </a:prstGeom>
          <a:noFill/>
          <a:ln/>
        </p:spPr>
        <p:txBody>
          <a:bodyPr wrap="square" lIns="0" tIns="0" rIns="0" bIns="0" rtlCol="0" anchor="ctr"/>
          <a:lstStyle/>
          <a:p>
            <a:pPr marL="0" indent="0" algn="l">
              <a:lnSpc>
                <a:spcPct val="102000"/>
              </a:lnSpc>
              <a:buNone/>
            </a:pPr>
            <a:r>
              <a:rPr lang="en-US" sz="1150" dirty="0">
                <a:solidFill>
                  <a:srgbClr val="DCE7F2"/>
                </a:solidFill>
                <a:latin typeface="Calibri" pitchFamily="34" charset="0"/>
                <a:ea typeface="Calibri" pitchFamily="34" charset="-122"/>
                <a:cs typeface="Calibri" pitchFamily="34" charset="-120"/>
              </a:rPr>
              <a:t>Bayes' theorem — medical-test &amp; spam examples</a:t>
            </a:r>
            <a:endParaRPr lang="en-US" sz="1150" dirty="0"/>
          </a:p>
        </p:txBody>
      </p:sp>
      <p:sp>
        <p:nvSpPr>
          <p:cNvPr id="20" name="Shape 15"/>
          <p:cNvSpPr/>
          <p:nvPr/>
        </p:nvSpPr>
        <p:spPr>
          <a:xfrm>
            <a:off x="8394192" y="4078224"/>
            <a:ext cx="457200" cy="457200"/>
          </a:xfrm>
          <a:prstGeom prst="ellipse">
            <a:avLst/>
          </a:prstGeom>
          <a:solidFill>
            <a:srgbClr val="F4B942"/>
          </a:solidFill>
          <a:ln/>
        </p:spPr>
      </p:sp>
      <p:pic>
        <p:nvPicPr>
          <p:cNvPr id="21" name="Image 3" descr="ic_dice_navy.png"/>
          <p:cNvPicPr>
            <a:picLocks noChangeAspect="1"/>
          </p:cNvPicPr>
          <p:nvPr/>
        </p:nvPicPr>
        <p:blipFill>
          <a:blip r:embed="rId4"/>
          <a:stretch>
            <a:fillRect/>
          </a:stretch>
        </p:blipFill>
        <p:spPr>
          <a:xfrm>
            <a:off x="8513064" y="4197096"/>
            <a:ext cx="219456" cy="219456"/>
          </a:xfrm>
          <a:prstGeom prst="rect">
            <a:avLst/>
          </a:prstGeom>
        </p:spPr>
      </p:pic>
      <p:sp>
        <p:nvSpPr>
          <p:cNvPr id="22" name="Text 16"/>
          <p:cNvSpPr/>
          <p:nvPr/>
        </p:nvSpPr>
        <p:spPr>
          <a:xfrm>
            <a:off x="8979408" y="4005072"/>
            <a:ext cx="2560320" cy="868680"/>
          </a:xfrm>
          <a:prstGeom prst="rect">
            <a:avLst/>
          </a:prstGeom>
          <a:noFill/>
          <a:ln/>
        </p:spPr>
        <p:txBody>
          <a:bodyPr wrap="square" lIns="0" tIns="0" rIns="0" bIns="0" rtlCol="0" anchor="ctr"/>
          <a:lstStyle/>
          <a:p>
            <a:pPr marL="0" indent="0" algn="l">
              <a:lnSpc>
                <a:spcPct val="102000"/>
              </a:lnSpc>
              <a:buNone/>
            </a:pPr>
            <a:r>
              <a:rPr lang="en-US" sz="1150" dirty="0">
                <a:solidFill>
                  <a:srgbClr val="DCE7F2"/>
                </a:solidFill>
                <a:latin typeface="Calibri" pitchFamily="34" charset="0"/>
                <a:ea typeface="Calibri" pitchFamily="34" charset="-122"/>
                <a:cs typeface="Calibri" pitchFamily="34" charset="-120"/>
              </a:rPr>
              <a:t>Distributions (Gaussian, Poisson) + entropy, KL &amp; MI</a:t>
            </a:r>
            <a:endParaRPr lang="en-US" sz="1150" dirty="0"/>
          </a:p>
        </p:txBody>
      </p:sp>
      <p:sp>
        <p:nvSpPr>
          <p:cNvPr id="23" name="Shape 17"/>
          <p:cNvSpPr/>
          <p:nvPr/>
        </p:nvSpPr>
        <p:spPr>
          <a:xfrm>
            <a:off x="548640" y="5285232"/>
            <a:ext cx="11091672" cy="868680"/>
          </a:xfrm>
          <a:prstGeom prst="roundRect">
            <a:avLst>
              <a:gd name="adj" fmla="val 9474"/>
            </a:avLst>
          </a:prstGeom>
          <a:solidFill>
            <a:srgbClr val="F2F5F9"/>
          </a:solidFill>
          <a:ln/>
        </p:spPr>
      </p:sp>
      <p:sp>
        <p:nvSpPr>
          <p:cNvPr id="24" name="Shape 18"/>
          <p:cNvSpPr/>
          <p:nvPr/>
        </p:nvSpPr>
        <p:spPr>
          <a:xfrm>
            <a:off x="777240" y="5458968"/>
            <a:ext cx="512064" cy="512064"/>
          </a:xfrm>
          <a:prstGeom prst="ellipse">
            <a:avLst/>
          </a:prstGeom>
          <a:solidFill>
            <a:srgbClr val="16263F"/>
          </a:solidFill>
          <a:ln/>
        </p:spPr>
      </p:sp>
      <p:pic>
        <p:nvPicPr>
          <p:cNvPr id="25" name="Image 4" descr="ic_brain.png"/>
          <p:cNvPicPr>
            <a:picLocks noChangeAspect="1"/>
          </p:cNvPicPr>
          <p:nvPr/>
        </p:nvPicPr>
        <p:blipFill>
          <a:blip r:embed="rId5"/>
          <a:stretch>
            <a:fillRect/>
          </a:stretch>
        </p:blipFill>
        <p:spPr>
          <a:xfrm>
            <a:off x="877824" y="5559552"/>
            <a:ext cx="310896" cy="310896"/>
          </a:xfrm>
          <a:prstGeom prst="rect">
            <a:avLst/>
          </a:prstGeom>
        </p:spPr>
      </p:pic>
      <p:sp>
        <p:nvSpPr>
          <p:cNvPr id="26" name="Text 19"/>
          <p:cNvSpPr/>
          <p:nvPr/>
        </p:nvSpPr>
        <p:spPr>
          <a:xfrm>
            <a:off x="1463040" y="5285232"/>
            <a:ext cx="10058400" cy="868680"/>
          </a:xfrm>
          <a:prstGeom prst="rect">
            <a:avLst/>
          </a:prstGeom>
          <a:noFill/>
          <a:ln/>
        </p:spPr>
        <p:txBody>
          <a:bodyPr wrap="square" lIns="0" tIns="0" rIns="0" bIns="0" rtlCol="0" anchor="ctr"/>
          <a:lstStyle/>
          <a:p>
            <a:pPr marL="0" indent="0" algn="l">
              <a:buNone/>
            </a:pPr>
            <a:r>
              <a:rPr lang="en-US" sz="1400" b="1" dirty="0">
                <a:solidFill>
                  <a:srgbClr val="16263F"/>
                </a:solidFill>
                <a:latin typeface="Calibri" pitchFamily="34" charset="0"/>
                <a:ea typeface="Calibri" pitchFamily="34" charset="-122"/>
                <a:cs typeface="Calibri" pitchFamily="34" charset="-120"/>
              </a:rPr>
              <a:t>In ML:  </a:t>
            </a:r>
            <a:r>
              <a:rPr lang="en-US" sz="1400" dirty="0">
                <a:solidFill>
                  <a:srgbClr val="1B2733"/>
                </a:solidFill>
                <a:latin typeface="Calibri" pitchFamily="34" charset="0"/>
                <a:ea typeface="Calibri" pitchFamily="34" charset="-122"/>
                <a:cs typeface="Calibri" pitchFamily="34" charset="-120"/>
              </a:rPr>
              <a:t>descriptive stats are the first thing you compute on any dataset — they reveal scale, skew, outliers and leaks before a single model is trained.</a:t>
            </a:r>
            <a:endParaRPr lang="en-US" sz="1400" dirty="0"/>
          </a:p>
        </p:txBody>
      </p:sp>
      <p:sp>
        <p:nvSpPr>
          <p:cNvPr id="27" name="Text 20"/>
          <p:cNvSpPr/>
          <p:nvPr/>
        </p:nvSpPr>
        <p:spPr>
          <a:xfrm>
            <a:off x="548640" y="6437376"/>
            <a:ext cx="7315200" cy="274320"/>
          </a:xfrm>
          <a:prstGeom prst="rect">
            <a:avLst/>
          </a:prstGeom>
          <a:noFill/>
          <a:ln/>
        </p:spPr>
        <p:txBody>
          <a:bodyPr wrap="square" lIns="0" tIns="0" rIns="0" bIns="0" rtlCol="0" anchor="ctr"/>
          <a:lstStyle/>
          <a:p>
            <a:pPr marL="0" indent="0" algn="l">
              <a:buNone/>
            </a:pPr>
            <a:r>
              <a:rPr lang="en-US" sz="950" dirty="0">
                <a:solidFill>
                  <a:srgbClr val="5C6B7A"/>
                </a:solidFill>
                <a:latin typeface="Calibri" pitchFamily="34" charset="0"/>
                <a:ea typeface="Calibri" pitchFamily="34" charset="-122"/>
                <a:cs typeface="Calibri" pitchFamily="34" charset="-120"/>
              </a:rPr>
              <a:t>U6 · Probability &amp; Statistics (Part 1)</a:t>
            </a:r>
            <a:endParaRPr lang="en-US" sz="950" dirty="0"/>
          </a:p>
        </p:txBody>
      </p:sp>
      <p:sp>
        <p:nvSpPr>
          <p:cNvPr id="28" name="Text 21"/>
          <p:cNvSpPr/>
          <p:nvPr/>
        </p:nvSpPr>
        <p:spPr>
          <a:xfrm>
            <a:off x="11338560" y="6437376"/>
            <a:ext cx="457200" cy="274320"/>
          </a:xfrm>
          <a:prstGeom prst="rect">
            <a:avLst/>
          </a:prstGeom>
          <a:noFill/>
          <a:ln/>
        </p:spPr>
        <p:txBody>
          <a:bodyPr wrap="square" lIns="0" tIns="0" rIns="0" bIns="0" rtlCol="0" anchor="ctr"/>
          <a:lstStyle/>
          <a:p>
            <a:pPr marL="0" indent="0" algn="r">
              <a:buNone/>
            </a:pPr>
            <a:r>
              <a:rPr lang="en-US" sz="950" dirty="0">
                <a:solidFill>
                  <a:srgbClr val="5C6B7A"/>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815</TotalTime>
  <Words>3112</Words>
  <Application>Microsoft Office PowerPoint</Application>
  <PresentationFormat>Widescreen</PresentationFormat>
  <Paragraphs>409</Paragraphs>
  <Slides>23</Slides>
  <Notes>23</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Cambria</vt:lpstr>
      <vt:lpstr>Century Schoolbook</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U6 — Probability &amp; Statistics (Part 1)</dc:title>
  <dc:subject>PptxGenJS Presentation</dc:subject>
  <dc:creator>AI/ML Training</dc:creator>
  <cp:lastModifiedBy>kanakamedala vineela</cp:lastModifiedBy>
  <cp:revision>2</cp:revision>
  <dcterms:created xsi:type="dcterms:W3CDTF">2026-06-10T13:00:29Z</dcterms:created>
  <dcterms:modified xsi:type="dcterms:W3CDTF">2026-09-28T07:31:55Z</dcterms:modified>
</cp:coreProperties>
</file>